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6" r:id="rId3"/>
    <p:sldId id="257" r:id="rId5"/>
    <p:sldId id="315" r:id="rId6"/>
    <p:sldId id="295" r:id="rId7"/>
    <p:sldId id="296" r:id="rId8"/>
    <p:sldId id="299" r:id="rId9"/>
    <p:sldId id="300" r:id="rId10"/>
    <p:sldId id="316" r:id="rId11"/>
    <p:sldId id="317" r:id="rId12"/>
    <p:sldId id="319" r:id="rId13"/>
    <p:sldId id="320" r:id="rId14"/>
    <p:sldId id="318" r:id="rId15"/>
    <p:sldId id="321" r:id="rId16"/>
    <p:sldId id="297" r:id="rId17"/>
    <p:sldId id="298" r:id="rId18"/>
    <p:sldId id="303" r:id="rId19"/>
    <p:sldId id="304" r:id="rId20"/>
    <p:sldId id="305" r:id="rId21"/>
    <p:sldId id="306" r:id="rId22"/>
    <p:sldId id="307" r:id="rId23"/>
    <p:sldId id="311" r:id="rId24"/>
    <p:sldId id="312" r:id="rId25"/>
    <p:sldId id="313" r:id="rId26"/>
    <p:sldId id="276" r:id="rId27"/>
  </p:sldIdLst>
  <p:sldSz cx="12192000" cy="6858000"/>
  <p:notesSz cx="7103745" cy="10234295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D1FD"/>
    <a:srgbClr val="28353C"/>
    <a:srgbClr val="1B1E28"/>
    <a:srgbClr val="242F3A"/>
    <a:srgbClr val="151A20"/>
    <a:srgbClr val="1768E4"/>
    <a:srgbClr val="FFFFFF"/>
    <a:srgbClr val="B7B7B7"/>
    <a:srgbClr val="94F7FD"/>
    <a:srgbClr val="0158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-420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gs" Target="tags/tag34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DD1FD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tags" Target="../tags/tag2.xml"/><Relationship Id="rId11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B1E28"/>
            </a:gs>
            <a:gs pos="100000">
              <a:srgbClr val="28353C"/>
            </a:gs>
          </a:gsLst>
          <a:lin ang="195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L 形 6"/>
          <p:cNvSpPr/>
          <p:nvPr userDrawn="1">
            <p:custDataLst>
              <p:tags r:id="rId11"/>
            </p:custDataLst>
          </p:nvPr>
        </p:nvSpPr>
        <p:spPr>
          <a:xfrm flipH="1">
            <a:off x="10441305" y="5083175"/>
            <a:ext cx="912495" cy="913130"/>
          </a:xfrm>
          <a:prstGeom prst="corner">
            <a:avLst>
              <a:gd name="adj1" fmla="val 24339"/>
              <a:gd name="adj2" fmla="val 21696"/>
            </a:avLst>
          </a:pr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L 形 7"/>
          <p:cNvSpPr/>
          <p:nvPr userDrawn="1">
            <p:custDataLst>
              <p:tags r:id="rId12"/>
            </p:custDataLst>
          </p:nvPr>
        </p:nvSpPr>
        <p:spPr>
          <a:xfrm rot="10800000" flipH="1">
            <a:off x="10696575" y="5192395"/>
            <a:ext cx="912495" cy="913130"/>
          </a:xfrm>
          <a:prstGeom prst="corner">
            <a:avLst>
              <a:gd name="adj1" fmla="val 24339"/>
              <a:gd name="adj2" fmla="val 21696"/>
            </a:avLst>
          </a:prstGeom>
          <a:solidFill>
            <a:schemeClr val="accent5">
              <a:alpha val="65000"/>
            </a:schemeClr>
          </a:solidFill>
          <a:ln>
            <a:noFill/>
          </a:ln>
          <a:effectLst>
            <a:outerShdw blurRad="63500" dist="50800" dir="5400000" algn="ctr" rotWithShape="0">
              <a:srgbClr val="000000">
                <a:alpha val="6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25" Type="http://schemas.openxmlformats.org/officeDocument/2006/relationships/vmlDrawing" Target="../drawings/vmlDrawing1.vml"/><Relationship Id="rId24" Type="http://schemas.openxmlformats.org/officeDocument/2006/relationships/slideLayout" Target="../slideLayouts/slideLayout2.xml"/><Relationship Id="rId23" Type="http://schemas.openxmlformats.org/officeDocument/2006/relationships/image" Target="../media/image7.png"/><Relationship Id="rId22" Type="http://schemas.openxmlformats.org/officeDocument/2006/relationships/tags" Target="../tags/tag21.xml"/><Relationship Id="rId21" Type="http://schemas.openxmlformats.org/officeDocument/2006/relationships/image" Target="../media/image6.png"/><Relationship Id="rId20" Type="http://schemas.openxmlformats.org/officeDocument/2006/relationships/tags" Target="../tags/tag20.xml"/><Relationship Id="rId2" Type="http://schemas.openxmlformats.org/officeDocument/2006/relationships/tags" Target="../tags/tag4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63.xml"/><Relationship Id="rId20" Type="http://schemas.openxmlformats.org/officeDocument/2006/relationships/tags" Target="../tags/tag62.xml"/><Relationship Id="rId2" Type="http://schemas.openxmlformats.org/officeDocument/2006/relationships/tags" Target="../tags/tag44.xml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1" Type="http://schemas.openxmlformats.org/officeDocument/2006/relationships/slideLayout" Target="../slideLayouts/slideLayout2.xml"/><Relationship Id="rId40" Type="http://schemas.openxmlformats.org/officeDocument/2006/relationships/tags" Target="../tags/tag117.xml"/><Relationship Id="rId4" Type="http://schemas.openxmlformats.org/officeDocument/2006/relationships/tags" Target="../tags/tag81.xml"/><Relationship Id="rId39" Type="http://schemas.openxmlformats.org/officeDocument/2006/relationships/tags" Target="../tags/tag116.xml"/><Relationship Id="rId38" Type="http://schemas.openxmlformats.org/officeDocument/2006/relationships/tags" Target="../tags/tag115.xml"/><Relationship Id="rId37" Type="http://schemas.openxmlformats.org/officeDocument/2006/relationships/tags" Target="../tags/tag114.xml"/><Relationship Id="rId36" Type="http://schemas.openxmlformats.org/officeDocument/2006/relationships/tags" Target="../tags/tag113.xml"/><Relationship Id="rId35" Type="http://schemas.openxmlformats.org/officeDocument/2006/relationships/tags" Target="../tags/tag112.xml"/><Relationship Id="rId34" Type="http://schemas.openxmlformats.org/officeDocument/2006/relationships/tags" Target="../tags/tag111.xml"/><Relationship Id="rId33" Type="http://schemas.openxmlformats.org/officeDocument/2006/relationships/tags" Target="../tags/tag110.xml"/><Relationship Id="rId32" Type="http://schemas.openxmlformats.org/officeDocument/2006/relationships/tags" Target="../tags/tag109.xml"/><Relationship Id="rId31" Type="http://schemas.openxmlformats.org/officeDocument/2006/relationships/tags" Target="../tags/tag108.xml"/><Relationship Id="rId30" Type="http://schemas.openxmlformats.org/officeDocument/2006/relationships/tags" Target="../tags/tag107.xml"/><Relationship Id="rId3" Type="http://schemas.openxmlformats.org/officeDocument/2006/relationships/tags" Target="../tags/tag80.xml"/><Relationship Id="rId29" Type="http://schemas.openxmlformats.org/officeDocument/2006/relationships/tags" Target="../tags/tag106.xml"/><Relationship Id="rId28" Type="http://schemas.openxmlformats.org/officeDocument/2006/relationships/tags" Target="../tags/tag105.xml"/><Relationship Id="rId27" Type="http://schemas.openxmlformats.org/officeDocument/2006/relationships/tags" Target="../tags/tag104.xml"/><Relationship Id="rId26" Type="http://schemas.openxmlformats.org/officeDocument/2006/relationships/tags" Target="../tags/tag103.xml"/><Relationship Id="rId25" Type="http://schemas.openxmlformats.org/officeDocument/2006/relationships/tags" Target="../tags/tag102.xml"/><Relationship Id="rId24" Type="http://schemas.openxmlformats.org/officeDocument/2006/relationships/tags" Target="../tags/tag101.xml"/><Relationship Id="rId23" Type="http://schemas.openxmlformats.org/officeDocument/2006/relationships/tags" Target="../tags/tag100.xml"/><Relationship Id="rId22" Type="http://schemas.openxmlformats.org/officeDocument/2006/relationships/tags" Target="../tags/tag99.xml"/><Relationship Id="rId21" Type="http://schemas.openxmlformats.org/officeDocument/2006/relationships/tags" Target="../tags/tag98.xml"/><Relationship Id="rId20" Type="http://schemas.openxmlformats.org/officeDocument/2006/relationships/tags" Target="../tags/tag97.xml"/><Relationship Id="rId2" Type="http://schemas.openxmlformats.org/officeDocument/2006/relationships/tags" Target="../tags/tag79.xml"/><Relationship Id="rId19" Type="http://schemas.openxmlformats.org/officeDocument/2006/relationships/tags" Target="../tags/tag96.xml"/><Relationship Id="rId18" Type="http://schemas.openxmlformats.org/officeDocument/2006/relationships/tags" Target="../tags/tag95.xml"/><Relationship Id="rId17" Type="http://schemas.openxmlformats.org/officeDocument/2006/relationships/tags" Target="../tags/tag94.xml"/><Relationship Id="rId16" Type="http://schemas.openxmlformats.org/officeDocument/2006/relationships/tags" Target="../tags/tag93.xml"/><Relationship Id="rId15" Type="http://schemas.openxmlformats.org/officeDocument/2006/relationships/tags" Target="../tags/tag92.xml"/><Relationship Id="rId14" Type="http://schemas.openxmlformats.org/officeDocument/2006/relationships/tags" Target="../tags/tag91.xml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tags" Target="../tags/tag88.xml"/><Relationship Id="rId10" Type="http://schemas.openxmlformats.org/officeDocument/2006/relationships/tags" Target="../tags/tag87.xml"/><Relationship Id="rId1" Type="http://schemas.openxmlformats.org/officeDocument/2006/relationships/tags" Target="../tags/tag78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8" Type="http://schemas.openxmlformats.org/officeDocument/2006/relationships/slideLayout" Target="../slideLayouts/slideLayout2.xml"/><Relationship Id="rId37" Type="http://schemas.openxmlformats.org/officeDocument/2006/relationships/tags" Target="../tags/tag154.xml"/><Relationship Id="rId36" Type="http://schemas.openxmlformats.org/officeDocument/2006/relationships/tags" Target="../tags/tag153.xml"/><Relationship Id="rId35" Type="http://schemas.openxmlformats.org/officeDocument/2006/relationships/tags" Target="../tags/tag152.xml"/><Relationship Id="rId34" Type="http://schemas.openxmlformats.org/officeDocument/2006/relationships/tags" Target="../tags/tag151.xml"/><Relationship Id="rId33" Type="http://schemas.openxmlformats.org/officeDocument/2006/relationships/tags" Target="../tags/tag150.xml"/><Relationship Id="rId32" Type="http://schemas.openxmlformats.org/officeDocument/2006/relationships/tags" Target="../tags/tag149.xml"/><Relationship Id="rId31" Type="http://schemas.openxmlformats.org/officeDocument/2006/relationships/tags" Target="../tags/tag148.xml"/><Relationship Id="rId30" Type="http://schemas.openxmlformats.org/officeDocument/2006/relationships/tags" Target="../tags/tag147.xml"/><Relationship Id="rId3" Type="http://schemas.openxmlformats.org/officeDocument/2006/relationships/tags" Target="../tags/tag120.xml"/><Relationship Id="rId29" Type="http://schemas.openxmlformats.org/officeDocument/2006/relationships/tags" Target="../tags/tag146.xml"/><Relationship Id="rId28" Type="http://schemas.openxmlformats.org/officeDocument/2006/relationships/tags" Target="../tags/tag145.xml"/><Relationship Id="rId27" Type="http://schemas.openxmlformats.org/officeDocument/2006/relationships/tags" Target="../tags/tag144.xml"/><Relationship Id="rId26" Type="http://schemas.openxmlformats.org/officeDocument/2006/relationships/tags" Target="../tags/tag143.xml"/><Relationship Id="rId25" Type="http://schemas.openxmlformats.org/officeDocument/2006/relationships/tags" Target="../tags/tag142.xml"/><Relationship Id="rId24" Type="http://schemas.openxmlformats.org/officeDocument/2006/relationships/tags" Target="../tags/tag141.xml"/><Relationship Id="rId23" Type="http://schemas.openxmlformats.org/officeDocument/2006/relationships/tags" Target="../tags/tag140.xml"/><Relationship Id="rId22" Type="http://schemas.openxmlformats.org/officeDocument/2006/relationships/tags" Target="../tags/tag139.xml"/><Relationship Id="rId21" Type="http://schemas.openxmlformats.org/officeDocument/2006/relationships/tags" Target="../tags/tag138.xml"/><Relationship Id="rId20" Type="http://schemas.openxmlformats.org/officeDocument/2006/relationships/tags" Target="../tags/tag137.xml"/><Relationship Id="rId2" Type="http://schemas.openxmlformats.org/officeDocument/2006/relationships/tags" Target="../tags/tag119.xml"/><Relationship Id="rId19" Type="http://schemas.openxmlformats.org/officeDocument/2006/relationships/tags" Target="../tags/tag136.xml"/><Relationship Id="rId18" Type="http://schemas.openxmlformats.org/officeDocument/2006/relationships/tags" Target="../tags/tag135.xml"/><Relationship Id="rId17" Type="http://schemas.openxmlformats.org/officeDocument/2006/relationships/tags" Target="../tags/tag134.xml"/><Relationship Id="rId16" Type="http://schemas.openxmlformats.org/officeDocument/2006/relationships/tags" Target="../tags/tag133.xml"/><Relationship Id="rId15" Type="http://schemas.openxmlformats.org/officeDocument/2006/relationships/tags" Target="../tags/tag132.xml"/><Relationship Id="rId14" Type="http://schemas.openxmlformats.org/officeDocument/2006/relationships/tags" Target="../tags/tag131.xml"/><Relationship Id="rId13" Type="http://schemas.openxmlformats.org/officeDocument/2006/relationships/tags" Target="../tags/tag130.xml"/><Relationship Id="rId12" Type="http://schemas.openxmlformats.org/officeDocument/2006/relationships/tags" Target="../tags/tag129.xml"/><Relationship Id="rId11" Type="http://schemas.openxmlformats.org/officeDocument/2006/relationships/tags" Target="../tags/tag128.xml"/><Relationship Id="rId10" Type="http://schemas.openxmlformats.org/officeDocument/2006/relationships/tags" Target="../tags/tag127.xml"/><Relationship Id="rId1" Type="http://schemas.openxmlformats.org/officeDocument/2006/relationships/tags" Target="../tags/tag118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63.xml"/><Relationship Id="rId8" Type="http://schemas.openxmlformats.org/officeDocument/2006/relationships/tags" Target="../tags/tag162.xml"/><Relationship Id="rId7" Type="http://schemas.openxmlformats.org/officeDocument/2006/relationships/tags" Target="../tags/tag161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0" Type="http://schemas.openxmlformats.org/officeDocument/2006/relationships/slideLayout" Target="../slideLayouts/slideLayout2.xml"/><Relationship Id="rId4" Type="http://schemas.openxmlformats.org/officeDocument/2006/relationships/tags" Target="../tags/tag158.xml"/><Relationship Id="rId39" Type="http://schemas.openxmlformats.org/officeDocument/2006/relationships/tags" Target="../tags/tag193.xml"/><Relationship Id="rId38" Type="http://schemas.openxmlformats.org/officeDocument/2006/relationships/tags" Target="../tags/tag192.xml"/><Relationship Id="rId37" Type="http://schemas.openxmlformats.org/officeDocument/2006/relationships/tags" Target="../tags/tag191.xml"/><Relationship Id="rId36" Type="http://schemas.openxmlformats.org/officeDocument/2006/relationships/tags" Target="../tags/tag190.xml"/><Relationship Id="rId35" Type="http://schemas.openxmlformats.org/officeDocument/2006/relationships/tags" Target="../tags/tag189.xml"/><Relationship Id="rId34" Type="http://schemas.openxmlformats.org/officeDocument/2006/relationships/tags" Target="../tags/tag188.xml"/><Relationship Id="rId33" Type="http://schemas.openxmlformats.org/officeDocument/2006/relationships/tags" Target="../tags/tag187.xml"/><Relationship Id="rId32" Type="http://schemas.openxmlformats.org/officeDocument/2006/relationships/tags" Target="../tags/tag186.xml"/><Relationship Id="rId31" Type="http://schemas.openxmlformats.org/officeDocument/2006/relationships/tags" Target="../tags/tag185.xml"/><Relationship Id="rId30" Type="http://schemas.openxmlformats.org/officeDocument/2006/relationships/tags" Target="../tags/tag184.xml"/><Relationship Id="rId3" Type="http://schemas.openxmlformats.org/officeDocument/2006/relationships/tags" Target="../tags/tag157.xml"/><Relationship Id="rId29" Type="http://schemas.openxmlformats.org/officeDocument/2006/relationships/tags" Target="../tags/tag183.xml"/><Relationship Id="rId28" Type="http://schemas.openxmlformats.org/officeDocument/2006/relationships/tags" Target="../tags/tag182.xml"/><Relationship Id="rId27" Type="http://schemas.openxmlformats.org/officeDocument/2006/relationships/tags" Target="../tags/tag181.xml"/><Relationship Id="rId26" Type="http://schemas.openxmlformats.org/officeDocument/2006/relationships/tags" Target="../tags/tag180.xml"/><Relationship Id="rId25" Type="http://schemas.openxmlformats.org/officeDocument/2006/relationships/tags" Target="../tags/tag179.xml"/><Relationship Id="rId24" Type="http://schemas.openxmlformats.org/officeDocument/2006/relationships/tags" Target="../tags/tag178.xml"/><Relationship Id="rId23" Type="http://schemas.openxmlformats.org/officeDocument/2006/relationships/tags" Target="../tags/tag177.xml"/><Relationship Id="rId22" Type="http://schemas.openxmlformats.org/officeDocument/2006/relationships/tags" Target="../tags/tag176.xml"/><Relationship Id="rId21" Type="http://schemas.openxmlformats.org/officeDocument/2006/relationships/tags" Target="../tags/tag175.xml"/><Relationship Id="rId20" Type="http://schemas.openxmlformats.org/officeDocument/2006/relationships/tags" Target="../tags/tag174.xml"/><Relationship Id="rId2" Type="http://schemas.openxmlformats.org/officeDocument/2006/relationships/tags" Target="../tags/tag156.xml"/><Relationship Id="rId19" Type="http://schemas.openxmlformats.org/officeDocument/2006/relationships/tags" Target="../tags/tag173.xml"/><Relationship Id="rId18" Type="http://schemas.openxmlformats.org/officeDocument/2006/relationships/tags" Target="../tags/tag172.xml"/><Relationship Id="rId17" Type="http://schemas.openxmlformats.org/officeDocument/2006/relationships/tags" Target="../tags/tag171.xml"/><Relationship Id="rId16" Type="http://schemas.openxmlformats.org/officeDocument/2006/relationships/tags" Target="../tags/tag170.xml"/><Relationship Id="rId15" Type="http://schemas.openxmlformats.org/officeDocument/2006/relationships/tags" Target="../tags/tag169.xml"/><Relationship Id="rId14" Type="http://schemas.openxmlformats.org/officeDocument/2006/relationships/tags" Target="../tags/tag168.xml"/><Relationship Id="rId13" Type="http://schemas.openxmlformats.org/officeDocument/2006/relationships/tags" Target="../tags/tag167.xml"/><Relationship Id="rId12" Type="http://schemas.openxmlformats.org/officeDocument/2006/relationships/tags" Target="../tags/tag166.xml"/><Relationship Id="rId11" Type="http://schemas.openxmlformats.org/officeDocument/2006/relationships/tags" Target="../tags/tag165.xml"/><Relationship Id="rId10" Type="http://schemas.openxmlformats.org/officeDocument/2006/relationships/tags" Target="../tags/tag164.xml"/><Relationship Id="rId1" Type="http://schemas.openxmlformats.org/officeDocument/2006/relationships/tags" Target="../tags/tag155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202.xml"/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9" Type="http://schemas.openxmlformats.org/officeDocument/2006/relationships/slideLayout" Target="../slideLayouts/slideLayout2.xml"/><Relationship Id="rId38" Type="http://schemas.openxmlformats.org/officeDocument/2006/relationships/tags" Target="../tags/tag231.xml"/><Relationship Id="rId37" Type="http://schemas.openxmlformats.org/officeDocument/2006/relationships/tags" Target="../tags/tag230.xml"/><Relationship Id="rId36" Type="http://schemas.openxmlformats.org/officeDocument/2006/relationships/tags" Target="../tags/tag229.xml"/><Relationship Id="rId35" Type="http://schemas.openxmlformats.org/officeDocument/2006/relationships/tags" Target="../tags/tag228.xml"/><Relationship Id="rId34" Type="http://schemas.openxmlformats.org/officeDocument/2006/relationships/tags" Target="../tags/tag227.xml"/><Relationship Id="rId33" Type="http://schemas.openxmlformats.org/officeDocument/2006/relationships/tags" Target="../tags/tag226.xml"/><Relationship Id="rId32" Type="http://schemas.openxmlformats.org/officeDocument/2006/relationships/tags" Target="../tags/tag225.xml"/><Relationship Id="rId31" Type="http://schemas.openxmlformats.org/officeDocument/2006/relationships/tags" Target="../tags/tag224.xml"/><Relationship Id="rId30" Type="http://schemas.openxmlformats.org/officeDocument/2006/relationships/tags" Target="../tags/tag223.xml"/><Relationship Id="rId3" Type="http://schemas.openxmlformats.org/officeDocument/2006/relationships/tags" Target="../tags/tag196.xml"/><Relationship Id="rId29" Type="http://schemas.openxmlformats.org/officeDocument/2006/relationships/tags" Target="../tags/tag222.xml"/><Relationship Id="rId28" Type="http://schemas.openxmlformats.org/officeDocument/2006/relationships/tags" Target="../tags/tag221.xml"/><Relationship Id="rId27" Type="http://schemas.openxmlformats.org/officeDocument/2006/relationships/tags" Target="../tags/tag220.xml"/><Relationship Id="rId26" Type="http://schemas.openxmlformats.org/officeDocument/2006/relationships/tags" Target="../tags/tag219.xml"/><Relationship Id="rId25" Type="http://schemas.openxmlformats.org/officeDocument/2006/relationships/tags" Target="../tags/tag218.xml"/><Relationship Id="rId24" Type="http://schemas.openxmlformats.org/officeDocument/2006/relationships/tags" Target="../tags/tag217.xml"/><Relationship Id="rId23" Type="http://schemas.openxmlformats.org/officeDocument/2006/relationships/tags" Target="../tags/tag216.xml"/><Relationship Id="rId22" Type="http://schemas.openxmlformats.org/officeDocument/2006/relationships/tags" Target="../tags/tag215.xml"/><Relationship Id="rId21" Type="http://schemas.openxmlformats.org/officeDocument/2006/relationships/tags" Target="../tags/tag214.xml"/><Relationship Id="rId20" Type="http://schemas.openxmlformats.org/officeDocument/2006/relationships/tags" Target="../tags/tag213.xml"/><Relationship Id="rId2" Type="http://schemas.openxmlformats.org/officeDocument/2006/relationships/tags" Target="../tags/tag195.xml"/><Relationship Id="rId19" Type="http://schemas.openxmlformats.org/officeDocument/2006/relationships/tags" Target="../tags/tag212.xml"/><Relationship Id="rId18" Type="http://schemas.openxmlformats.org/officeDocument/2006/relationships/tags" Target="../tags/tag211.xml"/><Relationship Id="rId17" Type="http://schemas.openxmlformats.org/officeDocument/2006/relationships/tags" Target="../tags/tag210.xml"/><Relationship Id="rId16" Type="http://schemas.openxmlformats.org/officeDocument/2006/relationships/tags" Target="../tags/tag209.xml"/><Relationship Id="rId15" Type="http://schemas.openxmlformats.org/officeDocument/2006/relationships/tags" Target="../tags/tag208.xml"/><Relationship Id="rId14" Type="http://schemas.openxmlformats.org/officeDocument/2006/relationships/tags" Target="../tags/tag207.xml"/><Relationship Id="rId13" Type="http://schemas.openxmlformats.org/officeDocument/2006/relationships/tags" Target="../tags/tag206.xml"/><Relationship Id="rId12" Type="http://schemas.openxmlformats.org/officeDocument/2006/relationships/tags" Target="../tags/tag205.xml"/><Relationship Id="rId11" Type="http://schemas.openxmlformats.org/officeDocument/2006/relationships/tags" Target="../tags/tag204.xml"/><Relationship Id="rId10" Type="http://schemas.openxmlformats.org/officeDocument/2006/relationships/tags" Target="../tags/tag203.xml"/><Relationship Id="rId1" Type="http://schemas.openxmlformats.org/officeDocument/2006/relationships/tags" Target="../tags/tag194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240.xml"/><Relationship Id="rId8" Type="http://schemas.openxmlformats.org/officeDocument/2006/relationships/tags" Target="../tags/tag239.xml"/><Relationship Id="rId7" Type="http://schemas.openxmlformats.org/officeDocument/2006/relationships/tags" Target="../tags/tag238.xml"/><Relationship Id="rId6" Type="http://schemas.openxmlformats.org/officeDocument/2006/relationships/tags" Target="../tags/tag237.xml"/><Relationship Id="rId5" Type="http://schemas.openxmlformats.org/officeDocument/2006/relationships/tags" Target="../tags/tag236.xml"/><Relationship Id="rId4" Type="http://schemas.openxmlformats.org/officeDocument/2006/relationships/tags" Target="../tags/tag235.xml"/><Relationship Id="rId38" Type="http://schemas.openxmlformats.org/officeDocument/2006/relationships/slideLayout" Target="../slideLayouts/slideLayout2.xml"/><Relationship Id="rId37" Type="http://schemas.openxmlformats.org/officeDocument/2006/relationships/tags" Target="../tags/tag268.xml"/><Relationship Id="rId36" Type="http://schemas.openxmlformats.org/officeDocument/2006/relationships/tags" Target="../tags/tag267.xml"/><Relationship Id="rId35" Type="http://schemas.openxmlformats.org/officeDocument/2006/relationships/tags" Target="../tags/tag266.xml"/><Relationship Id="rId34" Type="http://schemas.openxmlformats.org/officeDocument/2006/relationships/tags" Target="../tags/tag265.xml"/><Relationship Id="rId33" Type="http://schemas.openxmlformats.org/officeDocument/2006/relationships/tags" Target="../tags/tag264.xml"/><Relationship Id="rId32" Type="http://schemas.openxmlformats.org/officeDocument/2006/relationships/tags" Target="../tags/tag263.xml"/><Relationship Id="rId31" Type="http://schemas.openxmlformats.org/officeDocument/2006/relationships/tags" Target="../tags/tag262.xml"/><Relationship Id="rId30" Type="http://schemas.openxmlformats.org/officeDocument/2006/relationships/tags" Target="../tags/tag261.xml"/><Relationship Id="rId3" Type="http://schemas.openxmlformats.org/officeDocument/2006/relationships/tags" Target="../tags/tag234.xml"/><Relationship Id="rId29" Type="http://schemas.openxmlformats.org/officeDocument/2006/relationships/tags" Target="../tags/tag260.xml"/><Relationship Id="rId28" Type="http://schemas.openxmlformats.org/officeDocument/2006/relationships/tags" Target="../tags/tag259.xml"/><Relationship Id="rId27" Type="http://schemas.openxmlformats.org/officeDocument/2006/relationships/tags" Target="../tags/tag258.xml"/><Relationship Id="rId26" Type="http://schemas.openxmlformats.org/officeDocument/2006/relationships/tags" Target="../tags/tag257.xml"/><Relationship Id="rId25" Type="http://schemas.openxmlformats.org/officeDocument/2006/relationships/tags" Target="../tags/tag256.xml"/><Relationship Id="rId24" Type="http://schemas.openxmlformats.org/officeDocument/2006/relationships/tags" Target="../tags/tag255.xml"/><Relationship Id="rId23" Type="http://schemas.openxmlformats.org/officeDocument/2006/relationships/tags" Target="../tags/tag254.xml"/><Relationship Id="rId22" Type="http://schemas.openxmlformats.org/officeDocument/2006/relationships/tags" Target="../tags/tag253.xml"/><Relationship Id="rId21" Type="http://schemas.openxmlformats.org/officeDocument/2006/relationships/tags" Target="../tags/tag252.xml"/><Relationship Id="rId20" Type="http://schemas.openxmlformats.org/officeDocument/2006/relationships/tags" Target="../tags/tag251.xml"/><Relationship Id="rId2" Type="http://schemas.openxmlformats.org/officeDocument/2006/relationships/tags" Target="../tags/tag233.xml"/><Relationship Id="rId19" Type="http://schemas.openxmlformats.org/officeDocument/2006/relationships/tags" Target="../tags/tag250.xml"/><Relationship Id="rId18" Type="http://schemas.openxmlformats.org/officeDocument/2006/relationships/tags" Target="../tags/tag249.xml"/><Relationship Id="rId17" Type="http://schemas.openxmlformats.org/officeDocument/2006/relationships/tags" Target="../tags/tag248.xml"/><Relationship Id="rId16" Type="http://schemas.openxmlformats.org/officeDocument/2006/relationships/tags" Target="../tags/tag247.xml"/><Relationship Id="rId15" Type="http://schemas.openxmlformats.org/officeDocument/2006/relationships/tags" Target="../tags/tag246.xml"/><Relationship Id="rId14" Type="http://schemas.openxmlformats.org/officeDocument/2006/relationships/tags" Target="../tags/tag245.xml"/><Relationship Id="rId13" Type="http://schemas.openxmlformats.org/officeDocument/2006/relationships/tags" Target="../tags/tag244.xml"/><Relationship Id="rId12" Type="http://schemas.openxmlformats.org/officeDocument/2006/relationships/tags" Target="../tags/tag243.xml"/><Relationship Id="rId11" Type="http://schemas.openxmlformats.org/officeDocument/2006/relationships/tags" Target="../tags/tag242.xml"/><Relationship Id="rId10" Type="http://schemas.openxmlformats.org/officeDocument/2006/relationships/tags" Target="../tags/tag241.xml"/><Relationship Id="rId1" Type="http://schemas.openxmlformats.org/officeDocument/2006/relationships/tags" Target="../tags/tag232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277.xml"/><Relationship Id="rId8" Type="http://schemas.openxmlformats.org/officeDocument/2006/relationships/tags" Target="../tags/tag276.xml"/><Relationship Id="rId7" Type="http://schemas.openxmlformats.org/officeDocument/2006/relationships/tags" Target="../tags/tag275.xml"/><Relationship Id="rId6" Type="http://schemas.openxmlformats.org/officeDocument/2006/relationships/tags" Target="../tags/tag274.xml"/><Relationship Id="rId5" Type="http://schemas.openxmlformats.org/officeDocument/2006/relationships/tags" Target="../tags/tag273.xml"/><Relationship Id="rId4" Type="http://schemas.openxmlformats.org/officeDocument/2006/relationships/tags" Target="../tags/tag272.xml"/><Relationship Id="rId36" Type="http://schemas.openxmlformats.org/officeDocument/2006/relationships/slideLayout" Target="../slideLayouts/slideLayout2.xml"/><Relationship Id="rId35" Type="http://schemas.openxmlformats.org/officeDocument/2006/relationships/tags" Target="../tags/tag303.xml"/><Relationship Id="rId34" Type="http://schemas.openxmlformats.org/officeDocument/2006/relationships/tags" Target="../tags/tag302.xml"/><Relationship Id="rId33" Type="http://schemas.openxmlformats.org/officeDocument/2006/relationships/tags" Target="../tags/tag301.xml"/><Relationship Id="rId32" Type="http://schemas.openxmlformats.org/officeDocument/2006/relationships/tags" Target="../tags/tag300.xml"/><Relationship Id="rId31" Type="http://schemas.openxmlformats.org/officeDocument/2006/relationships/tags" Target="../tags/tag299.xml"/><Relationship Id="rId30" Type="http://schemas.openxmlformats.org/officeDocument/2006/relationships/tags" Target="../tags/tag298.xml"/><Relationship Id="rId3" Type="http://schemas.openxmlformats.org/officeDocument/2006/relationships/tags" Target="../tags/tag271.xml"/><Relationship Id="rId29" Type="http://schemas.openxmlformats.org/officeDocument/2006/relationships/tags" Target="../tags/tag297.xml"/><Relationship Id="rId28" Type="http://schemas.openxmlformats.org/officeDocument/2006/relationships/tags" Target="../tags/tag296.xml"/><Relationship Id="rId27" Type="http://schemas.openxmlformats.org/officeDocument/2006/relationships/tags" Target="../tags/tag295.xml"/><Relationship Id="rId26" Type="http://schemas.openxmlformats.org/officeDocument/2006/relationships/tags" Target="../tags/tag294.xml"/><Relationship Id="rId25" Type="http://schemas.openxmlformats.org/officeDocument/2006/relationships/tags" Target="../tags/tag293.xml"/><Relationship Id="rId24" Type="http://schemas.openxmlformats.org/officeDocument/2006/relationships/tags" Target="../tags/tag292.xml"/><Relationship Id="rId23" Type="http://schemas.openxmlformats.org/officeDocument/2006/relationships/tags" Target="../tags/tag291.xml"/><Relationship Id="rId22" Type="http://schemas.openxmlformats.org/officeDocument/2006/relationships/tags" Target="../tags/tag290.xml"/><Relationship Id="rId21" Type="http://schemas.openxmlformats.org/officeDocument/2006/relationships/tags" Target="../tags/tag289.xml"/><Relationship Id="rId20" Type="http://schemas.openxmlformats.org/officeDocument/2006/relationships/tags" Target="../tags/tag288.xml"/><Relationship Id="rId2" Type="http://schemas.openxmlformats.org/officeDocument/2006/relationships/tags" Target="../tags/tag270.xml"/><Relationship Id="rId19" Type="http://schemas.openxmlformats.org/officeDocument/2006/relationships/tags" Target="../tags/tag287.xml"/><Relationship Id="rId18" Type="http://schemas.openxmlformats.org/officeDocument/2006/relationships/tags" Target="../tags/tag286.xml"/><Relationship Id="rId17" Type="http://schemas.openxmlformats.org/officeDocument/2006/relationships/tags" Target="../tags/tag285.xml"/><Relationship Id="rId16" Type="http://schemas.openxmlformats.org/officeDocument/2006/relationships/tags" Target="../tags/tag284.xml"/><Relationship Id="rId15" Type="http://schemas.openxmlformats.org/officeDocument/2006/relationships/tags" Target="../tags/tag283.xml"/><Relationship Id="rId14" Type="http://schemas.openxmlformats.org/officeDocument/2006/relationships/tags" Target="../tags/tag282.xml"/><Relationship Id="rId13" Type="http://schemas.openxmlformats.org/officeDocument/2006/relationships/tags" Target="../tags/tag281.xml"/><Relationship Id="rId12" Type="http://schemas.openxmlformats.org/officeDocument/2006/relationships/tags" Target="../tags/tag280.xml"/><Relationship Id="rId11" Type="http://schemas.openxmlformats.org/officeDocument/2006/relationships/tags" Target="../tags/tag279.xml"/><Relationship Id="rId10" Type="http://schemas.openxmlformats.org/officeDocument/2006/relationships/tags" Target="../tags/tag278.xml"/><Relationship Id="rId1" Type="http://schemas.openxmlformats.org/officeDocument/2006/relationships/tags" Target="../tags/tag269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312.xml"/><Relationship Id="rId8" Type="http://schemas.openxmlformats.org/officeDocument/2006/relationships/tags" Target="../tags/tag311.xml"/><Relationship Id="rId7" Type="http://schemas.openxmlformats.org/officeDocument/2006/relationships/tags" Target="../tags/tag310.xml"/><Relationship Id="rId6" Type="http://schemas.openxmlformats.org/officeDocument/2006/relationships/tags" Target="../tags/tag309.xml"/><Relationship Id="rId5" Type="http://schemas.openxmlformats.org/officeDocument/2006/relationships/tags" Target="../tags/tag308.xml"/><Relationship Id="rId4" Type="http://schemas.openxmlformats.org/officeDocument/2006/relationships/tags" Target="../tags/tag307.xml"/><Relationship Id="rId38" Type="http://schemas.openxmlformats.org/officeDocument/2006/relationships/slideLayout" Target="../slideLayouts/slideLayout2.xml"/><Relationship Id="rId37" Type="http://schemas.openxmlformats.org/officeDocument/2006/relationships/tags" Target="../tags/tag340.xml"/><Relationship Id="rId36" Type="http://schemas.openxmlformats.org/officeDocument/2006/relationships/tags" Target="../tags/tag339.xml"/><Relationship Id="rId35" Type="http://schemas.openxmlformats.org/officeDocument/2006/relationships/tags" Target="../tags/tag338.xml"/><Relationship Id="rId34" Type="http://schemas.openxmlformats.org/officeDocument/2006/relationships/tags" Target="../tags/tag337.xml"/><Relationship Id="rId33" Type="http://schemas.openxmlformats.org/officeDocument/2006/relationships/tags" Target="../tags/tag336.xml"/><Relationship Id="rId32" Type="http://schemas.openxmlformats.org/officeDocument/2006/relationships/tags" Target="../tags/tag335.xml"/><Relationship Id="rId31" Type="http://schemas.openxmlformats.org/officeDocument/2006/relationships/tags" Target="../tags/tag334.xml"/><Relationship Id="rId30" Type="http://schemas.openxmlformats.org/officeDocument/2006/relationships/tags" Target="../tags/tag333.xml"/><Relationship Id="rId3" Type="http://schemas.openxmlformats.org/officeDocument/2006/relationships/tags" Target="../tags/tag306.xml"/><Relationship Id="rId29" Type="http://schemas.openxmlformats.org/officeDocument/2006/relationships/tags" Target="../tags/tag332.xml"/><Relationship Id="rId28" Type="http://schemas.openxmlformats.org/officeDocument/2006/relationships/tags" Target="../tags/tag331.xml"/><Relationship Id="rId27" Type="http://schemas.openxmlformats.org/officeDocument/2006/relationships/tags" Target="../tags/tag330.xml"/><Relationship Id="rId26" Type="http://schemas.openxmlformats.org/officeDocument/2006/relationships/tags" Target="../tags/tag329.xml"/><Relationship Id="rId25" Type="http://schemas.openxmlformats.org/officeDocument/2006/relationships/tags" Target="../tags/tag328.xml"/><Relationship Id="rId24" Type="http://schemas.openxmlformats.org/officeDocument/2006/relationships/tags" Target="../tags/tag327.xml"/><Relationship Id="rId23" Type="http://schemas.openxmlformats.org/officeDocument/2006/relationships/tags" Target="../tags/tag326.xml"/><Relationship Id="rId22" Type="http://schemas.openxmlformats.org/officeDocument/2006/relationships/tags" Target="../tags/tag325.xml"/><Relationship Id="rId21" Type="http://schemas.openxmlformats.org/officeDocument/2006/relationships/tags" Target="../tags/tag324.xml"/><Relationship Id="rId20" Type="http://schemas.openxmlformats.org/officeDocument/2006/relationships/tags" Target="../tags/tag323.xml"/><Relationship Id="rId2" Type="http://schemas.openxmlformats.org/officeDocument/2006/relationships/tags" Target="../tags/tag305.xml"/><Relationship Id="rId19" Type="http://schemas.openxmlformats.org/officeDocument/2006/relationships/tags" Target="../tags/tag322.xml"/><Relationship Id="rId18" Type="http://schemas.openxmlformats.org/officeDocument/2006/relationships/tags" Target="../tags/tag321.xml"/><Relationship Id="rId17" Type="http://schemas.openxmlformats.org/officeDocument/2006/relationships/tags" Target="../tags/tag320.xml"/><Relationship Id="rId16" Type="http://schemas.openxmlformats.org/officeDocument/2006/relationships/tags" Target="../tags/tag319.xml"/><Relationship Id="rId15" Type="http://schemas.openxmlformats.org/officeDocument/2006/relationships/tags" Target="../tags/tag318.xml"/><Relationship Id="rId14" Type="http://schemas.openxmlformats.org/officeDocument/2006/relationships/tags" Target="../tags/tag317.xml"/><Relationship Id="rId13" Type="http://schemas.openxmlformats.org/officeDocument/2006/relationships/tags" Target="../tags/tag316.xml"/><Relationship Id="rId12" Type="http://schemas.openxmlformats.org/officeDocument/2006/relationships/tags" Target="../tags/tag315.xml"/><Relationship Id="rId11" Type="http://schemas.openxmlformats.org/officeDocument/2006/relationships/tags" Target="../tags/tag314.xml"/><Relationship Id="rId10" Type="http://schemas.openxmlformats.org/officeDocument/2006/relationships/tags" Target="../tags/tag313.xml"/><Relationship Id="rId1" Type="http://schemas.openxmlformats.org/officeDocument/2006/relationships/tags" Target="../tags/tag30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786255" y="3278505"/>
            <a:ext cx="728662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4400">
                <a:solidFill>
                  <a:srgbClr val="9DD1FD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socket</a:t>
            </a:r>
            <a:r>
              <a:rPr lang="zh-CN" altLang="en-US" sz="4400">
                <a:solidFill>
                  <a:srgbClr val="9DD1FD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及</a:t>
            </a:r>
            <a:r>
              <a:rPr lang="en-US" altLang="zh-CN" sz="4400">
                <a:solidFill>
                  <a:srgbClr val="9DD1FD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TCP</a:t>
            </a:r>
            <a:r>
              <a:rPr lang="zh-CN" altLang="en-US" sz="4400">
                <a:solidFill>
                  <a:srgbClr val="9DD1FD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的实现框架</a:t>
            </a:r>
            <a:endParaRPr lang="zh-CN" altLang="en-US" sz="4400">
              <a:solidFill>
                <a:srgbClr val="9DD1FD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43480" y="5075873"/>
            <a:ext cx="5645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华清远见</a:t>
            </a:r>
            <a:r>
              <a:rPr lang="en-US" altLang="zh-CN" sz="280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| </a:t>
            </a:r>
            <a:r>
              <a:rPr lang="zh-CN" altLang="en-US" sz="280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创客学院</a:t>
            </a:r>
            <a:r>
              <a:rPr lang="en-US" altLang="zh-CN" sz="280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80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苏老师</a:t>
            </a:r>
            <a:endParaRPr lang="zh-CN" altLang="en-US" sz="280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86255" y="1755775"/>
            <a:ext cx="8619490" cy="11068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zh-CN" sz="6600" b="1">
                <a:ln w="19050">
                  <a:noFill/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57000">
                      <a:srgbClr val="9DD1FD"/>
                    </a:gs>
                  </a:gsLst>
                  <a:lin ang="5400000" scaled="0"/>
                </a:gradFill>
                <a:effectLst>
                  <a:outerShdw blurRad="101600" dist="63500" dir="5400000" sx="103000" sy="103000" algn="t" rotWithShape="0">
                    <a:prstClr val="black">
                      <a:alpha val="24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socket</a:t>
            </a:r>
            <a:r>
              <a:rPr lang="zh-CN" altLang="en-US" sz="6600" b="1">
                <a:ln w="19050">
                  <a:noFill/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57000">
                      <a:srgbClr val="9DD1FD"/>
                    </a:gs>
                  </a:gsLst>
                  <a:lin ang="5400000" scaled="0"/>
                </a:gradFill>
                <a:effectLst>
                  <a:outerShdw blurRad="101600" dist="63500" dir="5400000" sx="103000" sy="103000" algn="t" rotWithShape="0">
                    <a:prstClr val="black">
                      <a:alpha val="24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套接字</a:t>
            </a:r>
            <a:endParaRPr lang="zh-CN" altLang="en-US" sz="6600" b="1">
              <a:ln w="19050">
                <a:noFill/>
              </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7000">
                    <a:srgbClr val="9DD1FD"/>
                  </a:gs>
                </a:gsLst>
                <a:lin ang="5400000" scaled="0"/>
              </a:gradFill>
              <a:effectLst>
                <a:outerShdw blurRad="101600" dist="63500" dir="5400000" sx="103000" sy="103000" algn="t" rotWithShape="0">
                  <a:prstClr val="black">
                    <a:alpha val="24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 flipV="1">
            <a:off x="-6350" y="4531995"/>
            <a:ext cx="12151360" cy="36000"/>
          </a:xfrm>
          <a:prstGeom prst="rect">
            <a:avLst/>
          </a:prstGeom>
          <a:gradFill>
            <a:gsLst>
              <a:gs pos="0">
                <a:srgbClr val="00B0F0"/>
              </a:gs>
              <a:gs pos="100000">
                <a:srgbClr val="002532">
                  <a:lumMod val="42000"/>
                  <a:alpha val="3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 rot="10800000" flipV="1">
            <a:off x="27940" y="1270855"/>
            <a:ext cx="12151360" cy="36000"/>
          </a:xfrm>
          <a:prstGeom prst="rect">
            <a:avLst/>
          </a:prstGeom>
          <a:gradFill>
            <a:gsLst>
              <a:gs pos="0">
                <a:srgbClr val="00B0F0"/>
              </a:gs>
              <a:gs pos="100000">
                <a:srgbClr val="002532">
                  <a:lumMod val="42000"/>
                  <a:alpha val="3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1962150" y="5109845"/>
            <a:ext cx="454660" cy="454660"/>
            <a:chOff x="3030" y="8047"/>
            <a:chExt cx="716" cy="716"/>
          </a:xfrm>
        </p:grpSpPr>
        <p:sp>
          <p:nvSpPr>
            <p:cNvPr id="12" name="椭圆 11"/>
            <p:cNvSpPr/>
            <p:nvPr/>
          </p:nvSpPr>
          <p:spPr>
            <a:xfrm>
              <a:off x="3030" y="8047"/>
              <a:ext cx="716" cy="716"/>
            </a:xfrm>
            <a:prstGeom prst="ellipse">
              <a:avLst/>
            </a:prstGeom>
            <a:gradFill>
              <a:gsLst>
                <a:gs pos="0">
                  <a:srgbClr val="00B0F0"/>
                </a:gs>
                <a:gs pos="100000">
                  <a:srgbClr val="9DD1FD"/>
                </a:gs>
              </a:gsLst>
              <a:lin ang="1884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1" name="图片 10" descr="303b32313537373539323bc0cfcaa6c4d0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49" y="8149"/>
              <a:ext cx="464" cy="4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B1E28"/>
            </a:gs>
            <a:gs pos="100000">
              <a:srgbClr val="28353C"/>
            </a:gs>
          </a:gsLst>
          <a:lin ang="195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127250" y="2230755"/>
            <a:ext cx="990346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9DD1F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socket套接字</a:t>
            </a:r>
            <a:endParaRPr lang="zh-CN" altLang="en-US" sz="3200" dirty="0">
              <a:solidFill>
                <a:srgbClr val="9DD1F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3200" dirty="0">
              <a:solidFill>
                <a:srgbClr val="F8F0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3200" dirty="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socket常用API介绍</a:t>
            </a:r>
            <a:endParaRPr lang="zh-CN" altLang="en-US" sz="3200" dirty="0">
              <a:solidFill>
                <a:schemeClr val="bg1">
                  <a:lumMod val="8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3200" dirty="0">
              <a:solidFill>
                <a:schemeClr val="bg1">
                  <a:lumMod val="8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3200" dirty="0"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TCP通信的实现过程</a:t>
            </a:r>
            <a:endParaRPr lang="zh-CN" altLang="en-US" sz="3200" dirty="0">
              <a:solidFill>
                <a:schemeClr val="bg1">
                  <a:lumMod val="8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29055" y="2230755"/>
            <a:ext cx="7975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200">
                <a:solidFill>
                  <a:srgbClr val="9DD1FD"/>
                </a:solidFill>
                <a:latin typeface="微软雅黑" panose="020B0503020204020204" charset="-122"/>
                <a:ea typeface="微软雅黑" panose="020B0503020204020204" charset="-122"/>
              </a:rPr>
              <a:t>1 /</a:t>
            </a:r>
            <a:endParaRPr lang="en-US" altLang="zh-CN" sz="3200">
              <a:solidFill>
                <a:srgbClr val="9DD1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29690" y="3181985"/>
            <a:ext cx="7975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200">
                <a:solidFill>
                  <a:srgbClr val="9DD1FD"/>
                </a:solidFill>
                <a:latin typeface="微软雅黑" panose="020B0503020204020204" charset="-122"/>
                <a:ea typeface="微软雅黑" panose="020B0503020204020204" charset="-122"/>
              </a:rPr>
              <a:t>2 /</a:t>
            </a:r>
            <a:endParaRPr lang="en-US" altLang="zh-CN" sz="3200">
              <a:solidFill>
                <a:srgbClr val="9DD1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44930" y="4175125"/>
            <a:ext cx="7975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200">
                <a:solidFill>
                  <a:srgbClr val="9DD1FD"/>
                </a:solidFill>
                <a:latin typeface="微软雅黑" panose="020B0503020204020204" charset="-122"/>
                <a:ea typeface="微软雅黑" panose="020B0503020204020204" charset="-122"/>
              </a:rPr>
              <a:t>3 /</a:t>
            </a:r>
            <a:endParaRPr lang="en-US" altLang="zh-CN" sz="3200">
              <a:solidFill>
                <a:srgbClr val="9DD1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 descr="图片2"/>
          <p:cNvPicPr>
            <a:picLocks noChangeAspect="1"/>
          </p:cNvPicPr>
          <p:nvPr/>
        </p:nvPicPr>
        <p:blipFill>
          <a:blip r:embed="rId1">
            <a:lum bright="12000"/>
          </a:blip>
          <a:stretch>
            <a:fillRect/>
          </a:stretch>
        </p:blipFill>
        <p:spPr>
          <a:xfrm>
            <a:off x="775970" y="2280603"/>
            <a:ext cx="483870" cy="4838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体系结构的两种形式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6223000" cy="4351655"/>
          </a:xfrm>
        </p:spPr>
        <p:txBody>
          <a:bodyPr/>
          <a:p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网络的体系结构</a:t>
            </a:r>
            <a:r>
              <a:rPr lang="en-US" altLang="zh-CN" sz="2400"/>
              <a:t> (</a:t>
            </a:r>
            <a:r>
              <a:rPr lang="en-US" altLang="zh-CN" sz="2400">
                <a:latin typeface="Microsoft JhengHei UI" panose="020B0604030504040204" charset="-120"/>
                <a:ea typeface="Microsoft JhengHei UI" panose="020B0604030504040204" charset="-120"/>
              </a:rPr>
              <a:t>Network Architecture</a:t>
            </a:r>
            <a:r>
              <a:rPr lang="en-US" altLang="zh-CN" sz="2400"/>
              <a:t>) </a:t>
            </a:r>
            <a:r>
              <a:rPr lang="zh-CN" altLang="en-US" sz="2400"/>
              <a:t>是计算机网络的各层及其协议的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集合</a:t>
            </a:r>
            <a:r>
              <a:rPr lang="zh-CN" altLang="en-US" sz="2400"/>
              <a:t>，就是这个计算机网络及其构件所应完成的功能的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精确定义</a:t>
            </a:r>
            <a:r>
              <a:rPr lang="zh-CN" altLang="en-US" sz="2400"/>
              <a:t>（不涉及实现）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实现</a:t>
            </a:r>
            <a:r>
              <a:rPr lang="en-US" altLang="zh-CN" sz="2400"/>
              <a:t> (</a:t>
            </a:r>
            <a:r>
              <a:rPr lang="en-US" altLang="zh-CN" sz="2400">
                <a:latin typeface="Microsoft JhengHei UI" panose="020B0604030504040204" charset="-120"/>
                <a:ea typeface="Microsoft JhengHei UI" panose="020B0604030504040204" charset="-120"/>
              </a:rPr>
              <a:t>implementation</a:t>
            </a:r>
            <a:r>
              <a:rPr lang="en-US" altLang="zh-CN" sz="2400"/>
              <a:t>) </a:t>
            </a:r>
            <a:r>
              <a:rPr lang="zh-CN" altLang="en-US" sz="2400"/>
              <a:t>是遵循这种体系结构的前提下，用何种硬件或软件完成这些功能的问题</a:t>
            </a:r>
            <a:endParaRPr lang="zh-CN" alt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几种常见的网络编程接口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7760335" cy="4351655"/>
          </a:xfrm>
        </p:spPr>
        <p:txBody>
          <a:bodyPr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Berkeley UNIX </a:t>
            </a:r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操作系统定义了一种 </a:t>
            </a:r>
            <a:r>
              <a:rPr lang="en-US" altLang="zh-CN" sz="24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API</a:t>
            </a:r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，它又称为</a:t>
            </a:r>
            <a:r>
              <a:rPr lang="zh-CN" altLang="en-US" sz="2400" b="1" dirty="0">
                <a:solidFill>
                  <a:srgbClr val="9DD1FD"/>
                </a:solidFill>
                <a:sym typeface="+mn-ea"/>
              </a:rPr>
              <a:t>套接字接口 </a:t>
            </a:r>
            <a:r>
              <a:rPr lang="en-US" altLang="zh-CN" sz="2400" b="1" dirty="0">
                <a:solidFill>
                  <a:srgbClr val="9DD1FD"/>
                </a:solidFill>
                <a:sym typeface="+mn-ea"/>
              </a:rPr>
              <a:t>(</a:t>
            </a:r>
            <a:r>
              <a:rPr lang="en-US" altLang="zh-CN" sz="2400" b="1" dirty="0">
                <a:solidFill>
                  <a:srgbClr val="9DD1F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socket interface</a:t>
            </a:r>
            <a:r>
              <a:rPr lang="en-US" altLang="zh-CN" sz="2400" b="1" dirty="0">
                <a:solidFill>
                  <a:srgbClr val="9DD1FD"/>
                </a:solidFill>
                <a:sym typeface="+mn-ea"/>
              </a:rPr>
              <a:t>)</a:t>
            </a:r>
            <a:endParaRPr lang="en-US" altLang="zh-CN" sz="2400" b="1" dirty="0">
              <a:solidFill>
                <a:srgbClr val="9DD1FD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2400" dirty="0" smtClean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solidFill>
                  <a:schemeClr val="bg1">
                    <a:lumMod val="95000"/>
                  </a:schemeClr>
                </a:solidFill>
                <a:sym typeface="+mn-ea"/>
              </a:rPr>
              <a:t>微软公司在其操作系统中采用了套接字接口  API，形成了一个稍有不同的 API，并称之为 </a:t>
            </a:r>
            <a:r>
              <a:rPr lang="en-US" altLang="zh-CN" sz="2400" b="1" dirty="0" smtClean="0">
                <a:solidFill>
                  <a:schemeClr val="bg1">
                    <a:lumMod val="95000"/>
                  </a:schemeClr>
                </a:solidFill>
                <a:sym typeface="+mn-ea"/>
              </a:rPr>
              <a:t> </a:t>
            </a:r>
            <a:r>
              <a:rPr lang="en-US" altLang="zh-CN" sz="2400" b="1" dirty="0" smtClean="0">
                <a:solidFill>
                  <a:srgbClr val="9DD1F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Windows Socket</a:t>
            </a:r>
            <a:endParaRPr lang="en-US" altLang="zh-CN" sz="2400" b="1" dirty="0" smtClean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2400" dirty="0" smtClean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solidFill>
                  <a:schemeClr val="bg1">
                    <a:lumMod val="95000"/>
                  </a:schemeClr>
                </a:solidFill>
                <a:sym typeface="+mn-ea"/>
              </a:rPr>
              <a:t>AT&amp;T 为其 UNIX 系统 V 定义了一种 API，简写为 </a:t>
            </a:r>
            <a:r>
              <a:rPr lang="en-US" altLang="zh-CN" sz="2400" b="1" dirty="0" smtClean="0">
                <a:solidFill>
                  <a:srgbClr val="9DD1F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TLI</a:t>
            </a:r>
            <a:r>
              <a:rPr lang="en-US" altLang="zh-CN" sz="2400" dirty="0" smtClean="0">
                <a:solidFill>
                  <a:schemeClr val="bg1">
                    <a:lumMod val="95000"/>
                  </a:schemeClr>
                </a:solidFill>
                <a:sym typeface="+mn-ea"/>
              </a:rPr>
              <a:t> (Transport Layer Interface)</a:t>
            </a:r>
            <a:endParaRPr lang="en-US" altLang="zh-CN" sz="2400" dirty="0" smtClean="0">
              <a:solidFill>
                <a:schemeClr val="bg1">
                  <a:lumMod val="95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socket</a:t>
            </a:r>
            <a:r>
              <a:rPr lang="zh-CN" altLang="en-US"/>
              <a:t>套接字</a:t>
            </a: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769177" y="1753870"/>
            <a:ext cx="8592371" cy="3350961"/>
            <a:chOff x="1801" y="2528"/>
            <a:chExt cx="15184" cy="5921"/>
          </a:xfrm>
        </p:grpSpPr>
        <p:sp>
          <p:nvSpPr>
            <p:cNvPr id="5" name="AutoShape 71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4152" y="3559"/>
              <a:ext cx="783" cy="2042"/>
            </a:xfrm>
            <a:prstGeom prst="upArrow">
              <a:avLst>
                <a:gd name="adj1" fmla="val 50000"/>
                <a:gd name="adj2" fmla="val 70678"/>
              </a:avLst>
            </a:prstGeom>
            <a:noFill/>
            <a:ln w="12700">
              <a:solidFill>
                <a:schemeClr val="bg1">
                  <a:lumMod val="95000"/>
                </a:schemeClr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eaLnBrk="1" hangingPunct="1"/>
              <a:endParaRPr lang="zh-CN" altLang="en-US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aphicFrame>
          <p:nvGraphicFramePr>
            <p:cNvPr id="6" name="Object 72"/>
            <p:cNvGraphicFramePr>
              <a:graphicFrameLocks noChangeAspect="1"/>
            </p:cNvGraphicFramePr>
            <p:nvPr>
              <p:custDataLst>
                <p:tags r:id="rId2"/>
              </p:custDataLst>
            </p:nvPr>
          </p:nvGraphicFramePr>
          <p:xfrm>
            <a:off x="8731" y="4981"/>
            <a:ext cx="5142" cy="34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73" name="VISIO" r:id="rId3" imgW="3514725" imgH="2009775" progId="">
                    <p:embed/>
                  </p:oleObj>
                </mc:Choice>
                <mc:Fallback>
                  <p:oleObj name="VISIO" r:id="rId3" imgW="3514725" imgH="2009775" progId="">
                    <p:embed/>
                    <p:pic>
                      <p:nvPicPr>
                        <p:cNvPr id="0" name="图片 2867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731" y="4981"/>
                          <a:ext cx="5142" cy="34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73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614" y="4580"/>
              <a:ext cx="2929" cy="1122"/>
            </a:xfrm>
            <a:prstGeom prst="rect">
              <a:avLst/>
            </a:prstGeom>
            <a:noFill/>
            <a:ln w="12700">
              <a:solidFill>
                <a:schemeClr val="bg1">
                  <a:lumMod val="95000"/>
                </a:schemeClr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kumimoji="1" lang="zh-CN" altLang="en-US" sz="1865" b="1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应用进程</a:t>
              </a:r>
              <a:endParaRPr kumimoji="1" lang="zh-CN" altLang="en-US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Rectangle 7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614" y="6421"/>
              <a:ext cx="2929" cy="1734"/>
            </a:xfrm>
            <a:prstGeom prst="rect">
              <a:avLst/>
            </a:prstGeom>
            <a:noFill/>
            <a:ln w="12700">
              <a:solidFill>
                <a:schemeClr val="bg1">
                  <a:lumMod val="95000"/>
                </a:schemeClr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1" hangingPunct="1">
                <a:spcAft>
                  <a:spcPct val="30000"/>
                </a:spcAft>
              </a:pPr>
              <a:endParaRPr kumimoji="1"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spcAft>
                  <a:spcPct val="30000"/>
                </a:spcAft>
              </a:pPr>
              <a:r>
                <a:rPr kumimoji="1" lang="en-US" altLang="zh-CN" sz="1865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TCP</a:t>
              </a:r>
              <a:endParaRPr kumimoji="1"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/>
              <a:endParaRPr kumimoji="1"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Line 75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8543" y="7132"/>
              <a:ext cx="5532" cy="12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Text Box 103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802" y="3975"/>
              <a:ext cx="2519" cy="1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1865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由应用程序</a:t>
              </a:r>
              <a:endParaRPr kumimoji="1" lang="zh-CN" altLang="en-US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/>
              <a:r>
                <a:rPr kumimoji="1" lang="zh-CN" altLang="en-US" sz="1865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控制</a:t>
              </a:r>
              <a:endParaRPr kumimoji="1" lang="zh-CN" altLang="en-US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Text Box 104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0245" y="6222"/>
              <a:ext cx="1923" cy="6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1865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互联网</a:t>
              </a:r>
              <a:endParaRPr kumimoji="1" lang="zh-CN" altLang="en-US" sz="186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Text Box 105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801" y="6527"/>
              <a:ext cx="2521" cy="1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1865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由操作系统</a:t>
              </a:r>
              <a:endParaRPr kumimoji="1" lang="zh-CN" altLang="en-US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/>
              <a:r>
                <a:rPr kumimoji="1" lang="zh-CN" altLang="en-US" sz="1865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控制</a:t>
              </a:r>
              <a:endParaRPr kumimoji="1" lang="zh-CN" altLang="en-US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Text Box 106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293" y="3174"/>
              <a:ext cx="1571" cy="6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1865" b="1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客户</a:t>
              </a:r>
              <a:endParaRPr kumimoji="1" lang="zh-CN" altLang="en-US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Text Box 107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561" y="2528"/>
              <a:ext cx="2020" cy="6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1865" b="1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服务器</a:t>
              </a:r>
              <a:endParaRPr kumimoji="1" lang="zh-CN" altLang="en-US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Rectangle 108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293" y="5618"/>
              <a:ext cx="1571" cy="901"/>
            </a:xfrm>
            <a:prstGeom prst="rect">
              <a:avLst/>
            </a:prstGeom>
            <a:solidFill>
              <a:srgbClr val="EBBE1D"/>
            </a:solidFill>
            <a:ln w="28575">
              <a:solidFill>
                <a:schemeClr val="bg1">
                  <a:lumMod val="95000"/>
                </a:schemeClr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r>
                <a:rPr kumimoji="1" lang="en-US" altLang="zh-CN" sz="1865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socket</a:t>
              </a:r>
              <a:endParaRPr kumimoji="1"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Rectangle 109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4053" y="6453"/>
              <a:ext cx="2932" cy="1734"/>
            </a:xfrm>
            <a:prstGeom prst="rect">
              <a:avLst/>
            </a:prstGeom>
            <a:noFill/>
            <a:ln w="12700" algn="ctr">
              <a:solidFill>
                <a:schemeClr val="bg1">
                  <a:lumMod val="95000"/>
                </a:schemeClr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1" hangingPunct="1">
                <a:spcAft>
                  <a:spcPct val="30000"/>
                </a:spcAft>
              </a:pPr>
              <a:endParaRPr kumimoji="1"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spcAft>
                  <a:spcPct val="30000"/>
                </a:spcAft>
              </a:pPr>
              <a:r>
                <a:rPr kumimoji="1" lang="en-US" altLang="zh-CN" sz="1865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TCP</a:t>
              </a:r>
              <a:endParaRPr kumimoji="1"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eaLnBrk="1" hangingPunct="1">
                <a:spcAft>
                  <a:spcPct val="30000"/>
                </a:spcAft>
              </a:pPr>
              <a:endParaRPr kumimoji="1"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Rectangle 110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4053" y="4580"/>
              <a:ext cx="2932" cy="1122"/>
            </a:xfrm>
            <a:prstGeom prst="rect">
              <a:avLst/>
            </a:prstGeom>
            <a:noFill/>
            <a:ln w="12700" algn="ctr">
              <a:solidFill>
                <a:schemeClr val="bg1">
                  <a:lumMod val="95000"/>
                </a:schemeClr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kumimoji="1" lang="zh-CN" altLang="en-US" sz="1865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应用进程</a:t>
              </a:r>
              <a:endParaRPr kumimoji="1" lang="zh-CN" altLang="en-US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Rectangle 111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4735" y="5618"/>
              <a:ext cx="1568" cy="901"/>
            </a:xfrm>
            <a:prstGeom prst="rect">
              <a:avLst/>
            </a:prstGeom>
            <a:solidFill>
              <a:srgbClr val="EBBE1D"/>
            </a:solidFill>
            <a:ln w="28575" algn="ctr">
              <a:solidFill>
                <a:schemeClr val="bg1">
                  <a:lumMod val="95000"/>
                </a:schemeClr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r>
                <a:rPr kumimoji="1" lang="en-US" altLang="zh-CN" sz="1865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socket</a:t>
              </a:r>
              <a:endParaRPr kumimoji="1"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3" name="Line 139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1960" y="6453"/>
              <a:ext cx="3759" cy="0"/>
            </a:xfrm>
            <a:prstGeom prst="line">
              <a:avLst/>
            </a:prstGeom>
            <a:noFill/>
            <a:ln w="19050">
              <a:solidFill>
                <a:schemeClr val="bg1">
                  <a:lumMod val="95000"/>
                </a:schemeClr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4" name="AutoShape 140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 flipV="1">
              <a:off x="4155" y="6456"/>
              <a:ext cx="785" cy="1869"/>
            </a:xfrm>
            <a:prstGeom prst="upArrow">
              <a:avLst>
                <a:gd name="adj1" fmla="val 50000"/>
                <a:gd name="adj2" fmla="val 64443"/>
              </a:avLst>
            </a:prstGeom>
            <a:noFill/>
            <a:ln w="12700" algn="ctr">
              <a:solidFill>
                <a:schemeClr val="bg1">
                  <a:lumMod val="95000"/>
                </a:schemeClr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5" name="Line 141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1960" y="5601"/>
              <a:ext cx="3603" cy="0"/>
            </a:xfrm>
            <a:prstGeom prst="line">
              <a:avLst/>
            </a:prstGeom>
            <a:noFill/>
            <a:ln w="19050">
              <a:solidFill>
                <a:schemeClr val="bg1">
                  <a:lumMod val="95000"/>
                </a:schemeClr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65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77" name="Picture 197" descr="jisuanji"/>
            <p:cNvPicPr>
              <a:picLocks noChangeAspect="1" noChangeArrowheads="1"/>
            </p:cNvPicPr>
            <p:nvPr>
              <p:custDataLst>
                <p:tags r:id="rId20"/>
              </p:custDataLst>
            </p:nvPr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84" y="3702"/>
              <a:ext cx="1188" cy="11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8" name="图片 77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72" y="3109"/>
              <a:ext cx="1302" cy="182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socket常用API介绍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20000"/>
              </a:lnSpc>
            </a:pPr>
            <a:r>
              <a:rPr lang="en-US" altLang="zh-CN" sz="2000">
                <a:solidFill>
                  <a:srgbClr val="EBBE1D"/>
                </a:solidFill>
                <a:sym typeface="+mn-ea"/>
              </a:rPr>
              <a:t>/*</a:t>
            </a:r>
            <a:r>
              <a:rPr lang="zh-CN" altLang="en-US" sz="2000">
                <a:solidFill>
                  <a:srgbClr val="EBBE1D"/>
                </a:solidFill>
                <a:sym typeface="+mn-ea"/>
              </a:rPr>
              <a:t>创建套接字</a:t>
            </a:r>
            <a:r>
              <a:rPr lang="en-US" altLang="zh-CN" sz="2000">
                <a:solidFill>
                  <a:srgbClr val="EBBE1D"/>
                </a:solidFill>
                <a:sym typeface="+mn-ea"/>
              </a:rPr>
              <a:t>*/</a:t>
            </a:r>
            <a:endParaRPr lang="zh-CN" altLang="en-US" sz="2000">
              <a:solidFill>
                <a:srgbClr val="EBBE1D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000">
                <a:solidFill>
                  <a:schemeClr val="accent1"/>
                </a:solidFill>
                <a:sym typeface="+mn-ea"/>
              </a:rPr>
              <a:t>int </a:t>
            </a:r>
            <a:r>
              <a:rPr lang="zh-CN" altLang="en-US" sz="2000">
                <a:sym typeface="+mn-ea"/>
              </a:rPr>
              <a:t>socket(</a:t>
            </a:r>
            <a:r>
              <a:rPr lang="zh-CN" altLang="en-US" sz="2000">
                <a:solidFill>
                  <a:schemeClr val="accent1"/>
                </a:solidFill>
                <a:sym typeface="+mn-ea"/>
              </a:rPr>
              <a:t>int</a:t>
            </a:r>
            <a:r>
              <a:rPr lang="zh-CN" altLang="en-US" sz="2000">
                <a:sym typeface="+mn-ea"/>
              </a:rPr>
              <a:t> domain</a:t>
            </a:r>
            <a:r>
              <a:rPr lang="zh-CN" altLang="en-US" sz="2000">
                <a:solidFill>
                  <a:schemeClr val="accent5"/>
                </a:solidFill>
                <a:sym typeface="+mn-ea"/>
              </a:rPr>
              <a:t>,</a:t>
            </a:r>
            <a:r>
              <a:rPr lang="zh-CN" altLang="en-US" sz="2000">
                <a:sym typeface="+mn-ea"/>
              </a:rPr>
              <a:t> </a:t>
            </a:r>
            <a:r>
              <a:rPr lang="zh-CN" altLang="en-US" sz="2000">
                <a:solidFill>
                  <a:schemeClr val="accent1"/>
                </a:solidFill>
                <a:sym typeface="+mn-ea"/>
              </a:rPr>
              <a:t>int</a:t>
            </a:r>
            <a:r>
              <a:rPr lang="zh-CN" altLang="en-US" sz="2000">
                <a:sym typeface="+mn-ea"/>
              </a:rPr>
              <a:t> type</a:t>
            </a:r>
            <a:r>
              <a:rPr lang="zh-CN" altLang="en-US" sz="2000">
                <a:solidFill>
                  <a:schemeClr val="accent5"/>
                </a:solidFill>
                <a:sym typeface="+mn-ea"/>
              </a:rPr>
              <a:t>,</a:t>
            </a:r>
            <a:r>
              <a:rPr lang="zh-CN" altLang="en-US" sz="2000">
                <a:solidFill>
                  <a:schemeClr val="accent1"/>
                </a:solidFill>
                <a:sym typeface="+mn-ea"/>
              </a:rPr>
              <a:t> int</a:t>
            </a:r>
            <a:r>
              <a:rPr lang="zh-CN" altLang="en-US" sz="2000">
                <a:sym typeface="+mn-ea"/>
              </a:rPr>
              <a:t> protocol)</a:t>
            </a:r>
            <a:r>
              <a:rPr lang="zh-CN" altLang="en-US" sz="2000">
                <a:solidFill>
                  <a:schemeClr val="accent5"/>
                </a:solidFill>
                <a:sym typeface="+mn-ea"/>
              </a:rPr>
              <a:t>;</a:t>
            </a:r>
            <a:r>
              <a:rPr lang="zh-CN" altLang="en-US" sz="2000">
                <a:sym typeface="+mn-ea"/>
              </a:rPr>
              <a:t>	</a:t>
            </a:r>
            <a:endParaRPr lang="en-US" altLang="zh-CN" sz="2000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000">
                <a:solidFill>
                  <a:srgbClr val="EBBE1D"/>
                </a:solidFill>
                <a:sym typeface="+mn-ea"/>
              </a:rPr>
              <a:t>/*</a:t>
            </a:r>
            <a:r>
              <a:rPr lang="zh-CN" altLang="en-US" sz="2000">
                <a:solidFill>
                  <a:srgbClr val="EBBE1D"/>
                </a:solidFill>
                <a:sym typeface="+mn-ea"/>
              </a:rPr>
              <a:t>绑定通信结构体</a:t>
            </a:r>
            <a:r>
              <a:rPr lang="en-US" altLang="zh-CN" sz="2000">
                <a:solidFill>
                  <a:srgbClr val="EBBE1D"/>
                </a:solidFill>
                <a:sym typeface="+mn-ea"/>
              </a:rPr>
              <a:t>*/</a:t>
            </a:r>
            <a:endParaRPr lang="zh-CN" altLang="en-US" sz="2000">
              <a:solidFill>
                <a:srgbClr val="EBBE1D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000">
                <a:solidFill>
                  <a:schemeClr val="accent1"/>
                </a:solidFill>
                <a:sym typeface="+mn-ea"/>
              </a:rPr>
              <a:t>int</a:t>
            </a:r>
            <a:r>
              <a:rPr lang="zh-CN" altLang="en-US" sz="2000">
                <a:sym typeface="+mn-ea"/>
              </a:rPr>
              <a:t> bind(</a:t>
            </a:r>
            <a:r>
              <a:rPr lang="zh-CN" altLang="en-US" sz="2000">
                <a:solidFill>
                  <a:schemeClr val="accent1"/>
                </a:solidFill>
                <a:sym typeface="+mn-ea"/>
              </a:rPr>
              <a:t>int</a:t>
            </a:r>
            <a:r>
              <a:rPr lang="zh-CN" altLang="en-US" sz="2000">
                <a:sym typeface="+mn-ea"/>
              </a:rPr>
              <a:t> sockfd</a:t>
            </a:r>
            <a:r>
              <a:rPr lang="zh-CN" altLang="en-US" sz="2000">
                <a:solidFill>
                  <a:schemeClr val="accent5"/>
                </a:solidFill>
                <a:sym typeface="+mn-ea"/>
              </a:rPr>
              <a:t>,</a:t>
            </a:r>
            <a:r>
              <a:rPr lang="zh-CN" altLang="en-US" sz="2000">
                <a:sym typeface="+mn-ea"/>
              </a:rPr>
              <a:t> </a:t>
            </a:r>
            <a:r>
              <a:rPr lang="zh-CN" altLang="en-US" sz="2000">
                <a:solidFill>
                  <a:schemeClr val="accent1"/>
                </a:solidFill>
                <a:sym typeface="+mn-ea"/>
              </a:rPr>
              <a:t>const struct</a:t>
            </a:r>
            <a:r>
              <a:rPr lang="zh-CN" altLang="en-US" sz="2000">
                <a:sym typeface="+mn-ea"/>
              </a:rPr>
              <a:t> sockaddr </a:t>
            </a:r>
            <a:r>
              <a:rPr lang="zh-CN" altLang="en-US" sz="2000">
                <a:solidFill>
                  <a:schemeClr val="accent5"/>
                </a:solidFill>
                <a:sym typeface="+mn-ea"/>
              </a:rPr>
              <a:t>*</a:t>
            </a:r>
            <a:r>
              <a:rPr lang="zh-CN" altLang="en-US" sz="2000">
                <a:sym typeface="+mn-ea"/>
              </a:rPr>
              <a:t>addr</a:t>
            </a:r>
            <a:r>
              <a:rPr lang="zh-CN" altLang="en-US" sz="2000">
                <a:solidFill>
                  <a:schemeClr val="accent5"/>
                </a:solidFill>
                <a:sym typeface="+mn-ea"/>
              </a:rPr>
              <a:t>,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socklen_t addrlen)</a:t>
            </a:r>
            <a:r>
              <a:rPr lang="zh-CN" altLang="en-US" sz="2000">
                <a:solidFill>
                  <a:schemeClr val="accent5"/>
                </a:solidFill>
                <a:sym typeface="+mn-ea"/>
              </a:rPr>
              <a:t>;</a:t>
            </a:r>
            <a:endParaRPr lang="en-US" altLang="zh-CN" sz="2000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000">
                <a:solidFill>
                  <a:srgbClr val="EBBE1D"/>
                </a:solidFill>
                <a:sym typeface="+mn-ea"/>
              </a:rPr>
              <a:t>/*</a:t>
            </a:r>
            <a:r>
              <a:rPr lang="zh-CN" altLang="en-US" sz="2000">
                <a:solidFill>
                  <a:srgbClr val="EBBE1D"/>
                </a:solidFill>
                <a:sym typeface="+mn-ea"/>
              </a:rPr>
              <a:t>监听套接字</a:t>
            </a:r>
            <a:r>
              <a:rPr lang="en-US" altLang="zh-CN" sz="2000">
                <a:solidFill>
                  <a:srgbClr val="EBBE1D"/>
                </a:solidFill>
                <a:sym typeface="+mn-ea"/>
              </a:rPr>
              <a:t>*/</a:t>
            </a:r>
            <a:endParaRPr lang="zh-CN" altLang="en-US" sz="2000">
              <a:solidFill>
                <a:srgbClr val="EBBE1D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000">
                <a:solidFill>
                  <a:schemeClr val="accent1"/>
                </a:solidFill>
                <a:sym typeface="+mn-ea"/>
              </a:rPr>
              <a:t>int</a:t>
            </a:r>
            <a:r>
              <a:rPr lang="zh-CN" altLang="en-US" sz="2000">
                <a:sym typeface="+mn-ea"/>
              </a:rPr>
              <a:t> listen(</a:t>
            </a:r>
            <a:r>
              <a:rPr lang="zh-CN" altLang="en-US" sz="2000">
                <a:solidFill>
                  <a:schemeClr val="accent1"/>
                </a:solidFill>
                <a:sym typeface="+mn-ea"/>
              </a:rPr>
              <a:t>int</a:t>
            </a:r>
            <a:r>
              <a:rPr lang="zh-CN" altLang="en-US" sz="2000">
                <a:sym typeface="+mn-ea"/>
              </a:rPr>
              <a:t> sockfd</a:t>
            </a:r>
            <a:r>
              <a:rPr lang="zh-CN" altLang="en-US" sz="2000">
                <a:solidFill>
                  <a:schemeClr val="accent5"/>
                </a:solidFill>
                <a:sym typeface="+mn-ea"/>
              </a:rPr>
              <a:t>,</a:t>
            </a:r>
            <a:r>
              <a:rPr lang="zh-CN" altLang="en-US" sz="2000">
                <a:sym typeface="+mn-ea"/>
              </a:rPr>
              <a:t> </a:t>
            </a:r>
            <a:r>
              <a:rPr lang="zh-CN" altLang="en-US" sz="2000">
                <a:solidFill>
                  <a:schemeClr val="accent1"/>
                </a:solidFill>
                <a:sym typeface="+mn-ea"/>
              </a:rPr>
              <a:t>int</a:t>
            </a:r>
            <a:r>
              <a:rPr lang="zh-CN" altLang="en-US" sz="2000">
                <a:sym typeface="+mn-ea"/>
              </a:rPr>
              <a:t> backlog)</a:t>
            </a:r>
            <a:r>
              <a:rPr lang="zh-CN" altLang="en-US" sz="2000">
                <a:solidFill>
                  <a:schemeClr val="accent5"/>
                </a:solidFill>
                <a:sym typeface="+mn-ea"/>
              </a:rPr>
              <a:t>;</a:t>
            </a:r>
            <a:endParaRPr lang="zh-CN" altLang="en-US" sz="2000">
              <a:solidFill>
                <a:schemeClr val="accent5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socket常用API介绍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20000"/>
              </a:lnSpc>
            </a:pPr>
            <a:r>
              <a:rPr lang="en-US" altLang="zh-CN" sz="2000">
                <a:solidFill>
                  <a:srgbClr val="FFC000"/>
                </a:solidFill>
                <a:sym typeface="+mn-ea"/>
              </a:rPr>
              <a:t>/*</a:t>
            </a:r>
            <a:r>
              <a:rPr lang="zh-CN" altLang="en-US" sz="2000">
                <a:solidFill>
                  <a:srgbClr val="FFC000"/>
                </a:solidFill>
                <a:sym typeface="+mn-ea"/>
              </a:rPr>
              <a:t>处理客户端发起的连接，生成新的套接字</a:t>
            </a:r>
            <a:r>
              <a:rPr lang="en-US" altLang="zh-CN" sz="2000">
                <a:solidFill>
                  <a:srgbClr val="FFC000"/>
                </a:solidFill>
                <a:sym typeface="+mn-ea"/>
              </a:rPr>
              <a:t>*/</a:t>
            </a:r>
            <a:endParaRPr lang="zh-CN" altLang="en-US" sz="2000">
              <a:solidFill>
                <a:srgbClr val="FFC0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000">
                <a:solidFill>
                  <a:schemeClr val="accent1"/>
                </a:solidFill>
                <a:sym typeface="+mn-ea"/>
              </a:rPr>
              <a:t>int</a:t>
            </a:r>
            <a:r>
              <a:rPr lang="zh-CN" altLang="en-US" sz="2000">
                <a:sym typeface="+mn-ea"/>
              </a:rPr>
              <a:t> accept(</a:t>
            </a:r>
            <a:r>
              <a:rPr lang="zh-CN" altLang="en-US" sz="2000">
                <a:solidFill>
                  <a:schemeClr val="accent1"/>
                </a:solidFill>
                <a:sym typeface="+mn-ea"/>
              </a:rPr>
              <a:t>int</a:t>
            </a:r>
            <a:r>
              <a:rPr lang="zh-CN" altLang="en-US" sz="2000">
                <a:sym typeface="+mn-ea"/>
              </a:rPr>
              <a:t> sockfd</a:t>
            </a:r>
            <a:r>
              <a:rPr lang="zh-CN" altLang="en-US" sz="2000">
                <a:solidFill>
                  <a:schemeClr val="accent5"/>
                </a:solidFill>
                <a:sym typeface="+mn-ea"/>
              </a:rPr>
              <a:t>,</a:t>
            </a:r>
            <a:r>
              <a:rPr lang="zh-CN" altLang="en-US" sz="2000">
                <a:sym typeface="+mn-ea"/>
              </a:rPr>
              <a:t> </a:t>
            </a:r>
            <a:r>
              <a:rPr lang="zh-CN" altLang="en-US" sz="2000">
                <a:solidFill>
                  <a:schemeClr val="accent1"/>
                </a:solidFill>
                <a:sym typeface="+mn-ea"/>
              </a:rPr>
              <a:t>struct </a:t>
            </a:r>
            <a:r>
              <a:rPr lang="zh-CN" altLang="en-US" sz="2000">
                <a:sym typeface="+mn-ea"/>
              </a:rPr>
              <a:t>sockaddr </a:t>
            </a:r>
            <a:r>
              <a:rPr lang="zh-CN" altLang="en-US" sz="2000">
                <a:solidFill>
                  <a:schemeClr val="accent5"/>
                </a:solidFill>
                <a:sym typeface="+mn-ea"/>
              </a:rPr>
              <a:t>*</a:t>
            </a:r>
            <a:r>
              <a:rPr lang="zh-CN" altLang="en-US" sz="2000">
                <a:sym typeface="+mn-ea"/>
              </a:rPr>
              <a:t>addr</a:t>
            </a:r>
            <a:r>
              <a:rPr lang="zh-CN" altLang="en-US" sz="2000">
                <a:solidFill>
                  <a:schemeClr val="accent5"/>
                </a:solidFill>
                <a:sym typeface="+mn-ea"/>
              </a:rPr>
              <a:t>,</a:t>
            </a:r>
            <a:r>
              <a:rPr lang="zh-CN" altLang="en-US" sz="2000">
                <a:sym typeface="+mn-ea"/>
              </a:rPr>
              <a:t> socklen_t </a:t>
            </a:r>
            <a:r>
              <a:rPr lang="zh-CN" altLang="en-US" sz="2000">
                <a:solidFill>
                  <a:schemeClr val="accent5"/>
                </a:solidFill>
                <a:sym typeface="+mn-ea"/>
              </a:rPr>
              <a:t>*</a:t>
            </a:r>
            <a:r>
              <a:rPr lang="zh-CN" altLang="en-US" sz="2000">
                <a:sym typeface="+mn-ea"/>
              </a:rPr>
              <a:t>addrlen)</a:t>
            </a:r>
            <a:r>
              <a:rPr lang="zh-CN" altLang="en-US" sz="2000">
                <a:solidFill>
                  <a:schemeClr val="accent5"/>
                </a:solidFill>
                <a:sym typeface="+mn-ea"/>
              </a:rPr>
              <a:t>;</a:t>
            </a:r>
            <a:endParaRPr lang="en-US" altLang="zh-CN" sz="2000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000">
                <a:solidFill>
                  <a:srgbClr val="FFC000"/>
                </a:solidFill>
                <a:sym typeface="+mn-ea"/>
              </a:rPr>
              <a:t>/*</a:t>
            </a:r>
            <a:r>
              <a:rPr lang="zh-CN" altLang="en-US" sz="2000">
                <a:solidFill>
                  <a:srgbClr val="FFC000"/>
                </a:solidFill>
                <a:sym typeface="+mn-ea"/>
              </a:rPr>
              <a:t>向服务器发起连接请求</a:t>
            </a:r>
            <a:r>
              <a:rPr lang="en-US" altLang="zh-CN" sz="2000">
                <a:solidFill>
                  <a:srgbClr val="FFC000"/>
                </a:solidFill>
                <a:sym typeface="+mn-ea"/>
              </a:rPr>
              <a:t>*/</a:t>
            </a:r>
            <a:endParaRPr lang="en-US" altLang="zh-CN" sz="2000">
              <a:solidFill>
                <a:srgbClr val="FFC000"/>
              </a:solidFill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000">
                <a:solidFill>
                  <a:schemeClr val="accent1"/>
                </a:solidFill>
                <a:sym typeface="+mn-ea"/>
              </a:rPr>
              <a:t>int</a:t>
            </a:r>
            <a:r>
              <a:rPr lang="zh-CN" altLang="en-US" sz="2000">
                <a:sym typeface="+mn-ea"/>
              </a:rPr>
              <a:t> connect(</a:t>
            </a:r>
            <a:r>
              <a:rPr lang="zh-CN" altLang="en-US" sz="2000">
                <a:solidFill>
                  <a:schemeClr val="accent1"/>
                </a:solidFill>
                <a:sym typeface="+mn-ea"/>
              </a:rPr>
              <a:t>int</a:t>
            </a:r>
            <a:r>
              <a:rPr lang="zh-CN" altLang="en-US" sz="2000">
                <a:sym typeface="+mn-ea"/>
              </a:rPr>
              <a:t> sockfd</a:t>
            </a:r>
            <a:r>
              <a:rPr lang="zh-CN" altLang="en-US" sz="2000">
                <a:solidFill>
                  <a:schemeClr val="accent5"/>
                </a:solidFill>
                <a:sym typeface="+mn-ea"/>
              </a:rPr>
              <a:t>, </a:t>
            </a:r>
            <a:r>
              <a:rPr lang="zh-CN" altLang="en-US" sz="2000">
                <a:solidFill>
                  <a:schemeClr val="accent1"/>
                </a:solidFill>
                <a:sym typeface="+mn-ea"/>
              </a:rPr>
              <a:t>const struct</a:t>
            </a:r>
            <a:r>
              <a:rPr lang="zh-CN" altLang="en-US" sz="2000">
                <a:sym typeface="+mn-ea"/>
              </a:rPr>
              <a:t> sockaddr </a:t>
            </a:r>
            <a:r>
              <a:rPr lang="zh-CN" altLang="en-US" sz="2000">
                <a:solidFill>
                  <a:schemeClr val="accent5"/>
                </a:solidFill>
                <a:sym typeface="+mn-ea"/>
              </a:rPr>
              <a:t>*</a:t>
            </a:r>
            <a:r>
              <a:rPr lang="zh-CN" altLang="en-US" sz="2000">
                <a:sym typeface="+mn-ea"/>
              </a:rPr>
              <a:t>addr</a:t>
            </a:r>
            <a:r>
              <a:rPr lang="zh-CN" altLang="en-US" sz="2000">
                <a:solidFill>
                  <a:schemeClr val="accent5"/>
                </a:solidFill>
                <a:sym typeface="+mn-ea"/>
              </a:rPr>
              <a:t>,</a:t>
            </a:r>
            <a:r>
              <a:rPr lang="en-US" altLang="zh-CN" sz="2000">
                <a:sym typeface="+mn-ea"/>
              </a:rPr>
              <a:t>  </a:t>
            </a:r>
            <a:r>
              <a:rPr lang="zh-CN" altLang="en-US" sz="2000">
                <a:sym typeface="+mn-ea"/>
              </a:rPr>
              <a:t>socklen_t addrlen)</a:t>
            </a:r>
            <a:r>
              <a:rPr lang="zh-CN" altLang="en-US" sz="2000">
                <a:solidFill>
                  <a:schemeClr val="accent5"/>
                </a:solidFill>
                <a:sym typeface="+mn-ea"/>
              </a:rPr>
              <a:t>;</a:t>
            </a:r>
            <a:endParaRPr lang="zh-CN" altLang="en-US" sz="2000">
              <a:solidFill>
                <a:schemeClr val="accent5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socket</a:t>
            </a:r>
            <a:r>
              <a:rPr lang="zh-CN" altLang="en-US"/>
              <a:t>套接字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95730" y="2804160"/>
            <a:ext cx="9958070" cy="3373120"/>
          </a:xfrm>
        </p:spPr>
        <p:txBody>
          <a:bodyPr/>
          <a:p>
            <a:pPr lvl="0"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altLang="zh-CN" sz="2800"/>
              <a:t>IP</a:t>
            </a:r>
            <a:r>
              <a:rPr lang="zh-CN" altLang="en-US" sz="2800"/>
              <a:t>地址：标识计算机</a:t>
            </a:r>
            <a:endParaRPr lang="zh-CN" altLang="en-US" sz="2800"/>
          </a:p>
          <a:p>
            <a:pPr lvl="0"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zh-CN" altLang="en-US" sz="2800"/>
              <a:t>端口号：标识计算机当中的进程</a:t>
            </a:r>
            <a:endParaRPr lang="zh-CN" altLang="en-US" sz="2800"/>
          </a:p>
          <a:p>
            <a:pPr lvl="0"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zh-CN" altLang="en-US" sz="2800"/>
              <a:t>协议：指定数据传输的方式</a:t>
            </a:r>
            <a:endParaRPr lang="zh-CN" altLang="en-US" sz="2800"/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65200" y="1960880"/>
            <a:ext cx="10515600" cy="5727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1768E4"/>
              </a:buClr>
              <a:buFont typeface="Arial" panose="020B0604020202020204" pitchFamily="34" charset="0"/>
              <a:buChar char="▌"/>
            </a:pPr>
            <a:r>
              <a:rPr lang="en-US" altLang="zh-CN"/>
              <a:t>  </a:t>
            </a:r>
            <a:r>
              <a:rPr lang="zh-CN" altLang="en-US"/>
              <a:t>三元组【</a:t>
            </a:r>
            <a:r>
              <a:rPr lang="en-US" altLang="zh-CN"/>
              <a:t>IP</a:t>
            </a:r>
            <a:r>
              <a:rPr lang="zh-CN" altLang="en-US"/>
              <a:t>地址，端口，协议】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socket</a:t>
            </a:r>
            <a:r>
              <a:rPr lang="zh-CN" altLang="en-US"/>
              <a:t>套接字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95730" y="2778760"/>
            <a:ext cx="9958070" cy="3398520"/>
          </a:xfrm>
        </p:spPr>
        <p:txBody>
          <a:bodyPr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400" kern="0">
                <a:solidFill>
                  <a:schemeClr val="bg1">
                    <a:lumMod val="95000"/>
                  </a:schemeClr>
                </a:solidFill>
                <a:cs typeface="微软雅黑" panose="020B0503020204020204" charset="-122"/>
                <a:sym typeface="Times New Roman" panose="02020603050405020304"/>
              </a:rPr>
              <a:t>//</a:t>
            </a:r>
            <a:r>
              <a:rPr lang="zh-CN" altLang="en-US" sz="2400" kern="0">
                <a:solidFill>
                  <a:schemeClr val="bg1">
                    <a:lumMod val="95000"/>
                  </a:schemeClr>
                </a:solidFill>
                <a:cs typeface="微软雅黑" panose="020B0503020204020204" charset="-122"/>
                <a:sym typeface="Times New Roman" panose="02020603050405020304"/>
              </a:rPr>
              <a:t>通用地址族结构体</a:t>
            </a:r>
            <a:endParaRPr lang="en-US" altLang="zh-CN" sz="2400" kern="0">
              <a:solidFill>
                <a:schemeClr val="bg1">
                  <a:lumMod val="95000"/>
                </a:schemeClr>
              </a:solidFill>
              <a:cs typeface="微软雅黑" panose="020B0503020204020204" charset="-122"/>
              <a:sym typeface="Times New Roman" panose="02020603050405020304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altLang="zh-CN" sz="2400" kern="0">
              <a:solidFill>
                <a:srgbClr val="1CDEC9"/>
              </a:solidFill>
              <a:cs typeface="微软雅黑" panose="020B0503020204020204" charset="-122"/>
              <a:sym typeface="Times New Roman" panose="02020603050405020304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400" kern="0">
                <a:solidFill>
                  <a:srgbClr val="1CDEC9"/>
                </a:solidFill>
                <a:cs typeface="微软雅黑" panose="020B0503020204020204" charset="-122"/>
                <a:sym typeface="Times New Roman" panose="02020603050405020304"/>
              </a:rPr>
              <a:t>struct</a:t>
            </a:r>
            <a:r>
              <a:rPr lang="en-US" altLang="zh-CN" sz="24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</a:t>
            </a:r>
            <a:r>
              <a:rPr lang="en-US" altLang="zh-CN" sz="2400" kern="0">
                <a:solidFill>
                  <a:srgbClr val="D65BAD"/>
                </a:solidFill>
                <a:cs typeface="微软雅黑" panose="020B0503020204020204" charset="-122"/>
                <a:sym typeface="Times New Roman" panose="02020603050405020304"/>
              </a:rPr>
              <a:t>sockaddr</a:t>
            </a:r>
            <a:r>
              <a:rPr lang="en-US" altLang="zh-CN" sz="24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</a:t>
            </a:r>
            <a:r>
              <a:rPr lang="en-US" altLang="zh-CN" sz="24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{</a:t>
            </a:r>
            <a:endParaRPr lang="en-US" altLang="zh-CN" sz="2400" kern="0" spc="0">
              <a:solidFill>
                <a:srgbClr val="FAFB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4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   </a:t>
            </a:r>
            <a:r>
              <a:rPr lang="en-US" altLang="zh-CN" sz="2400" kern="0">
                <a:solidFill>
                  <a:srgbClr val="D65BAD"/>
                </a:solidFill>
                <a:cs typeface="微软雅黑" panose="020B0503020204020204" charset="-122"/>
                <a:sym typeface="Times New Roman" panose="02020603050405020304"/>
              </a:rPr>
              <a:t>sa_family_t</a:t>
            </a:r>
            <a:r>
              <a:rPr lang="en-US" altLang="zh-CN" sz="24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sa_family</a:t>
            </a:r>
            <a:r>
              <a:rPr lang="en-US" altLang="zh-CN" sz="24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;</a:t>
            </a:r>
            <a:endParaRPr lang="en-US" altLang="zh-CN" sz="2400" kern="0" spc="0">
              <a:solidFill>
                <a:srgbClr val="FAFB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4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   </a:t>
            </a:r>
            <a:r>
              <a:rPr lang="en-US" altLang="zh-CN" sz="2400" kern="0">
                <a:solidFill>
                  <a:srgbClr val="1CDEC9"/>
                </a:solidFill>
                <a:cs typeface="微软雅黑" panose="020B0503020204020204" charset="-122"/>
                <a:sym typeface="Times New Roman" panose="02020603050405020304"/>
              </a:rPr>
              <a:t>char</a:t>
            </a:r>
            <a:r>
              <a:rPr lang="en-US" altLang="zh-CN" sz="24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     sa_data</a:t>
            </a:r>
            <a:r>
              <a:rPr lang="en-US" altLang="zh-CN" sz="24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[</a:t>
            </a:r>
            <a:r>
              <a:rPr lang="en-US" altLang="zh-CN" sz="2400" kern="0">
                <a:solidFill>
                  <a:srgbClr val="BD93F9"/>
                </a:solidFill>
                <a:cs typeface="微软雅黑" panose="020B0503020204020204" charset="-122"/>
                <a:sym typeface="Times New Roman" panose="02020603050405020304"/>
              </a:rPr>
              <a:t>14</a:t>
            </a:r>
            <a:r>
              <a:rPr lang="en-US" altLang="zh-CN" sz="24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];</a:t>
            </a:r>
            <a:endParaRPr lang="en-US" altLang="zh-CN" sz="2400" kern="0">
              <a:solidFill>
                <a:srgbClr val="8BE9FD"/>
              </a:solidFill>
              <a:cs typeface="微软雅黑" panose="020B0503020204020204" charset="-122"/>
              <a:sym typeface="Times New Roman" panose="02020603050405020304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4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}</a:t>
            </a:r>
            <a:endParaRPr lang="zh-CN" altLang="en-US" sz="2800"/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65200" y="1948815"/>
            <a:ext cx="10515600" cy="5727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1768E4"/>
              </a:buClr>
              <a:buFont typeface="Arial" panose="020B0604020202020204" pitchFamily="34" charset="0"/>
              <a:buChar char="▌"/>
            </a:pPr>
            <a:r>
              <a:rPr lang="en-US" altLang="zh-CN"/>
              <a:t>  </a:t>
            </a:r>
            <a:r>
              <a:rPr lang="zh-CN"/>
              <a:t>地址族结构体</a:t>
            </a:r>
            <a:endParaRPr 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socket</a:t>
            </a:r>
            <a:r>
              <a:rPr lang="zh-CN" altLang="en-US"/>
              <a:t>套接字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95730" y="2778760"/>
            <a:ext cx="9958070" cy="3398520"/>
          </a:xfrm>
        </p:spPr>
        <p:txBody>
          <a:bodyPr>
            <a:norm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kern="0">
                <a:solidFill>
                  <a:srgbClr val="1CDEC9"/>
                </a:solidFill>
                <a:cs typeface="微软雅黑" panose="020B0503020204020204" charset="-122"/>
                <a:sym typeface="Times New Roman" panose="02020603050405020304"/>
              </a:rPr>
              <a:t>struct</a:t>
            </a: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</a:t>
            </a:r>
            <a:r>
              <a:rPr lang="en-US" altLang="zh-CN" sz="2000" kern="0">
                <a:solidFill>
                  <a:srgbClr val="D65BAD"/>
                </a:solidFill>
                <a:cs typeface="微软雅黑" panose="020B0503020204020204" charset="-122"/>
                <a:sym typeface="Times New Roman" panose="02020603050405020304"/>
              </a:rPr>
              <a:t>sockaddr_in</a:t>
            </a: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</a:t>
            </a:r>
            <a:r>
              <a:rPr lang="en-US" altLang="zh-CN" sz="20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{</a:t>
            </a:r>
            <a:endParaRPr lang="en-US" altLang="zh-CN" sz="2000" kern="0" spc="0">
              <a:solidFill>
                <a:srgbClr val="FAFB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   </a:t>
            </a:r>
            <a:r>
              <a:rPr lang="en-US" altLang="zh-CN" sz="2000" kern="0">
                <a:solidFill>
                  <a:srgbClr val="D65BAD"/>
                </a:solidFill>
                <a:cs typeface="微软雅黑" panose="020B0503020204020204" charset="-122"/>
                <a:sym typeface="Times New Roman" panose="02020603050405020304"/>
              </a:rPr>
              <a:t>sa_family_t</a:t>
            </a: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sin_family</a:t>
            </a:r>
            <a:r>
              <a:rPr lang="en-US" altLang="zh-CN" sz="20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;</a:t>
            </a:r>
            <a:endParaRPr lang="en-US" altLang="zh-CN" sz="2000" kern="0" spc="0">
              <a:solidFill>
                <a:srgbClr val="FAFB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   </a:t>
            </a:r>
            <a:r>
              <a:rPr lang="en-US" altLang="zh-CN" sz="2000" kern="0">
                <a:solidFill>
                  <a:srgbClr val="D65BAD"/>
                </a:solidFill>
                <a:cs typeface="微软雅黑" panose="020B0503020204020204" charset="-122"/>
                <a:sym typeface="Times New Roman" panose="02020603050405020304"/>
              </a:rPr>
              <a:t>in_port_t</a:t>
            </a: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sin_port</a:t>
            </a:r>
            <a:r>
              <a:rPr lang="en-US" altLang="zh-CN" sz="20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;</a:t>
            </a:r>
            <a:endParaRPr lang="en-US" altLang="zh-CN" sz="2000" kern="0">
              <a:solidFill>
                <a:srgbClr val="8BE9FD"/>
              </a:solidFill>
              <a:cs typeface="微软雅黑" panose="020B0503020204020204" charset="-122"/>
              <a:sym typeface="Times New Roman" panose="02020603050405020304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   </a:t>
            </a:r>
            <a:r>
              <a:rPr lang="en-US" altLang="zh-CN" sz="2000" kern="0">
                <a:solidFill>
                  <a:srgbClr val="1CDEC9"/>
                </a:solidFill>
                <a:cs typeface="微软雅黑" panose="020B0503020204020204" charset="-122"/>
                <a:sym typeface="Times New Roman" panose="02020603050405020304"/>
              </a:rPr>
              <a:t>struct</a:t>
            </a: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</a:t>
            </a:r>
            <a:r>
              <a:rPr lang="en-US" altLang="zh-CN" sz="2000" kern="0">
                <a:solidFill>
                  <a:srgbClr val="D65BAD"/>
                </a:solidFill>
                <a:cs typeface="微软雅黑" panose="020B0503020204020204" charset="-122"/>
                <a:sym typeface="Times New Roman" panose="02020603050405020304"/>
              </a:rPr>
              <a:t>in_addr</a:t>
            </a: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sin_addr</a:t>
            </a:r>
            <a:r>
              <a:rPr lang="en-US" altLang="zh-CN" sz="20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;</a:t>
            </a:r>
            <a:endParaRPr lang="en-US" altLang="zh-CN" sz="2000" kern="0">
              <a:solidFill>
                <a:srgbClr val="8BE9FD"/>
              </a:solidFill>
              <a:cs typeface="微软雅黑" panose="020B0503020204020204" charset="-122"/>
              <a:sym typeface="Times New Roman" panose="02020603050405020304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}</a:t>
            </a:r>
            <a:r>
              <a:rPr lang="en-US" altLang="zh-CN" sz="20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;</a:t>
            </a:r>
            <a:endParaRPr lang="en-US" altLang="zh-CN" sz="2000" kern="0">
              <a:solidFill>
                <a:srgbClr val="8BE9FD"/>
              </a:solidFill>
              <a:cs typeface="微软雅黑" panose="020B0503020204020204" charset="-122"/>
              <a:sym typeface="Times New Roman" panose="02020603050405020304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kern="0">
                <a:solidFill>
                  <a:srgbClr val="1CDEC9"/>
                </a:solidFill>
                <a:cs typeface="微软雅黑" panose="020B0503020204020204" charset="-122"/>
                <a:sym typeface="Times New Roman" panose="02020603050405020304"/>
              </a:rPr>
              <a:t>struct</a:t>
            </a: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</a:t>
            </a:r>
            <a:r>
              <a:rPr lang="en-US" altLang="zh-CN" sz="2000" kern="0">
                <a:solidFill>
                  <a:srgbClr val="D65BAD"/>
                </a:solidFill>
                <a:cs typeface="微软雅黑" panose="020B0503020204020204" charset="-122"/>
                <a:sym typeface="Times New Roman" panose="02020603050405020304"/>
              </a:rPr>
              <a:t>sockaddr</a:t>
            </a: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</a:t>
            </a:r>
            <a:r>
              <a:rPr lang="en-US" altLang="zh-CN" sz="20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{</a:t>
            </a:r>
            <a:endParaRPr lang="en-US" altLang="zh-CN" sz="2000" kern="0" spc="0">
              <a:solidFill>
                <a:srgbClr val="FAFB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   </a:t>
            </a:r>
            <a:r>
              <a:rPr lang="en-US" altLang="zh-CN" sz="2000" kern="0">
                <a:solidFill>
                  <a:srgbClr val="D65BAD"/>
                </a:solidFill>
                <a:cs typeface="微软雅黑" panose="020B0503020204020204" charset="-122"/>
                <a:sym typeface="Times New Roman" panose="02020603050405020304"/>
              </a:rPr>
              <a:t>uint32_t</a:t>
            </a: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s_addr</a:t>
            </a:r>
            <a:r>
              <a:rPr lang="en-US" altLang="zh-CN" sz="20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;</a:t>
            </a:r>
            <a:endParaRPr lang="en-US" altLang="zh-CN" sz="2000" kern="0" spc="0">
              <a:solidFill>
                <a:srgbClr val="FAFB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};</a:t>
            </a:r>
            <a:endParaRPr lang="zh-CN" altLang="en-US" sz="2000"/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65200" y="1948815"/>
            <a:ext cx="10515600" cy="5727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1768E4"/>
              </a:buClr>
              <a:buFont typeface="Arial" panose="020B0604020202020204" pitchFamily="34" charset="0"/>
              <a:buChar char="▌"/>
            </a:pPr>
            <a:r>
              <a:rPr lang="en-US" altLang="zh-CN"/>
              <a:t>  </a:t>
            </a:r>
            <a:r>
              <a:rPr lang="zh-CN"/>
              <a:t>地址族结构体</a:t>
            </a:r>
            <a:endParaRPr 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socket</a:t>
            </a:r>
            <a:r>
              <a:rPr lang="zh-CN" altLang="en-US"/>
              <a:t>套接字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95730" y="2778760"/>
            <a:ext cx="9958070" cy="3398520"/>
          </a:xfrm>
        </p:spPr>
        <p:txBody>
          <a:bodyPr>
            <a:normAutofit lnSpcReduction="10000"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kern="0">
                <a:solidFill>
                  <a:srgbClr val="1CDEC9"/>
                </a:solidFill>
                <a:cs typeface="微软雅黑" panose="020B0503020204020204" charset="-122"/>
                <a:sym typeface="Times New Roman" panose="02020603050405020304"/>
              </a:rPr>
              <a:t>struct</a:t>
            </a: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</a:t>
            </a:r>
            <a:r>
              <a:rPr lang="en-US" altLang="zh-CN" sz="2000" kern="0">
                <a:solidFill>
                  <a:srgbClr val="D65BAD"/>
                </a:solidFill>
                <a:cs typeface="微软雅黑" panose="020B0503020204020204" charset="-122"/>
                <a:sym typeface="Times New Roman" panose="02020603050405020304"/>
              </a:rPr>
              <a:t>sockaddr_in6</a:t>
            </a: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</a:t>
            </a:r>
            <a:r>
              <a:rPr lang="en-US" altLang="zh-CN" sz="20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{</a:t>
            </a:r>
            <a:endParaRPr lang="en-US" altLang="zh-CN" sz="2000" kern="0" spc="0">
              <a:solidFill>
                <a:srgbClr val="FAFB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   </a:t>
            </a:r>
            <a:r>
              <a:rPr lang="en-US" altLang="zh-CN" sz="2000" kern="0">
                <a:solidFill>
                  <a:srgbClr val="D65BAD"/>
                </a:solidFill>
                <a:cs typeface="微软雅黑" panose="020B0503020204020204" charset="-122"/>
                <a:sym typeface="Times New Roman" panose="02020603050405020304"/>
              </a:rPr>
              <a:t>sa_family_t</a:t>
            </a: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sin6_family</a:t>
            </a:r>
            <a:r>
              <a:rPr lang="en-US" altLang="zh-CN" sz="20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;</a:t>
            </a:r>
            <a:endParaRPr lang="en-US" altLang="zh-CN" sz="2000" kern="0" spc="0">
              <a:solidFill>
                <a:srgbClr val="FAFB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   </a:t>
            </a:r>
            <a:r>
              <a:rPr lang="en-US" altLang="zh-CN" sz="2000" kern="0">
                <a:solidFill>
                  <a:srgbClr val="D65BAD"/>
                </a:solidFill>
                <a:cs typeface="微软雅黑" panose="020B0503020204020204" charset="-122"/>
                <a:sym typeface="Times New Roman" panose="02020603050405020304"/>
              </a:rPr>
              <a:t>in_port_t</a:t>
            </a: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sin6_port</a:t>
            </a:r>
            <a:r>
              <a:rPr lang="en-US" altLang="zh-CN" sz="20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;</a:t>
            </a:r>
            <a:endParaRPr lang="en-US" altLang="zh-CN" sz="2000" kern="0">
              <a:solidFill>
                <a:srgbClr val="8BE9FD"/>
              </a:solidFill>
              <a:cs typeface="微软雅黑" panose="020B0503020204020204" charset="-122"/>
              <a:sym typeface="Times New Roman" panose="02020603050405020304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    </a:t>
            </a:r>
            <a:r>
              <a:rPr lang="en-US" altLang="zh-CN" sz="2000" kern="0">
                <a:solidFill>
                  <a:srgbClr val="D65BAD"/>
                </a:solidFill>
                <a:cs typeface="微软雅黑" panose="020B0503020204020204" charset="-122"/>
                <a:sym typeface="Times New Roman" panose="02020603050405020304"/>
              </a:rPr>
              <a:t>uint32_t</a:t>
            </a: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sin6_flowinfo</a:t>
            </a:r>
            <a:r>
              <a:rPr lang="en-US" altLang="zh-CN" sz="20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;</a:t>
            </a:r>
            <a:endParaRPr lang="en-US" altLang="zh-CN" sz="2000" kern="0">
              <a:solidFill>
                <a:srgbClr val="8BE9FD"/>
              </a:solidFill>
              <a:cs typeface="微软雅黑" panose="020B0503020204020204" charset="-122"/>
              <a:sym typeface="Times New Roman" panose="02020603050405020304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   </a:t>
            </a:r>
            <a:r>
              <a:rPr lang="en-US" altLang="zh-CN" sz="2000" kern="0">
                <a:solidFill>
                  <a:srgbClr val="1CDEC9"/>
                </a:solidFill>
                <a:cs typeface="微软雅黑" panose="020B0503020204020204" charset="-122"/>
                <a:sym typeface="Times New Roman" panose="02020603050405020304"/>
              </a:rPr>
              <a:t>struct</a:t>
            </a: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</a:t>
            </a:r>
            <a:r>
              <a:rPr lang="en-US" altLang="zh-CN" sz="2000" kern="0">
                <a:solidFill>
                  <a:srgbClr val="D65BAD"/>
                </a:solidFill>
                <a:cs typeface="微软雅黑" panose="020B0503020204020204" charset="-122"/>
                <a:sym typeface="Times New Roman" panose="02020603050405020304"/>
              </a:rPr>
              <a:t>in_addr</a:t>
            </a: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sin_addr</a:t>
            </a:r>
            <a:r>
              <a:rPr lang="en-US" altLang="zh-CN" sz="20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;</a:t>
            </a:r>
            <a:endParaRPr lang="en-US" altLang="zh-CN" sz="2000" kern="0">
              <a:solidFill>
                <a:srgbClr val="8BE9FD"/>
              </a:solidFill>
              <a:cs typeface="微软雅黑" panose="020B0503020204020204" charset="-122"/>
              <a:sym typeface="Times New Roman" panose="02020603050405020304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   </a:t>
            </a:r>
            <a:r>
              <a:rPr lang="en-US" altLang="zh-CN" sz="2000" kern="0">
                <a:solidFill>
                  <a:srgbClr val="D65BAD"/>
                </a:solidFill>
                <a:cs typeface="微软雅黑" panose="020B0503020204020204" charset="-122"/>
                <a:sym typeface="Times New Roman" panose="02020603050405020304"/>
              </a:rPr>
              <a:t>uint32_t</a:t>
            </a: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sin6_scope_id</a:t>
            </a:r>
            <a:r>
              <a:rPr lang="en-US" altLang="zh-CN" sz="20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;</a:t>
            </a:r>
            <a:endParaRPr lang="en-US" altLang="zh-CN" sz="2000" kern="0">
              <a:solidFill>
                <a:srgbClr val="8BE9FD"/>
              </a:solidFill>
              <a:cs typeface="微软雅黑" panose="020B0503020204020204" charset="-122"/>
              <a:sym typeface="Times New Roman" panose="02020603050405020304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}</a:t>
            </a:r>
            <a:r>
              <a:rPr lang="en-US" altLang="zh-CN" sz="20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;</a:t>
            </a:r>
            <a:endParaRPr lang="en-US" altLang="zh-CN" sz="2000" kern="0">
              <a:solidFill>
                <a:srgbClr val="8BE9FD"/>
              </a:solidFill>
              <a:cs typeface="微软雅黑" panose="020B0503020204020204" charset="-122"/>
              <a:sym typeface="Times New Roman" panose="02020603050405020304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kern="0">
                <a:solidFill>
                  <a:srgbClr val="1CDEC9"/>
                </a:solidFill>
                <a:cs typeface="微软雅黑" panose="020B0503020204020204" charset="-122"/>
                <a:sym typeface="Times New Roman" panose="02020603050405020304"/>
              </a:rPr>
              <a:t>struct</a:t>
            </a: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</a:t>
            </a:r>
            <a:r>
              <a:rPr lang="en-US" altLang="zh-CN" sz="2000" kern="0">
                <a:solidFill>
                  <a:srgbClr val="D65BAD"/>
                </a:solidFill>
                <a:cs typeface="微软雅黑" panose="020B0503020204020204" charset="-122"/>
                <a:sym typeface="Times New Roman" panose="02020603050405020304"/>
              </a:rPr>
              <a:t>sockaddr</a:t>
            </a: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</a:t>
            </a:r>
            <a:r>
              <a:rPr lang="en-US" altLang="zh-CN" sz="20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{</a:t>
            </a:r>
            <a:endParaRPr lang="en-US" altLang="zh-CN" sz="2000" kern="0" spc="0">
              <a:solidFill>
                <a:srgbClr val="FAFB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   </a:t>
            </a:r>
            <a:r>
              <a:rPr lang="en-US" altLang="zh-CN" sz="2000" kern="0">
                <a:solidFill>
                  <a:srgbClr val="1CDEC9"/>
                </a:solidFill>
                <a:cs typeface="微软雅黑" panose="020B0503020204020204" charset="-122"/>
                <a:sym typeface="Times New Roman" panose="02020603050405020304"/>
              </a:rPr>
              <a:t>unsigned char</a:t>
            </a: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 s6_addr[</a:t>
            </a:r>
            <a:r>
              <a:rPr lang="en-US" altLang="zh-CN" sz="2000" kern="0">
                <a:solidFill>
                  <a:schemeClr val="accent4"/>
                </a:solidFill>
                <a:cs typeface="微软雅黑" panose="020B0503020204020204" charset="-122"/>
                <a:sym typeface="Times New Roman" panose="02020603050405020304"/>
              </a:rPr>
              <a:t>16</a:t>
            </a:r>
            <a:r>
              <a:rPr lang="en-US" altLang="zh-CN" sz="2000" kern="0">
                <a:solidFill>
                  <a:srgbClr val="FAFBFB"/>
                </a:solidFill>
                <a:cs typeface="微软雅黑" panose="020B0503020204020204" charset="-122"/>
                <a:sym typeface="Times New Roman" panose="02020603050405020304"/>
              </a:rPr>
              <a:t>]</a:t>
            </a:r>
            <a:r>
              <a:rPr lang="en-US" altLang="zh-CN" sz="20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;</a:t>
            </a:r>
            <a:endParaRPr lang="en-US" altLang="zh-CN" sz="2000" kern="0" spc="0">
              <a:solidFill>
                <a:srgbClr val="FAFB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kern="0">
                <a:solidFill>
                  <a:srgbClr val="8BE9FD"/>
                </a:solidFill>
                <a:cs typeface="微软雅黑" panose="020B0503020204020204" charset="-122"/>
                <a:sym typeface="Times New Roman" panose="02020603050405020304"/>
              </a:rPr>
              <a:t>};</a:t>
            </a:r>
            <a:endParaRPr lang="zh-CN" altLang="en-US" sz="2000"/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65200" y="1948815"/>
            <a:ext cx="10515600" cy="5727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1768E4"/>
              </a:buClr>
              <a:buFont typeface="Arial" panose="020B0604020202020204" pitchFamily="34" charset="0"/>
              <a:buChar char="▌"/>
            </a:pPr>
            <a:r>
              <a:rPr lang="en-US" altLang="zh-CN"/>
              <a:t>  </a:t>
            </a:r>
            <a:r>
              <a:rPr lang="zh-CN"/>
              <a:t>地址族结构体</a:t>
            </a:r>
            <a:endParaRPr 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socket</a:t>
            </a:r>
            <a:r>
              <a:rPr lang="zh-CN" altLang="en-US"/>
              <a:t>套接字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95730" y="2877185"/>
            <a:ext cx="6037580" cy="3300095"/>
          </a:xfrm>
        </p:spPr>
        <p:txBody>
          <a:bodyPr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kern="0">
                <a:solidFill>
                  <a:schemeClr val="bg1">
                    <a:lumMod val="95000"/>
                  </a:schemeClr>
                </a:solidFill>
                <a:cs typeface="微软雅黑" panose="020B0503020204020204" charset="-122"/>
                <a:sym typeface="Times New Roman" panose="02020603050405020304"/>
              </a:rPr>
              <a:t>//</a:t>
            </a:r>
            <a:r>
              <a:rPr lang="en-US" sz="2000" kern="0">
                <a:solidFill>
                  <a:schemeClr val="bg1">
                    <a:lumMod val="95000"/>
                  </a:schemeClr>
                </a:solidFill>
                <a:cs typeface="微软雅黑" panose="020B0503020204020204" charset="-122"/>
                <a:sym typeface="Times New Roman" panose="02020603050405020304"/>
              </a:rPr>
              <a:t>sa_family</a:t>
            </a:r>
            <a:endParaRPr lang="en-US" sz="2000" kern="0">
              <a:solidFill>
                <a:schemeClr val="bg1">
                  <a:lumMod val="95000"/>
                </a:schemeClr>
              </a:solidFill>
              <a:cs typeface="微软雅黑" panose="020B0503020204020204" charset="-122"/>
              <a:sym typeface="Times New Roman" panose="02020603050405020304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/>
              <a:t>AF_UNIX      </a:t>
            </a:r>
            <a:r>
              <a:rPr lang="zh-CN" altLang="en-US" sz="2000"/>
              <a:t>使用本地域套接字的地址结构，用于本地通信</a:t>
            </a:r>
            <a:endParaRPr lang="zh-CN" altLang="en-US" sz="2000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/>
              <a:t>AF_INET       </a:t>
            </a:r>
            <a:r>
              <a:rPr lang="zh-CN" altLang="en-US" sz="2000"/>
              <a:t>使用</a:t>
            </a:r>
            <a:r>
              <a:rPr lang="en-US" altLang="zh-CN" sz="2000"/>
              <a:t>IPv4</a:t>
            </a:r>
            <a:r>
              <a:rPr lang="zh-CN" altLang="en-US" sz="2000"/>
              <a:t>的通信地址结构</a:t>
            </a:r>
            <a:endParaRPr lang="zh-CN" altLang="en-US" sz="2000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/>
              <a:t>AF_INET6     </a:t>
            </a:r>
            <a:r>
              <a:rPr lang="zh-CN" altLang="en-US" sz="2000"/>
              <a:t>使用</a:t>
            </a:r>
            <a:r>
              <a:rPr lang="en-US" altLang="zh-CN" sz="2000"/>
              <a:t>IPv6</a:t>
            </a:r>
            <a:r>
              <a:rPr lang="zh-CN" altLang="en-US" sz="2000"/>
              <a:t>的通信地址结构</a:t>
            </a:r>
            <a:endParaRPr lang="zh-CN" altLang="en-US" sz="2000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/>
              <a:t>....</a:t>
            </a:r>
            <a:endParaRPr lang="en-US" altLang="zh-CN" sz="2000"/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65200" y="1942465"/>
            <a:ext cx="10515600" cy="5727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1768E4"/>
              </a:buClr>
              <a:buFont typeface="Arial" panose="020B0604020202020204" pitchFamily="34" charset="0"/>
              <a:buChar char="▌"/>
            </a:pPr>
            <a:r>
              <a:rPr lang="en-US" altLang="zh-CN"/>
              <a:t>  </a:t>
            </a:r>
            <a:r>
              <a:rPr lang="zh-CN"/>
              <a:t>地址族结构体</a:t>
            </a:r>
            <a:endParaRPr 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套接字类型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7743825" cy="1687195"/>
          </a:xfrm>
        </p:spPr>
        <p:txBody>
          <a:bodyPr>
            <a:noAutofit/>
          </a:bodyPr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sz="24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流式套接字</a:t>
            </a:r>
            <a:r>
              <a:rPr lang="en-US" altLang="zh-CN" sz="24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(SOCK_STREAM)</a:t>
            </a:r>
            <a:r>
              <a:rPr lang="en-US" altLang="zh-CN" sz="24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 </a:t>
            </a:r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提供可靠的、面向连接的通信流；它使用</a:t>
            </a:r>
            <a:r>
              <a:rPr lang="en-US" altLang="zh-CN" sz="24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TCP</a:t>
            </a:r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  <a:sym typeface="+mn-ea"/>
              </a:rPr>
              <a:t>，从而保证数据传输的可靠性和顺序性</a:t>
            </a:r>
            <a:endParaRPr lang="zh-CN" altLang="en-US" sz="2400" dirty="0" smtClean="0">
              <a:solidFill>
                <a:schemeClr val="bg1">
                  <a:lumMod val="95000"/>
                </a:schemeClr>
              </a:solidFill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38200" y="3544570"/>
            <a:ext cx="7880985" cy="17595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数据报套接字</a:t>
            </a:r>
            <a:r>
              <a:rPr lang="en-US" altLang="zh-CN" sz="24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(SOCK_DGRAM) </a:t>
            </a:r>
            <a:r>
              <a:rPr lang="zh-CN" altLang="en-US" sz="2400" dirty="0" smtClean="0">
                <a:solidFill>
                  <a:schemeClr val="bg1">
                    <a:lumMod val="95000"/>
                  </a:schemeClr>
                </a:solidFill>
                <a:sym typeface="+mn-ea"/>
              </a:rPr>
              <a:t>定义了一种不可靠、面向无连接的服务，数据通过相互独立的报文进行传输，是无序的，并且不保证是可靠、无差错的。它使用数据报协议</a:t>
            </a:r>
            <a:r>
              <a:rPr lang="en-US" altLang="zh-CN" sz="2400" dirty="0" smtClean="0">
                <a:solidFill>
                  <a:schemeClr val="bg1">
                    <a:lumMod val="95000"/>
                  </a:schemeClr>
                </a:solidFill>
                <a:sym typeface="+mn-ea"/>
              </a:rPr>
              <a:t>UDP</a:t>
            </a:r>
            <a:endParaRPr lang="zh-CN" altLang="en-US" sz="2400" dirty="0" smtClean="0">
              <a:solidFill>
                <a:schemeClr val="bg1">
                  <a:lumMod val="95000"/>
                </a:schemeClr>
              </a:solidFill>
              <a:sym typeface="+mn-ea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38200" y="5335905"/>
            <a:ext cx="7743825" cy="15220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原始套接字（</a:t>
            </a:r>
            <a:r>
              <a:rPr lang="en-US" altLang="zh-CN" sz="24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SOCK_RAW)</a:t>
            </a:r>
            <a:r>
              <a:rPr lang="en-US" altLang="zh-CN" sz="2400" dirty="0" smtClean="0">
                <a:solidFill>
                  <a:schemeClr val="bg1">
                    <a:lumMod val="95000"/>
                  </a:schemeClr>
                </a:solidFill>
                <a:sym typeface="+mn-ea"/>
              </a:rPr>
              <a:t> </a:t>
            </a:r>
            <a:r>
              <a:rPr lang="zh-CN" altLang="en-US" sz="2400" dirty="0" smtClean="0">
                <a:solidFill>
                  <a:schemeClr val="bg1">
                    <a:lumMod val="95000"/>
                  </a:schemeClr>
                </a:solidFill>
                <a:sym typeface="+mn-ea"/>
              </a:rPr>
              <a:t>允许直接访问底层协议，如</a:t>
            </a:r>
            <a:r>
              <a:rPr lang="en-US" altLang="zh-CN" sz="2400" dirty="0" smtClean="0">
                <a:solidFill>
                  <a:schemeClr val="bg1">
                    <a:lumMod val="95000"/>
                  </a:schemeClr>
                </a:solidFill>
                <a:sym typeface="+mn-ea"/>
              </a:rPr>
              <a:t>IP</a:t>
            </a:r>
            <a:r>
              <a:rPr lang="zh-CN" altLang="en-US" sz="2400" dirty="0" smtClean="0">
                <a:solidFill>
                  <a:schemeClr val="bg1">
                    <a:lumMod val="95000"/>
                  </a:schemeClr>
                </a:solidFill>
                <a:sym typeface="+mn-ea"/>
              </a:rPr>
              <a:t>或</a:t>
            </a:r>
            <a:r>
              <a:rPr lang="en-US" altLang="zh-CN" sz="2400" dirty="0" smtClean="0">
                <a:solidFill>
                  <a:schemeClr val="bg1">
                    <a:lumMod val="95000"/>
                  </a:schemeClr>
                </a:solidFill>
                <a:sym typeface="+mn-ea"/>
              </a:rPr>
              <a:t>ICMP</a:t>
            </a:r>
            <a:r>
              <a:rPr lang="zh-CN" altLang="en-US" sz="2400" dirty="0" smtClean="0">
                <a:solidFill>
                  <a:schemeClr val="bg1">
                    <a:lumMod val="95000"/>
                  </a:schemeClr>
                </a:solidFill>
                <a:sym typeface="+mn-ea"/>
              </a:rPr>
              <a:t>，它功能强大但使用较为不便，主要用于协议开发。</a:t>
            </a:r>
            <a:endParaRPr lang="zh-CN" altLang="en-US" sz="2400" dirty="0" smtClean="0">
              <a:solidFill>
                <a:schemeClr val="bg1">
                  <a:lumMod val="95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socket</a:t>
            </a:r>
            <a:r>
              <a:rPr lang="zh-CN" altLang="en-US">
                <a:sym typeface="+mn-ea"/>
              </a:rPr>
              <a:t>套接字</a:t>
            </a:r>
            <a:endParaRPr lang="zh-CN" altLang="en-US"/>
          </a:p>
        </p:txBody>
      </p:sp>
      <p:sp>
        <p:nvSpPr>
          <p:cNvPr id="54" name="流程图: 过程 53"/>
          <p:cNvSpPr/>
          <p:nvPr>
            <p:custDataLst>
              <p:tags r:id="rId1"/>
            </p:custDataLst>
          </p:nvPr>
        </p:nvSpPr>
        <p:spPr>
          <a:xfrm>
            <a:off x="1073785" y="2051050"/>
            <a:ext cx="1651635" cy="475615"/>
          </a:xfrm>
          <a:prstGeom prst="flowChartProcess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流式套接字</a:t>
            </a:r>
            <a:endParaRPr lang="zh-CN" altLang="en-US" sz="200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流程图: 过程 54"/>
          <p:cNvSpPr/>
          <p:nvPr>
            <p:custDataLst>
              <p:tags r:id="rId2"/>
            </p:custDataLst>
          </p:nvPr>
        </p:nvSpPr>
        <p:spPr>
          <a:xfrm>
            <a:off x="2863215" y="2051050"/>
            <a:ext cx="1866265" cy="475615"/>
          </a:xfrm>
          <a:prstGeom prst="flowChartProcess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数据报套接字</a:t>
            </a:r>
            <a:endParaRPr lang="zh-CN" altLang="en-US" sz="200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流程图: 过程 56"/>
          <p:cNvSpPr/>
          <p:nvPr>
            <p:custDataLst>
              <p:tags r:id="rId3"/>
            </p:custDataLst>
          </p:nvPr>
        </p:nvSpPr>
        <p:spPr>
          <a:xfrm>
            <a:off x="4867275" y="2051050"/>
            <a:ext cx="1866265" cy="475615"/>
          </a:xfrm>
          <a:prstGeom prst="flowChartProcess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原始套接字</a:t>
            </a:r>
            <a:endParaRPr lang="zh-CN" altLang="en-US" sz="200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流程图: 过程 60"/>
          <p:cNvSpPr/>
          <p:nvPr>
            <p:custDataLst>
              <p:tags r:id="rId4"/>
            </p:custDataLst>
          </p:nvPr>
        </p:nvSpPr>
        <p:spPr>
          <a:xfrm>
            <a:off x="1073785" y="2806065"/>
            <a:ext cx="1651635" cy="475615"/>
          </a:xfrm>
          <a:prstGeom prst="flowChartProcess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TCP</a:t>
            </a:r>
            <a:endParaRPr lang="en-US" altLang="zh-CN" sz="200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流程图: 过程 61"/>
          <p:cNvSpPr/>
          <p:nvPr>
            <p:custDataLst>
              <p:tags r:id="rId5"/>
            </p:custDataLst>
          </p:nvPr>
        </p:nvSpPr>
        <p:spPr>
          <a:xfrm>
            <a:off x="2863215" y="2806065"/>
            <a:ext cx="1866265" cy="475615"/>
          </a:xfrm>
          <a:prstGeom prst="flowChartProcess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UDP</a:t>
            </a:r>
            <a:endParaRPr lang="en-US" altLang="zh-CN" sz="200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流程图: 过程 62"/>
          <p:cNvSpPr/>
          <p:nvPr>
            <p:custDataLst>
              <p:tags r:id="rId6"/>
            </p:custDataLst>
          </p:nvPr>
        </p:nvSpPr>
        <p:spPr>
          <a:xfrm>
            <a:off x="1073150" y="3561080"/>
            <a:ext cx="5661025" cy="475615"/>
          </a:xfrm>
          <a:prstGeom prst="flowChartProces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网络层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ICMP  IGMP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流程图: 过程 63"/>
          <p:cNvSpPr/>
          <p:nvPr>
            <p:custDataLst>
              <p:tags r:id="rId7"/>
            </p:custDataLst>
          </p:nvPr>
        </p:nvSpPr>
        <p:spPr>
          <a:xfrm>
            <a:off x="1072515" y="4091305"/>
            <a:ext cx="5661025" cy="475615"/>
          </a:xfrm>
          <a:prstGeom prst="flowChartProcess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200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数据链路层</a:t>
            </a:r>
            <a:endParaRPr lang="zh-CN" sz="200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5" name="直接箭头连接符 64"/>
          <p:cNvCxnSpPr>
            <a:stCxn id="57" idx="2"/>
          </p:cNvCxnSpPr>
          <p:nvPr>
            <p:custDataLst>
              <p:tags r:id="rId8"/>
            </p:custDataLst>
          </p:nvPr>
        </p:nvCxnSpPr>
        <p:spPr>
          <a:xfrm flipH="1">
            <a:off x="5267325" y="2526665"/>
            <a:ext cx="533400" cy="979805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>
            <p:custDataLst>
              <p:tags r:id="rId9"/>
            </p:custDataLst>
          </p:nvPr>
        </p:nvCxnSpPr>
        <p:spPr>
          <a:xfrm>
            <a:off x="3796665" y="2526665"/>
            <a:ext cx="0" cy="279400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>
            <p:custDataLst>
              <p:tags r:id="rId10"/>
            </p:custDataLst>
          </p:nvPr>
        </p:nvCxnSpPr>
        <p:spPr>
          <a:xfrm>
            <a:off x="1899920" y="2526665"/>
            <a:ext cx="0" cy="279400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>
            <p:custDataLst>
              <p:tags r:id="rId11"/>
            </p:custDataLst>
          </p:nvPr>
        </p:nvSpPr>
        <p:spPr>
          <a:xfrm>
            <a:off x="1104900" y="5347335"/>
            <a:ext cx="4162425" cy="441924"/>
          </a:xfrm>
          <a:prstGeom prst="round2DiagRect">
            <a:avLst/>
          </a:prstGeom>
          <a:solidFill>
            <a:srgbClr val="D75D00"/>
          </a:solidFill>
        </p:spPr>
        <p:txBody>
          <a:bodyPr wrap="square" rtlCol="0">
            <a:spAutoFit/>
          </a:bodyPr>
          <a:p>
            <a:pPr marL="342900" indent="-342900">
              <a:buClr>
                <a:srgbClr val="FFFFFF"/>
              </a:buClr>
              <a:buFont typeface="Wingdings" panose="05000000000000000000" charset="0"/>
              <a:buChar char="Ø"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UNIX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域套接字用于进程间通信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0" name="直接箭头连接符 79"/>
          <p:cNvCxnSpPr/>
          <p:nvPr>
            <p:custDataLst>
              <p:tags r:id="rId12"/>
            </p:custDataLst>
          </p:nvPr>
        </p:nvCxnSpPr>
        <p:spPr>
          <a:xfrm>
            <a:off x="3796665" y="3270885"/>
            <a:ext cx="0" cy="279400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>
            <p:custDataLst>
              <p:tags r:id="rId13"/>
            </p:custDataLst>
          </p:nvPr>
        </p:nvCxnSpPr>
        <p:spPr>
          <a:xfrm>
            <a:off x="1899920" y="3270885"/>
            <a:ext cx="0" cy="279400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>
            <p:custDataLst>
              <p:tags r:id="rId14"/>
            </p:custDataLst>
          </p:nvPr>
        </p:nvSpPr>
        <p:spPr>
          <a:xfrm>
            <a:off x="1104900" y="4735830"/>
            <a:ext cx="4578985" cy="444860"/>
          </a:xfrm>
          <a:prstGeom prst="round2DiagRect">
            <a:avLst/>
          </a:prstGeom>
          <a:solidFill>
            <a:srgbClr val="D75D00"/>
          </a:solidFill>
        </p:spPr>
        <p:txBody>
          <a:bodyPr wrap="square" rtlCol="0">
            <a:spAutoFit/>
          </a:bodyPr>
          <a:p>
            <a:pPr marL="342900" indent="-342900">
              <a:buClr>
                <a:srgbClr val="FFFFFF"/>
              </a:buClr>
              <a:buFont typeface="Wingdings" panose="05000000000000000000" charset="0"/>
              <a:buChar char="Ø"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套接字属于一种特殊的文件描述符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bldLvl="0" animBg="1"/>
      <p:bldP spid="55" grpId="0" bldLvl="0" animBg="1"/>
      <p:bldP spid="57" grpId="0" bldLvl="0" animBg="1"/>
      <p:bldP spid="61" grpId="0" bldLvl="0" animBg="1"/>
      <p:bldP spid="62" grpId="0" bldLvl="0" animBg="1"/>
      <p:bldP spid="63" grpId="0" bldLvl="0" animBg="1"/>
      <p:bldP spid="64" grpId="0" bldLvl="0" animBg="1"/>
      <p:bldP spid="76" grpId="0" animBg="1"/>
      <p:bldP spid="8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socket</a:t>
            </a:r>
            <a:r>
              <a:rPr lang="zh-CN" altLang="en-US">
                <a:sym typeface="+mn-ea"/>
              </a:rPr>
              <a:t>套接字</a:t>
            </a:r>
            <a:endParaRPr lang="zh-CN" altLang="en-US"/>
          </a:p>
        </p:txBody>
      </p:sp>
      <p:grpSp>
        <p:nvGrpSpPr>
          <p:cNvPr id="51" name="组合 50"/>
          <p:cNvGrpSpPr/>
          <p:nvPr>
            <p:custDataLst>
              <p:tags r:id="rId1"/>
            </p:custDataLst>
          </p:nvPr>
        </p:nvGrpSpPr>
        <p:grpSpPr>
          <a:xfrm>
            <a:off x="1263574" y="2248658"/>
            <a:ext cx="1990960" cy="3185534"/>
            <a:chOff x="1328225" y="2481944"/>
            <a:chExt cx="1811733" cy="2898772"/>
          </a:xfrm>
        </p:grpSpPr>
        <p:sp>
          <p:nvSpPr>
            <p:cNvPr id="109" name="Freeform 6"/>
            <p:cNvSpPr/>
            <p:nvPr>
              <p:custDataLst>
                <p:tags r:id="rId2"/>
              </p:custDataLst>
            </p:nvPr>
          </p:nvSpPr>
          <p:spPr bwMode="auto">
            <a:xfrm>
              <a:off x="1328225" y="3193526"/>
              <a:ext cx="1811733" cy="82243"/>
            </a:xfrm>
            <a:custGeom>
              <a:avLst/>
              <a:gdLst>
                <a:gd name="T0" fmla="*/ 163 w 1520"/>
                <a:gd name="T1" fmla="*/ 0 h 69"/>
                <a:gd name="T2" fmla="*/ 0 w 1520"/>
                <a:gd name="T3" fmla="*/ 69 h 69"/>
                <a:gd name="T4" fmla="*/ 1520 w 1520"/>
                <a:gd name="T5" fmla="*/ 69 h 69"/>
                <a:gd name="T6" fmla="*/ 1357 w 1520"/>
                <a:gd name="T7" fmla="*/ 0 h 69"/>
                <a:gd name="T8" fmla="*/ 163 w 1520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0" h="69">
                  <a:moveTo>
                    <a:pt x="163" y="0"/>
                  </a:moveTo>
                  <a:lnTo>
                    <a:pt x="0" y="69"/>
                  </a:lnTo>
                  <a:lnTo>
                    <a:pt x="1520" y="69"/>
                  </a:lnTo>
                  <a:lnTo>
                    <a:pt x="1357" y="0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86C30B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10" name="Freeform 7"/>
            <p:cNvSpPr/>
            <p:nvPr>
              <p:custDataLst>
                <p:tags r:id="rId3"/>
              </p:custDataLst>
            </p:nvPr>
          </p:nvSpPr>
          <p:spPr bwMode="auto">
            <a:xfrm>
              <a:off x="1328225" y="3275769"/>
              <a:ext cx="1811733" cy="2104947"/>
            </a:xfrm>
            <a:custGeom>
              <a:avLst/>
              <a:gdLst>
                <a:gd name="T0" fmla="*/ 641 w 641"/>
                <a:gd name="T1" fmla="*/ 0 h 746"/>
                <a:gd name="T2" fmla="*/ 641 w 641"/>
                <a:gd name="T3" fmla="*/ 425 h 746"/>
                <a:gd name="T4" fmla="*/ 320 w 641"/>
                <a:gd name="T5" fmla="*/ 746 h 746"/>
                <a:gd name="T6" fmla="*/ 0 w 641"/>
                <a:gd name="T7" fmla="*/ 425 h 746"/>
                <a:gd name="T8" fmla="*/ 0 w 641"/>
                <a:gd name="T9" fmla="*/ 0 h 746"/>
                <a:gd name="T10" fmla="*/ 641 w 641"/>
                <a:gd name="T11" fmla="*/ 0 h 7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1" h="746">
                  <a:moveTo>
                    <a:pt x="641" y="0"/>
                  </a:moveTo>
                  <a:cubicBezTo>
                    <a:pt x="641" y="425"/>
                    <a:pt x="641" y="425"/>
                    <a:pt x="641" y="425"/>
                  </a:cubicBezTo>
                  <a:cubicBezTo>
                    <a:pt x="641" y="602"/>
                    <a:pt x="497" y="746"/>
                    <a:pt x="320" y="746"/>
                  </a:cubicBezTo>
                  <a:cubicBezTo>
                    <a:pt x="143" y="746"/>
                    <a:pt x="0" y="602"/>
                    <a:pt x="0" y="425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641" y="0"/>
                  </a:lnTo>
                  <a:close/>
                </a:path>
              </a:pathLst>
            </a:custGeom>
            <a:solidFill>
              <a:srgbClr val="86C30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 useBgFill="1">
          <p:nvSpPr>
            <p:cNvPr id="111" name="Freeform 8"/>
            <p:cNvSpPr/>
            <p:nvPr>
              <p:custDataLst>
                <p:tags r:id="rId4"/>
              </p:custDataLst>
            </p:nvPr>
          </p:nvSpPr>
          <p:spPr bwMode="auto">
            <a:xfrm>
              <a:off x="1483175" y="3275769"/>
              <a:ext cx="1501831" cy="1949996"/>
            </a:xfrm>
            <a:custGeom>
              <a:avLst/>
              <a:gdLst>
                <a:gd name="T0" fmla="*/ 531 w 531"/>
                <a:gd name="T1" fmla="*/ 0 h 691"/>
                <a:gd name="T2" fmla="*/ 531 w 531"/>
                <a:gd name="T3" fmla="*/ 425 h 691"/>
                <a:gd name="T4" fmla="*/ 265 w 531"/>
                <a:gd name="T5" fmla="*/ 691 h 691"/>
                <a:gd name="T6" fmla="*/ 0 w 531"/>
                <a:gd name="T7" fmla="*/ 425 h 691"/>
                <a:gd name="T8" fmla="*/ 0 w 531"/>
                <a:gd name="T9" fmla="*/ 0 h 691"/>
                <a:gd name="T10" fmla="*/ 531 w 531"/>
                <a:gd name="T11" fmla="*/ 0 h 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1" h="691">
                  <a:moveTo>
                    <a:pt x="531" y="0"/>
                  </a:moveTo>
                  <a:cubicBezTo>
                    <a:pt x="531" y="425"/>
                    <a:pt x="531" y="425"/>
                    <a:pt x="531" y="425"/>
                  </a:cubicBezTo>
                  <a:cubicBezTo>
                    <a:pt x="531" y="572"/>
                    <a:pt x="412" y="691"/>
                    <a:pt x="265" y="691"/>
                  </a:cubicBezTo>
                  <a:cubicBezTo>
                    <a:pt x="119" y="691"/>
                    <a:pt x="0" y="572"/>
                    <a:pt x="0" y="425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31" y="0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72000" tIns="0" rIns="72000" bIns="144000" numCol="1" anchor="ctr" anchorCtr="0" compatLnSpc="1">
              <a:normAutofit/>
            </a:bodyPr>
            <a:p>
              <a:pPr algn="ctr">
                <a:lnSpc>
                  <a:spcPct val="110000"/>
                </a:lnSpc>
              </a:pPr>
              <a:r>
                <a:rPr lang="en-US" altLang="zh-CN" sz="2000" smtClean="0">
                  <a:solidFill>
                    <a:schemeClr val="bg1">
                      <a:lumMod val="95000"/>
                    </a:schemeClr>
                  </a:solidFill>
                </a:rPr>
                <a:t>服务器和客户端各自维护一个“文件”</a:t>
              </a:r>
              <a:endParaRPr lang="en-US" altLang="zh-CN" sz="2000" smtClean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12" name="Freeform 9"/>
            <p:cNvSpPr/>
            <p:nvPr>
              <p:custDataLst>
                <p:tags r:id="rId5"/>
              </p:custDataLst>
            </p:nvPr>
          </p:nvSpPr>
          <p:spPr bwMode="auto">
            <a:xfrm>
              <a:off x="1522510" y="2481944"/>
              <a:ext cx="1423164" cy="711582"/>
            </a:xfrm>
            <a:custGeom>
              <a:avLst/>
              <a:gdLst>
                <a:gd name="T0" fmla="*/ 503 w 503"/>
                <a:gd name="T1" fmla="*/ 252 h 252"/>
                <a:gd name="T2" fmla="*/ 251 w 503"/>
                <a:gd name="T3" fmla="*/ 0 h 252"/>
                <a:gd name="T4" fmla="*/ 0 w 503"/>
                <a:gd name="T5" fmla="*/ 252 h 252"/>
                <a:gd name="T6" fmla="*/ 503 w 503"/>
                <a:gd name="T7" fmla="*/ 25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3" h="252">
                  <a:moveTo>
                    <a:pt x="503" y="252"/>
                  </a:moveTo>
                  <a:cubicBezTo>
                    <a:pt x="503" y="113"/>
                    <a:pt x="390" y="0"/>
                    <a:pt x="251" y="0"/>
                  </a:cubicBezTo>
                  <a:cubicBezTo>
                    <a:pt x="112" y="0"/>
                    <a:pt x="0" y="113"/>
                    <a:pt x="0" y="252"/>
                  </a:cubicBezTo>
                  <a:lnTo>
                    <a:pt x="503" y="252"/>
                  </a:lnTo>
                  <a:close/>
                </a:path>
              </a:pathLst>
            </a:custGeom>
            <a:solidFill>
              <a:srgbClr val="86C30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 useBgFill="1">
          <p:nvSpPr>
            <p:cNvPr id="113" name="Freeform 10"/>
            <p:cNvSpPr/>
            <p:nvPr>
              <p:custDataLst>
                <p:tags r:id="rId6"/>
              </p:custDataLst>
            </p:nvPr>
          </p:nvSpPr>
          <p:spPr bwMode="auto">
            <a:xfrm>
              <a:off x="1644086" y="2603521"/>
              <a:ext cx="1180010" cy="590006"/>
            </a:xfrm>
            <a:custGeom>
              <a:avLst/>
              <a:gdLst>
                <a:gd name="T0" fmla="*/ 0 w 417"/>
                <a:gd name="T1" fmla="*/ 209 h 209"/>
                <a:gd name="T2" fmla="*/ 208 w 417"/>
                <a:gd name="T3" fmla="*/ 0 h 209"/>
                <a:gd name="T4" fmla="*/ 417 w 417"/>
                <a:gd name="T5" fmla="*/ 209 h 209"/>
                <a:gd name="T6" fmla="*/ 0 w 417"/>
                <a:gd name="T7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7" h="209">
                  <a:moveTo>
                    <a:pt x="0" y="209"/>
                  </a:moveTo>
                  <a:cubicBezTo>
                    <a:pt x="0" y="94"/>
                    <a:pt x="93" y="0"/>
                    <a:pt x="208" y="0"/>
                  </a:cubicBezTo>
                  <a:cubicBezTo>
                    <a:pt x="323" y="0"/>
                    <a:pt x="417" y="94"/>
                    <a:pt x="417" y="209"/>
                  </a:cubicBezTo>
                  <a:lnTo>
                    <a:pt x="0" y="209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0" tIns="72000" rIns="0" bIns="0" numCol="1" anchor="ctr" anchorCtr="0" compatLnSpc="1">
              <a:normAutofit/>
            </a:bodyPr>
            <a:p>
              <a:pPr algn="ctr"/>
              <a:r>
                <a:rPr lang="en-US" altLang="zh-CN" sz="2800">
                  <a:solidFill>
                    <a:schemeClr val="bg1">
                      <a:lumMod val="9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“文件”</a:t>
              </a:r>
              <a:endParaRPr lang="en-US" altLang="zh-CN" sz="280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4" name="Freeform 11"/>
            <p:cNvSpPr/>
            <p:nvPr>
              <p:custDataLst>
                <p:tags r:id="rId7"/>
              </p:custDataLst>
            </p:nvPr>
          </p:nvSpPr>
          <p:spPr bwMode="auto">
            <a:xfrm>
              <a:off x="1483175" y="3193526"/>
              <a:ext cx="1501831" cy="82243"/>
            </a:xfrm>
            <a:custGeom>
              <a:avLst/>
              <a:gdLst>
                <a:gd name="T0" fmla="*/ 1125 w 1260"/>
                <a:gd name="T1" fmla="*/ 0 h 69"/>
                <a:gd name="T2" fmla="*/ 1260 w 1260"/>
                <a:gd name="T3" fmla="*/ 69 h 69"/>
                <a:gd name="T4" fmla="*/ 0 w 1260"/>
                <a:gd name="T5" fmla="*/ 69 h 69"/>
                <a:gd name="T6" fmla="*/ 135 w 1260"/>
                <a:gd name="T7" fmla="*/ 0 h 69"/>
                <a:gd name="T8" fmla="*/ 1125 w 1260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9">
                  <a:moveTo>
                    <a:pt x="1125" y="0"/>
                  </a:moveTo>
                  <a:lnTo>
                    <a:pt x="1260" y="69"/>
                  </a:lnTo>
                  <a:lnTo>
                    <a:pt x="0" y="69"/>
                  </a:lnTo>
                  <a:lnTo>
                    <a:pt x="135" y="0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rgbClr val="9DD1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" name="组合 3"/>
          <p:cNvGrpSpPr/>
          <p:nvPr>
            <p:custDataLst>
              <p:tags r:id="rId8"/>
            </p:custDataLst>
          </p:nvPr>
        </p:nvGrpSpPr>
        <p:grpSpPr>
          <a:xfrm>
            <a:off x="3798245" y="2248658"/>
            <a:ext cx="1990960" cy="3185534"/>
            <a:chOff x="3634725" y="2481944"/>
            <a:chExt cx="1811733" cy="2898772"/>
          </a:xfrm>
        </p:grpSpPr>
        <p:sp>
          <p:nvSpPr>
            <p:cNvPr id="5" name="Freeform 6"/>
            <p:cNvSpPr/>
            <p:nvPr>
              <p:custDataLst>
                <p:tags r:id="rId9"/>
              </p:custDataLst>
            </p:nvPr>
          </p:nvSpPr>
          <p:spPr bwMode="auto">
            <a:xfrm>
              <a:off x="3634725" y="3193526"/>
              <a:ext cx="1811733" cy="82243"/>
            </a:xfrm>
            <a:custGeom>
              <a:avLst/>
              <a:gdLst>
                <a:gd name="T0" fmla="*/ 163 w 1520"/>
                <a:gd name="T1" fmla="*/ 0 h 69"/>
                <a:gd name="T2" fmla="*/ 0 w 1520"/>
                <a:gd name="T3" fmla="*/ 69 h 69"/>
                <a:gd name="T4" fmla="*/ 1520 w 1520"/>
                <a:gd name="T5" fmla="*/ 69 h 69"/>
                <a:gd name="T6" fmla="*/ 1357 w 1520"/>
                <a:gd name="T7" fmla="*/ 0 h 69"/>
                <a:gd name="T8" fmla="*/ 163 w 1520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0" h="69">
                  <a:moveTo>
                    <a:pt x="163" y="0"/>
                  </a:moveTo>
                  <a:lnTo>
                    <a:pt x="0" y="69"/>
                  </a:lnTo>
                  <a:lnTo>
                    <a:pt x="1520" y="69"/>
                  </a:lnTo>
                  <a:lnTo>
                    <a:pt x="1357" y="0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FF860C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6" name="Freeform 7"/>
            <p:cNvSpPr/>
            <p:nvPr>
              <p:custDataLst>
                <p:tags r:id="rId10"/>
              </p:custDataLst>
            </p:nvPr>
          </p:nvSpPr>
          <p:spPr bwMode="auto">
            <a:xfrm>
              <a:off x="3634725" y="3275769"/>
              <a:ext cx="1811733" cy="2104947"/>
            </a:xfrm>
            <a:custGeom>
              <a:avLst/>
              <a:gdLst>
                <a:gd name="T0" fmla="*/ 641 w 641"/>
                <a:gd name="T1" fmla="*/ 0 h 746"/>
                <a:gd name="T2" fmla="*/ 641 w 641"/>
                <a:gd name="T3" fmla="*/ 425 h 746"/>
                <a:gd name="T4" fmla="*/ 320 w 641"/>
                <a:gd name="T5" fmla="*/ 746 h 746"/>
                <a:gd name="T6" fmla="*/ 0 w 641"/>
                <a:gd name="T7" fmla="*/ 425 h 746"/>
                <a:gd name="T8" fmla="*/ 0 w 641"/>
                <a:gd name="T9" fmla="*/ 0 h 746"/>
                <a:gd name="T10" fmla="*/ 641 w 641"/>
                <a:gd name="T11" fmla="*/ 0 h 7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1" h="746">
                  <a:moveTo>
                    <a:pt x="641" y="0"/>
                  </a:moveTo>
                  <a:cubicBezTo>
                    <a:pt x="641" y="425"/>
                    <a:pt x="641" y="425"/>
                    <a:pt x="641" y="425"/>
                  </a:cubicBezTo>
                  <a:cubicBezTo>
                    <a:pt x="641" y="602"/>
                    <a:pt x="497" y="746"/>
                    <a:pt x="320" y="746"/>
                  </a:cubicBezTo>
                  <a:cubicBezTo>
                    <a:pt x="143" y="746"/>
                    <a:pt x="0" y="602"/>
                    <a:pt x="0" y="425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641" y="0"/>
                  </a:lnTo>
                  <a:close/>
                </a:path>
              </a:pathLst>
            </a:custGeom>
            <a:solidFill>
              <a:srgbClr val="FF860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 useBgFill="1">
          <p:nvSpPr>
            <p:cNvPr id="56" name="Freeform 8"/>
            <p:cNvSpPr/>
            <p:nvPr>
              <p:custDataLst>
                <p:tags r:id="rId11"/>
              </p:custDataLst>
            </p:nvPr>
          </p:nvSpPr>
          <p:spPr bwMode="auto">
            <a:xfrm>
              <a:off x="3789675" y="3275769"/>
              <a:ext cx="1501831" cy="1949996"/>
            </a:xfrm>
            <a:custGeom>
              <a:avLst/>
              <a:gdLst>
                <a:gd name="T0" fmla="*/ 531 w 531"/>
                <a:gd name="T1" fmla="*/ 0 h 691"/>
                <a:gd name="T2" fmla="*/ 531 w 531"/>
                <a:gd name="T3" fmla="*/ 425 h 691"/>
                <a:gd name="T4" fmla="*/ 265 w 531"/>
                <a:gd name="T5" fmla="*/ 691 h 691"/>
                <a:gd name="T6" fmla="*/ 0 w 531"/>
                <a:gd name="T7" fmla="*/ 425 h 691"/>
                <a:gd name="T8" fmla="*/ 0 w 531"/>
                <a:gd name="T9" fmla="*/ 0 h 691"/>
                <a:gd name="T10" fmla="*/ 531 w 531"/>
                <a:gd name="T11" fmla="*/ 0 h 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1" h="691">
                  <a:moveTo>
                    <a:pt x="531" y="0"/>
                  </a:moveTo>
                  <a:cubicBezTo>
                    <a:pt x="531" y="425"/>
                    <a:pt x="531" y="425"/>
                    <a:pt x="531" y="425"/>
                  </a:cubicBezTo>
                  <a:cubicBezTo>
                    <a:pt x="531" y="572"/>
                    <a:pt x="412" y="691"/>
                    <a:pt x="265" y="691"/>
                  </a:cubicBezTo>
                  <a:cubicBezTo>
                    <a:pt x="119" y="691"/>
                    <a:pt x="0" y="572"/>
                    <a:pt x="0" y="425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31" y="0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72000" tIns="0" rIns="72000" bIns="144000" numCol="1" anchor="ctr" anchorCtr="0" compatLnSpc="1">
              <a:noAutofit/>
            </a:bodyPr>
            <a:p>
              <a:pPr algn="ctr">
                <a:lnSpc>
                  <a:spcPct val="110000"/>
                </a:lnSpc>
              </a:pPr>
              <a:r>
                <a:rPr lang="en-US" altLang="zh-CN" sz="2000" smtClean="0">
                  <a:solidFill>
                    <a:schemeClr val="bg1">
                      <a:lumMod val="95000"/>
                    </a:schemeClr>
                  </a:solidFill>
                </a:rPr>
                <a:t>在建立连接后，向自己文件写入内容供对方读取或者读取对方内容</a:t>
              </a:r>
              <a:endParaRPr lang="en-US" altLang="zh-CN" sz="2000" smtClean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7" name="Freeform 9"/>
            <p:cNvSpPr/>
            <p:nvPr>
              <p:custDataLst>
                <p:tags r:id="rId12"/>
              </p:custDataLst>
            </p:nvPr>
          </p:nvSpPr>
          <p:spPr bwMode="auto">
            <a:xfrm>
              <a:off x="3829010" y="2481944"/>
              <a:ext cx="1423164" cy="711582"/>
            </a:xfrm>
            <a:custGeom>
              <a:avLst/>
              <a:gdLst>
                <a:gd name="T0" fmla="*/ 503 w 503"/>
                <a:gd name="T1" fmla="*/ 252 h 252"/>
                <a:gd name="T2" fmla="*/ 251 w 503"/>
                <a:gd name="T3" fmla="*/ 0 h 252"/>
                <a:gd name="T4" fmla="*/ 0 w 503"/>
                <a:gd name="T5" fmla="*/ 252 h 252"/>
                <a:gd name="T6" fmla="*/ 503 w 503"/>
                <a:gd name="T7" fmla="*/ 25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3" h="252">
                  <a:moveTo>
                    <a:pt x="503" y="252"/>
                  </a:moveTo>
                  <a:cubicBezTo>
                    <a:pt x="503" y="113"/>
                    <a:pt x="390" y="0"/>
                    <a:pt x="251" y="0"/>
                  </a:cubicBezTo>
                  <a:cubicBezTo>
                    <a:pt x="112" y="0"/>
                    <a:pt x="0" y="113"/>
                    <a:pt x="0" y="252"/>
                  </a:cubicBezTo>
                  <a:lnTo>
                    <a:pt x="503" y="252"/>
                  </a:lnTo>
                  <a:close/>
                </a:path>
              </a:pathLst>
            </a:custGeom>
            <a:solidFill>
              <a:srgbClr val="FF860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 useBgFill="1">
          <p:nvSpPr>
            <p:cNvPr id="8" name="Freeform 10"/>
            <p:cNvSpPr/>
            <p:nvPr>
              <p:custDataLst>
                <p:tags r:id="rId13"/>
              </p:custDataLst>
            </p:nvPr>
          </p:nvSpPr>
          <p:spPr bwMode="auto">
            <a:xfrm>
              <a:off x="3950586" y="2603521"/>
              <a:ext cx="1180010" cy="590006"/>
            </a:xfrm>
            <a:custGeom>
              <a:avLst/>
              <a:gdLst>
                <a:gd name="T0" fmla="*/ 0 w 417"/>
                <a:gd name="T1" fmla="*/ 209 h 209"/>
                <a:gd name="T2" fmla="*/ 208 w 417"/>
                <a:gd name="T3" fmla="*/ 0 h 209"/>
                <a:gd name="T4" fmla="*/ 417 w 417"/>
                <a:gd name="T5" fmla="*/ 209 h 209"/>
                <a:gd name="T6" fmla="*/ 0 w 417"/>
                <a:gd name="T7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7" h="209">
                  <a:moveTo>
                    <a:pt x="0" y="209"/>
                  </a:moveTo>
                  <a:cubicBezTo>
                    <a:pt x="0" y="94"/>
                    <a:pt x="93" y="0"/>
                    <a:pt x="208" y="0"/>
                  </a:cubicBezTo>
                  <a:cubicBezTo>
                    <a:pt x="323" y="0"/>
                    <a:pt x="417" y="94"/>
                    <a:pt x="417" y="209"/>
                  </a:cubicBezTo>
                  <a:lnTo>
                    <a:pt x="0" y="209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0" tIns="72000" rIns="0" bIns="0" numCol="1" anchor="ctr" anchorCtr="0" compatLnSpc="1">
              <a:normAutofit/>
            </a:bodyPr>
            <a:p>
              <a:pPr algn="ctr"/>
              <a:r>
                <a:rPr lang="en-US" altLang="zh-CN" sz="2800">
                  <a:solidFill>
                    <a:schemeClr val="bg1">
                      <a:lumMod val="9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读/写</a:t>
              </a:r>
              <a:endParaRPr lang="en-US" altLang="zh-CN" sz="280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Freeform 11"/>
            <p:cNvSpPr/>
            <p:nvPr>
              <p:custDataLst>
                <p:tags r:id="rId14"/>
              </p:custDataLst>
            </p:nvPr>
          </p:nvSpPr>
          <p:spPr bwMode="auto">
            <a:xfrm>
              <a:off x="3789675" y="3193526"/>
              <a:ext cx="1501831" cy="82243"/>
            </a:xfrm>
            <a:custGeom>
              <a:avLst/>
              <a:gdLst>
                <a:gd name="T0" fmla="*/ 1125 w 1260"/>
                <a:gd name="T1" fmla="*/ 0 h 69"/>
                <a:gd name="T2" fmla="*/ 1260 w 1260"/>
                <a:gd name="T3" fmla="*/ 69 h 69"/>
                <a:gd name="T4" fmla="*/ 0 w 1260"/>
                <a:gd name="T5" fmla="*/ 69 h 69"/>
                <a:gd name="T6" fmla="*/ 135 w 1260"/>
                <a:gd name="T7" fmla="*/ 0 h 69"/>
                <a:gd name="T8" fmla="*/ 1125 w 1260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9">
                  <a:moveTo>
                    <a:pt x="1125" y="0"/>
                  </a:moveTo>
                  <a:lnTo>
                    <a:pt x="1260" y="69"/>
                  </a:lnTo>
                  <a:lnTo>
                    <a:pt x="0" y="69"/>
                  </a:lnTo>
                  <a:lnTo>
                    <a:pt x="135" y="0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rgbClr val="9DD1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0" name="组合 9"/>
          <p:cNvGrpSpPr/>
          <p:nvPr>
            <p:custDataLst>
              <p:tags r:id="rId15"/>
            </p:custDataLst>
          </p:nvPr>
        </p:nvGrpSpPr>
        <p:grpSpPr>
          <a:xfrm>
            <a:off x="6360430" y="2248658"/>
            <a:ext cx="1990960" cy="3185534"/>
            <a:chOff x="5966262" y="2481944"/>
            <a:chExt cx="1811733" cy="2898772"/>
          </a:xfrm>
        </p:grpSpPr>
        <p:sp>
          <p:nvSpPr>
            <p:cNvPr id="11" name="Freeform 6"/>
            <p:cNvSpPr/>
            <p:nvPr>
              <p:custDataLst>
                <p:tags r:id="rId16"/>
              </p:custDataLst>
            </p:nvPr>
          </p:nvSpPr>
          <p:spPr bwMode="auto">
            <a:xfrm>
              <a:off x="5966262" y="3193526"/>
              <a:ext cx="1811733" cy="82243"/>
            </a:xfrm>
            <a:custGeom>
              <a:avLst/>
              <a:gdLst>
                <a:gd name="T0" fmla="*/ 163 w 1520"/>
                <a:gd name="T1" fmla="*/ 0 h 69"/>
                <a:gd name="T2" fmla="*/ 0 w 1520"/>
                <a:gd name="T3" fmla="*/ 69 h 69"/>
                <a:gd name="T4" fmla="*/ 1520 w 1520"/>
                <a:gd name="T5" fmla="*/ 69 h 69"/>
                <a:gd name="T6" fmla="*/ 1357 w 1520"/>
                <a:gd name="T7" fmla="*/ 0 h 69"/>
                <a:gd name="T8" fmla="*/ 163 w 1520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0" h="69">
                  <a:moveTo>
                    <a:pt x="163" y="0"/>
                  </a:moveTo>
                  <a:lnTo>
                    <a:pt x="0" y="69"/>
                  </a:lnTo>
                  <a:lnTo>
                    <a:pt x="1520" y="69"/>
                  </a:lnTo>
                  <a:lnTo>
                    <a:pt x="1357" y="0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1088E2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68" name="Freeform 7"/>
            <p:cNvSpPr/>
            <p:nvPr>
              <p:custDataLst>
                <p:tags r:id="rId17"/>
              </p:custDataLst>
            </p:nvPr>
          </p:nvSpPr>
          <p:spPr bwMode="auto">
            <a:xfrm>
              <a:off x="5966262" y="3275769"/>
              <a:ext cx="1811733" cy="2104947"/>
            </a:xfrm>
            <a:custGeom>
              <a:avLst/>
              <a:gdLst>
                <a:gd name="T0" fmla="*/ 641 w 641"/>
                <a:gd name="T1" fmla="*/ 0 h 746"/>
                <a:gd name="T2" fmla="*/ 641 w 641"/>
                <a:gd name="T3" fmla="*/ 425 h 746"/>
                <a:gd name="T4" fmla="*/ 320 w 641"/>
                <a:gd name="T5" fmla="*/ 746 h 746"/>
                <a:gd name="T6" fmla="*/ 0 w 641"/>
                <a:gd name="T7" fmla="*/ 425 h 746"/>
                <a:gd name="T8" fmla="*/ 0 w 641"/>
                <a:gd name="T9" fmla="*/ 0 h 746"/>
                <a:gd name="T10" fmla="*/ 641 w 641"/>
                <a:gd name="T11" fmla="*/ 0 h 7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1" h="746">
                  <a:moveTo>
                    <a:pt x="641" y="0"/>
                  </a:moveTo>
                  <a:cubicBezTo>
                    <a:pt x="641" y="425"/>
                    <a:pt x="641" y="425"/>
                    <a:pt x="641" y="425"/>
                  </a:cubicBezTo>
                  <a:cubicBezTo>
                    <a:pt x="641" y="602"/>
                    <a:pt x="497" y="746"/>
                    <a:pt x="320" y="746"/>
                  </a:cubicBezTo>
                  <a:cubicBezTo>
                    <a:pt x="143" y="746"/>
                    <a:pt x="0" y="602"/>
                    <a:pt x="0" y="425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641" y="0"/>
                  </a:lnTo>
                  <a:close/>
                </a:path>
              </a:pathLst>
            </a:custGeom>
            <a:solidFill>
              <a:srgbClr val="1088E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 useBgFill="1">
          <p:nvSpPr>
            <p:cNvPr id="69" name="Freeform 8"/>
            <p:cNvSpPr/>
            <p:nvPr>
              <p:custDataLst>
                <p:tags r:id="rId18"/>
              </p:custDataLst>
            </p:nvPr>
          </p:nvSpPr>
          <p:spPr bwMode="auto">
            <a:xfrm>
              <a:off x="6121212" y="3275769"/>
              <a:ext cx="1501831" cy="1949996"/>
            </a:xfrm>
            <a:custGeom>
              <a:avLst/>
              <a:gdLst>
                <a:gd name="T0" fmla="*/ 531 w 531"/>
                <a:gd name="T1" fmla="*/ 0 h 691"/>
                <a:gd name="T2" fmla="*/ 531 w 531"/>
                <a:gd name="T3" fmla="*/ 425 h 691"/>
                <a:gd name="T4" fmla="*/ 265 w 531"/>
                <a:gd name="T5" fmla="*/ 691 h 691"/>
                <a:gd name="T6" fmla="*/ 0 w 531"/>
                <a:gd name="T7" fmla="*/ 425 h 691"/>
                <a:gd name="T8" fmla="*/ 0 w 531"/>
                <a:gd name="T9" fmla="*/ 0 h 691"/>
                <a:gd name="T10" fmla="*/ 531 w 531"/>
                <a:gd name="T11" fmla="*/ 0 h 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1" h="691">
                  <a:moveTo>
                    <a:pt x="531" y="0"/>
                  </a:moveTo>
                  <a:cubicBezTo>
                    <a:pt x="531" y="425"/>
                    <a:pt x="531" y="425"/>
                    <a:pt x="531" y="425"/>
                  </a:cubicBezTo>
                  <a:cubicBezTo>
                    <a:pt x="531" y="572"/>
                    <a:pt x="412" y="691"/>
                    <a:pt x="265" y="691"/>
                  </a:cubicBezTo>
                  <a:cubicBezTo>
                    <a:pt x="119" y="691"/>
                    <a:pt x="0" y="572"/>
                    <a:pt x="0" y="425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531" y="0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72000" tIns="0" rIns="72000" bIns="144000" numCol="1" anchor="ctr" anchorCtr="0" compatLnSpc="1">
              <a:normAutofit/>
            </a:bodyPr>
            <a:p>
              <a:pPr algn="ctr">
                <a:lnSpc>
                  <a:spcPct val="110000"/>
                </a:lnSpc>
              </a:pPr>
              <a:r>
                <a:rPr lang="en-US" altLang="zh-CN" sz="2000" smtClean="0">
                  <a:solidFill>
                    <a:schemeClr val="bg1">
                      <a:lumMod val="95000"/>
                    </a:schemeClr>
                  </a:solidFill>
                </a:rPr>
                <a:t>通信结束时关闭文件</a:t>
              </a:r>
              <a:endParaRPr lang="en-US" altLang="zh-CN" sz="2000" smtClean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70" name="Freeform 9"/>
            <p:cNvSpPr/>
            <p:nvPr>
              <p:custDataLst>
                <p:tags r:id="rId19"/>
              </p:custDataLst>
            </p:nvPr>
          </p:nvSpPr>
          <p:spPr bwMode="auto">
            <a:xfrm>
              <a:off x="6160547" y="2481944"/>
              <a:ext cx="1423164" cy="711582"/>
            </a:xfrm>
            <a:custGeom>
              <a:avLst/>
              <a:gdLst>
                <a:gd name="T0" fmla="*/ 503 w 503"/>
                <a:gd name="T1" fmla="*/ 252 h 252"/>
                <a:gd name="T2" fmla="*/ 251 w 503"/>
                <a:gd name="T3" fmla="*/ 0 h 252"/>
                <a:gd name="T4" fmla="*/ 0 w 503"/>
                <a:gd name="T5" fmla="*/ 252 h 252"/>
                <a:gd name="T6" fmla="*/ 503 w 503"/>
                <a:gd name="T7" fmla="*/ 25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3" h="252">
                  <a:moveTo>
                    <a:pt x="503" y="252"/>
                  </a:moveTo>
                  <a:cubicBezTo>
                    <a:pt x="503" y="113"/>
                    <a:pt x="390" y="0"/>
                    <a:pt x="251" y="0"/>
                  </a:cubicBezTo>
                  <a:cubicBezTo>
                    <a:pt x="112" y="0"/>
                    <a:pt x="0" y="113"/>
                    <a:pt x="0" y="252"/>
                  </a:cubicBezTo>
                  <a:lnTo>
                    <a:pt x="503" y="252"/>
                  </a:lnTo>
                  <a:close/>
                </a:path>
              </a:pathLst>
            </a:custGeom>
            <a:solidFill>
              <a:srgbClr val="1088E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 useBgFill="1">
          <p:nvSpPr>
            <p:cNvPr id="71" name="Freeform 10"/>
            <p:cNvSpPr/>
            <p:nvPr>
              <p:custDataLst>
                <p:tags r:id="rId20"/>
              </p:custDataLst>
            </p:nvPr>
          </p:nvSpPr>
          <p:spPr bwMode="auto">
            <a:xfrm>
              <a:off x="6282123" y="2603521"/>
              <a:ext cx="1180010" cy="590006"/>
            </a:xfrm>
            <a:custGeom>
              <a:avLst/>
              <a:gdLst>
                <a:gd name="T0" fmla="*/ 0 w 417"/>
                <a:gd name="T1" fmla="*/ 209 h 209"/>
                <a:gd name="T2" fmla="*/ 208 w 417"/>
                <a:gd name="T3" fmla="*/ 0 h 209"/>
                <a:gd name="T4" fmla="*/ 417 w 417"/>
                <a:gd name="T5" fmla="*/ 209 h 209"/>
                <a:gd name="T6" fmla="*/ 0 w 417"/>
                <a:gd name="T7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7" h="209">
                  <a:moveTo>
                    <a:pt x="0" y="209"/>
                  </a:moveTo>
                  <a:cubicBezTo>
                    <a:pt x="0" y="94"/>
                    <a:pt x="93" y="0"/>
                    <a:pt x="208" y="0"/>
                  </a:cubicBezTo>
                  <a:cubicBezTo>
                    <a:pt x="323" y="0"/>
                    <a:pt x="417" y="94"/>
                    <a:pt x="417" y="209"/>
                  </a:cubicBezTo>
                  <a:lnTo>
                    <a:pt x="0" y="209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0" tIns="72000" rIns="0" bIns="0" numCol="1" anchor="ctr" anchorCtr="0" compatLnSpc="1">
              <a:normAutofit/>
            </a:bodyPr>
            <a:p>
              <a:pPr algn="ctr"/>
              <a:r>
                <a:rPr lang="en-US" altLang="zh-CN" sz="280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关闭</a:t>
              </a:r>
              <a:endParaRPr lang="en-US" altLang="zh-CN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2" name="Freeform 11"/>
            <p:cNvSpPr/>
            <p:nvPr>
              <p:custDataLst>
                <p:tags r:id="rId21"/>
              </p:custDataLst>
            </p:nvPr>
          </p:nvSpPr>
          <p:spPr bwMode="auto">
            <a:xfrm>
              <a:off x="6121212" y="3193526"/>
              <a:ext cx="1501831" cy="82243"/>
            </a:xfrm>
            <a:custGeom>
              <a:avLst/>
              <a:gdLst>
                <a:gd name="T0" fmla="*/ 1125 w 1260"/>
                <a:gd name="T1" fmla="*/ 0 h 69"/>
                <a:gd name="T2" fmla="*/ 1260 w 1260"/>
                <a:gd name="T3" fmla="*/ 69 h 69"/>
                <a:gd name="T4" fmla="*/ 0 w 1260"/>
                <a:gd name="T5" fmla="*/ 69 h 69"/>
                <a:gd name="T6" fmla="*/ 135 w 1260"/>
                <a:gd name="T7" fmla="*/ 0 h 69"/>
                <a:gd name="T8" fmla="*/ 1125 w 1260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0" h="69">
                  <a:moveTo>
                    <a:pt x="1125" y="0"/>
                  </a:moveTo>
                  <a:lnTo>
                    <a:pt x="1260" y="69"/>
                  </a:lnTo>
                  <a:lnTo>
                    <a:pt x="0" y="69"/>
                  </a:lnTo>
                  <a:lnTo>
                    <a:pt x="135" y="0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rgbClr val="9DD1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rmAutofit fontScale="25000" lnSpcReduction="20000"/>
            </a:bodyPr>
            <a:p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TCP</a:t>
            </a:r>
            <a:r>
              <a:rPr lang="zh-CN" altLang="en-US"/>
              <a:t>通信的实现过程</a:t>
            </a:r>
            <a:endParaRPr lang="zh-CN" altLang="en-US"/>
          </a:p>
        </p:txBody>
      </p:sp>
      <p:cxnSp>
        <p:nvCxnSpPr>
          <p:cNvPr id="9" name="直接连接符 8"/>
          <p:cNvCxnSpPr/>
          <p:nvPr>
            <p:custDataLst>
              <p:tags r:id="rId1"/>
            </p:custDataLst>
          </p:nvPr>
        </p:nvCxnSpPr>
        <p:spPr>
          <a:xfrm>
            <a:off x="1107128" y="2398732"/>
            <a:ext cx="5364000" cy="0"/>
          </a:xfrm>
          <a:prstGeom prst="line">
            <a:avLst/>
          </a:prstGeom>
          <a:ln w="12700">
            <a:solidFill>
              <a:srgbClr val="C0C0C0"/>
            </a:solidFill>
          </a:ln>
        </p:spPr>
        <p:style>
          <a:lnRef idx="1">
            <a:srgbClr val="92D050"/>
          </a:lnRef>
          <a:fillRef idx="0">
            <a:srgbClr val="92D050"/>
          </a:fillRef>
          <a:effectRef idx="0">
            <a:srgbClr val="92D050"/>
          </a:effectRef>
          <a:fontRef idx="minor">
            <a:srgbClr val="5F5F5F"/>
          </a:fontRef>
        </p:style>
      </p:cxn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1107128" y="3455166"/>
            <a:ext cx="5364000" cy="0"/>
          </a:xfrm>
          <a:prstGeom prst="line">
            <a:avLst/>
          </a:prstGeom>
          <a:ln w="12700">
            <a:solidFill>
              <a:srgbClr val="C0C0C0"/>
            </a:solidFill>
          </a:ln>
        </p:spPr>
        <p:style>
          <a:lnRef idx="1">
            <a:srgbClr val="92D050"/>
          </a:lnRef>
          <a:fillRef idx="0">
            <a:srgbClr val="92D050"/>
          </a:fillRef>
          <a:effectRef idx="0">
            <a:srgbClr val="92D050"/>
          </a:effectRef>
          <a:fontRef idx="minor">
            <a:srgbClr val="5F5F5F"/>
          </a:fontRef>
        </p:style>
      </p:cxn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1107128" y="4511601"/>
            <a:ext cx="5364000" cy="0"/>
          </a:xfrm>
          <a:prstGeom prst="line">
            <a:avLst/>
          </a:prstGeom>
          <a:ln w="12700">
            <a:solidFill>
              <a:srgbClr val="C0C0C0"/>
            </a:solidFill>
          </a:ln>
        </p:spPr>
        <p:style>
          <a:lnRef idx="1">
            <a:srgbClr val="92D050"/>
          </a:lnRef>
          <a:fillRef idx="0">
            <a:srgbClr val="92D050"/>
          </a:fillRef>
          <a:effectRef idx="0">
            <a:srgbClr val="92D050"/>
          </a:effectRef>
          <a:fontRef idx="minor">
            <a:srgbClr val="5F5F5F"/>
          </a:fontRef>
        </p:style>
      </p:cxnSp>
      <p:cxnSp>
        <p:nvCxnSpPr>
          <p:cNvPr id="12" name="直接连接符 11"/>
          <p:cNvCxnSpPr/>
          <p:nvPr>
            <p:custDataLst>
              <p:tags r:id="rId4"/>
            </p:custDataLst>
          </p:nvPr>
        </p:nvCxnSpPr>
        <p:spPr>
          <a:xfrm>
            <a:off x="1107128" y="5568035"/>
            <a:ext cx="5364000" cy="0"/>
          </a:xfrm>
          <a:prstGeom prst="line">
            <a:avLst/>
          </a:prstGeom>
          <a:ln w="12700">
            <a:solidFill>
              <a:srgbClr val="C0C0C0"/>
            </a:solidFill>
          </a:ln>
        </p:spPr>
        <p:style>
          <a:lnRef idx="1">
            <a:srgbClr val="92D050"/>
          </a:lnRef>
          <a:fillRef idx="0">
            <a:srgbClr val="92D050"/>
          </a:fillRef>
          <a:effectRef idx="0">
            <a:srgbClr val="92D050"/>
          </a:effectRef>
          <a:fontRef idx="minor">
            <a:srgbClr val="5F5F5F"/>
          </a:fontRef>
        </p:style>
      </p:cxnSp>
      <p:grpSp>
        <p:nvGrpSpPr>
          <p:cNvPr id="3" name="组合 2"/>
          <p:cNvGrpSpPr/>
          <p:nvPr/>
        </p:nvGrpSpPr>
        <p:grpSpPr>
          <a:xfrm>
            <a:off x="1971040" y="2433320"/>
            <a:ext cx="4196080" cy="1019810"/>
            <a:chOff x="3104" y="3832"/>
            <a:chExt cx="6608" cy="1606"/>
          </a:xfrm>
        </p:grpSpPr>
        <p:sp>
          <p:nvSpPr>
            <p:cNvPr id="15" name="TextBox 20"/>
            <p:cNvSpPr txBox="1"/>
            <p:nvPr>
              <p:custDataLst>
                <p:tags r:id="rId5"/>
              </p:custDataLst>
            </p:nvPr>
          </p:nvSpPr>
          <p:spPr>
            <a:xfrm>
              <a:off x="3104" y="4644"/>
              <a:ext cx="6608" cy="79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p>
              <a:pPr algn="just"/>
              <a:r>
                <a:rPr lang="en-US" altLang="zh-CN" dirty="0">
                  <a:solidFill>
                    <a:sysClr val="window" lastClr="FFFFFF">
                      <a:lumMod val="65000"/>
                    </a:sysClr>
                  </a:solidFill>
                </a:rPr>
                <a:t>socket, bind, listen, accept</a:t>
              </a:r>
              <a:endParaRPr lang="en-US" altLang="zh-CN" dirty="0">
                <a:solidFill>
                  <a:sysClr val="window" lastClr="FFFFFF">
                    <a:lumMod val="65000"/>
                  </a:sysClr>
                </a:solidFill>
              </a:endParaRPr>
            </a:p>
          </p:txBody>
        </p:sp>
        <p:sp>
          <p:nvSpPr>
            <p:cNvPr id="16" name="Rectangle 1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gray">
            <a:xfrm>
              <a:off x="3104" y="3832"/>
              <a:ext cx="6608" cy="8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anchor="ctr" anchorCtr="0">
              <a:normAutofit/>
            </a:bodyPr>
            <a:p>
              <a:r>
                <a:rPr lang="zh-CN" altLang="en-US" sz="2400" b="1" dirty="0">
                  <a:solidFill>
                    <a:srgbClr val="9DD1FD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</a:rPr>
                <a:t>建立连接</a:t>
              </a:r>
              <a:endParaRPr lang="zh-CN" altLang="en-US" sz="2400" b="1" dirty="0">
                <a:solidFill>
                  <a:srgbClr val="9DD1F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</p:grpSp>
      <p:sp>
        <p:nvSpPr>
          <p:cNvPr id="51" name="任意多边形 50"/>
          <p:cNvSpPr/>
          <p:nvPr>
            <p:custDataLst>
              <p:tags r:id="rId7"/>
            </p:custDataLst>
          </p:nvPr>
        </p:nvSpPr>
        <p:spPr>
          <a:xfrm>
            <a:off x="1107440" y="2431415"/>
            <a:ext cx="638810" cy="997585"/>
          </a:xfrm>
          <a:custGeom>
            <a:avLst/>
            <a:gdLst>
              <a:gd name="connsiteX0" fmla="*/ 251680 w 638591"/>
              <a:gd name="connsiteY0" fmla="*/ 1 h 773823"/>
              <a:gd name="connsiteX1" fmla="*/ 638591 w 638591"/>
              <a:gd name="connsiteY1" fmla="*/ 386912 h 773823"/>
              <a:gd name="connsiteX2" fmla="*/ 251680 w 638591"/>
              <a:gd name="connsiteY2" fmla="*/ 773822 h 773823"/>
              <a:gd name="connsiteX3" fmla="*/ 0 w 638591"/>
              <a:gd name="connsiteY3" fmla="*/ 0 h 773823"/>
              <a:gd name="connsiteX4" fmla="*/ 251679 w 638591"/>
              <a:gd name="connsiteY4" fmla="*/ 0 h 773823"/>
              <a:gd name="connsiteX5" fmla="*/ 251679 w 638591"/>
              <a:gd name="connsiteY5" fmla="*/ 773823 h 773823"/>
              <a:gd name="connsiteX6" fmla="*/ 0 w 638591"/>
              <a:gd name="connsiteY6" fmla="*/ 773823 h 773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8591" h="773823">
                <a:moveTo>
                  <a:pt x="251680" y="1"/>
                </a:moveTo>
                <a:lnTo>
                  <a:pt x="638591" y="386912"/>
                </a:lnTo>
                <a:lnTo>
                  <a:pt x="251680" y="773822"/>
                </a:lnTo>
                <a:close/>
                <a:moveTo>
                  <a:pt x="0" y="0"/>
                </a:moveTo>
                <a:lnTo>
                  <a:pt x="251679" y="0"/>
                </a:lnTo>
                <a:lnTo>
                  <a:pt x="251679" y="773823"/>
                </a:lnTo>
                <a:lnTo>
                  <a:pt x="0" y="773823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  <p:style>
          <a:lnRef idx="2">
            <a:srgbClr val="92D050">
              <a:shade val="50000"/>
            </a:srgbClr>
          </a:lnRef>
          <a:fillRef idx="1">
            <a:srgbClr val="92D050"/>
          </a:fillRef>
          <a:effectRef idx="0">
            <a:srgbClr val="92D050"/>
          </a:effectRef>
          <a:fontRef idx="minor">
            <a:sysClr val="window" lastClr="FFFFFF"/>
          </a:fontRef>
        </p:style>
        <p:txBody>
          <a:bodyPr lIns="0" tIns="0" rIns="144000" bIns="0" rtlCol="0" anchor="ctr">
            <a:normAutofit/>
          </a:bodyPr>
          <a:p>
            <a:pPr algn="ctr"/>
            <a:r>
              <a:rPr lang="en-US" altLang="zh-CN" sz="2000" dirty="0">
                <a:solidFill>
                  <a:sysClr val="window" lastClr="FFFFFF"/>
                </a:solidFill>
              </a:rPr>
              <a:t>01</a:t>
            </a:r>
            <a:endParaRPr lang="zh-CN" altLang="en-US" sz="2000" dirty="0">
              <a:solidFill>
                <a:sysClr val="window" lastClr="FFFFFF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971040" y="3512185"/>
            <a:ext cx="4196080" cy="1019810"/>
            <a:chOff x="3104" y="5531"/>
            <a:chExt cx="6608" cy="1606"/>
          </a:xfrm>
        </p:grpSpPr>
        <p:sp>
          <p:nvSpPr>
            <p:cNvPr id="18" name="TextBox 50"/>
            <p:cNvSpPr txBox="1"/>
            <p:nvPr>
              <p:custDataLst>
                <p:tags r:id="rId8"/>
              </p:custDataLst>
            </p:nvPr>
          </p:nvSpPr>
          <p:spPr>
            <a:xfrm>
              <a:off x="3104" y="6343"/>
              <a:ext cx="6608" cy="79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p>
              <a:pPr algn="just"/>
              <a:r>
                <a:rPr lang="en-US" altLang="zh-CN" dirty="0">
                  <a:solidFill>
                    <a:sysClr val="window" lastClr="FFFFFF">
                      <a:lumMod val="65000"/>
                    </a:sysClr>
                  </a:solidFill>
                </a:rPr>
                <a:t>read/write    recv/send</a:t>
              </a:r>
              <a:endParaRPr lang="en-US" altLang="zh-CN" dirty="0">
                <a:solidFill>
                  <a:sysClr val="window" lastClr="FFFFFF">
                    <a:lumMod val="65000"/>
                  </a:sysClr>
                </a:solidFill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gray">
            <a:xfrm>
              <a:off x="3104" y="5531"/>
              <a:ext cx="6608" cy="8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anchor="ctr" anchorCtr="0">
              <a:normAutofit/>
            </a:bodyPr>
            <a:p>
              <a:r>
                <a:rPr lang="zh-CN" altLang="en-US" sz="2400" b="1" dirty="0">
                  <a:solidFill>
                    <a:srgbClr val="9DD1FD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</a:rPr>
                <a:t>数据传送</a:t>
              </a:r>
              <a:endParaRPr lang="zh-CN" altLang="en-US" sz="2400" b="1" dirty="0">
                <a:solidFill>
                  <a:srgbClr val="9DD1F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</p:grpSp>
      <p:sp>
        <p:nvSpPr>
          <p:cNvPr id="52" name="任意多边形 51"/>
          <p:cNvSpPr/>
          <p:nvPr>
            <p:custDataLst>
              <p:tags r:id="rId10"/>
            </p:custDataLst>
          </p:nvPr>
        </p:nvSpPr>
        <p:spPr>
          <a:xfrm>
            <a:off x="1107440" y="3486785"/>
            <a:ext cx="638810" cy="997585"/>
          </a:xfrm>
          <a:custGeom>
            <a:avLst/>
            <a:gdLst>
              <a:gd name="connsiteX0" fmla="*/ 251680 w 638591"/>
              <a:gd name="connsiteY0" fmla="*/ 1 h 773823"/>
              <a:gd name="connsiteX1" fmla="*/ 638591 w 638591"/>
              <a:gd name="connsiteY1" fmla="*/ 386913 h 773823"/>
              <a:gd name="connsiteX2" fmla="*/ 251680 w 638591"/>
              <a:gd name="connsiteY2" fmla="*/ 773822 h 773823"/>
              <a:gd name="connsiteX3" fmla="*/ 0 w 638591"/>
              <a:gd name="connsiteY3" fmla="*/ 0 h 773823"/>
              <a:gd name="connsiteX4" fmla="*/ 251679 w 638591"/>
              <a:gd name="connsiteY4" fmla="*/ 0 h 773823"/>
              <a:gd name="connsiteX5" fmla="*/ 251679 w 638591"/>
              <a:gd name="connsiteY5" fmla="*/ 773823 h 773823"/>
              <a:gd name="connsiteX6" fmla="*/ 0 w 638591"/>
              <a:gd name="connsiteY6" fmla="*/ 773823 h 773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8591" h="773823">
                <a:moveTo>
                  <a:pt x="251680" y="1"/>
                </a:moveTo>
                <a:lnTo>
                  <a:pt x="638591" y="386913"/>
                </a:lnTo>
                <a:lnTo>
                  <a:pt x="251680" y="773822"/>
                </a:lnTo>
                <a:close/>
                <a:moveTo>
                  <a:pt x="0" y="0"/>
                </a:moveTo>
                <a:lnTo>
                  <a:pt x="251679" y="0"/>
                </a:lnTo>
                <a:lnTo>
                  <a:pt x="251679" y="773823"/>
                </a:lnTo>
                <a:lnTo>
                  <a:pt x="0" y="773823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  <p:style>
          <a:lnRef idx="2">
            <a:srgbClr val="92D050">
              <a:shade val="50000"/>
            </a:srgbClr>
          </a:lnRef>
          <a:fillRef idx="1">
            <a:srgbClr val="92D050"/>
          </a:fillRef>
          <a:effectRef idx="0">
            <a:srgbClr val="92D050"/>
          </a:effectRef>
          <a:fontRef idx="minor">
            <a:sysClr val="window" lastClr="FFFFFF"/>
          </a:fontRef>
        </p:style>
        <p:txBody>
          <a:bodyPr lIns="0" tIns="0" rIns="144000" bIns="0" rtlCol="0" anchor="ctr">
            <a:normAutofit/>
          </a:bodyPr>
          <a:p>
            <a:pPr algn="ctr"/>
            <a:r>
              <a:rPr lang="en-US" altLang="zh-CN" sz="2000" dirty="0">
                <a:solidFill>
                  <a:sysClr val="window" lastClr="FFFFFF"/>
                </a:solidFill>
              </a:rPr>
              <a:t>02</a:t>
            </a:r>
            <a:endParaRPr lang="zh-CN" altLang="en-US" sz="2000" dirty="0">
              <a:solidFill>
                <a:sysClr val="window" lastClr="FFFFFF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971040" y="4570095"/>
            <a:ext cx="4196080" cy="1020445"/>
            <a:chOff x="3104" y="7197"/>
            <a:chExt cx="6608" cy="1607"/>
          </a:xfrm>
        </p:grpSpPr>
        <p:sp>
          <p:nvSpPr>
            <p:cNvPr id="21" name="TextBox 53"/>
            <p:cNvSpPr txBox="1"/>
            <p:nvPr>
              <p:custDataLst>
                <p:tags r:id="rId11"/>
              </p:custDataLst>
            </p:nvPr>
          </p:nvSpPr>
          <p:spPr>
            <a:xfrm>
              <a:off x="3104" y="8010"/>
              <a:ext cx="6608" cy="79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p>
              <a:pPr algn="just"/>
              <a:r>
                <a:rPr lang="en-US" altLang="zh-CN" dirty="0">
                  <a:solidFill>
                    <a:sysClr val="window" lastClr="FFFFFF">
                      <a:lumMod val="65000"/>
                    </a:sysClr>
                  </a:solidFill>
                </a:rPr>
                <a:t>close  shutdown</a:t>
              </a:r>
              <a:endParaRPr lang="en-US" altLang="zh-CN" dirty="0">
                <a:solidFill>
                  <a:sysClr val="window" lastClr="FFFFFF">
                    <a:lumMod val="65000"/>
                  </a:sysClr>
                </a:solidFill>
              </a:endParaRPr>
            </a:p>
          </p:txBody>
        </p:sp>
        <p:sp>
          <p:nvSpPr>
            <p:cNvPr id="22" name="Rectangle 11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gray">
            <a:xfrm>
              <a:off x="3104" y="7197"/>
              <a:ext cx="6608" cy="8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anchor="ctr" anchorCtr="0">
              <a:normAutofit/>
            </a:bodyPr>
            <a:p>
              <a:r>
                <a:rPr lang="zh-CN" altLang="en-US" sz="2400" b="1" dirty="0">
                  <a:solidFill>
                    <a:srgbClr val="9DD1FD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</a:rPr>
                <a:t>连接释放</a:t>
              </a:r>
              <a:endParaRPr lang="zh-CN" altLang="en-US" sz="2400" b="1" dirty="0">
                <a:solidFill>
                  <a:srgbClr val="9DD1F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</p:grpSp>
      <p:sp>
        <p:nvSpPr>
          <p:cNvPr id="53" name="任意多边形 52"/>
          <p:cNvSpPr/>
          <p:nvPr>
            <p:custDataLst>
              <p:tags r:id="rId13"/>
            </p:custDataLst>
          </p:nvPr>
        </p:nvSpPr>
        <p:spPr>
          <a:xfrm>
            <a:off x="1107440" y="4537710"/>
            <a:ext cx="638810" cy="997585"/>
          </a:xfrm>
          <a:custGeom>
            <a:avLst/>
            <a:gdLst>
              <a:gd name="connsiteX0" fmla="*/ 251680 w 638591"/>
              <a:gd name="connsiteY0" fmla="*/ 1 h 773823"/>
              <a:gd name="connsiteX1" fmla="*/ 638591 w 638591"/>
              <a:gd name="connsiteY1" fmla="*/ 386913 h 773823"/>
              <a:gd name="connsiteX2" fmla="*/ 251680 w 638591"/>
              <a:gd name="connsiteY2" fmla="*/ 773822 h 773823"/>
              <a:gd name="connsiteX3" fmla="*/ 0 w 638591"/>
              <a:gd name="connsiteY3" fmla="*/ 0 h 773823"/>
              <a:gd name="connsiteX4" fmla="*/ 251679 w 638591"/>
              <a:gd name="connsiteY4" fmla="*/ 0 h 773823"/>
              <a:gd name="connsiteX5" fmla="*/ 251679 w 638591"/>
              <a:gd name="connsiteY5" fmla="*/ 773823 h 773823"/>
              <a:gd name="connsiteX6" fmla="*/ 0 w 638591"/>
              <a:gd name="connsiteY6" fmla="*/ 773823 h 773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8591" h="773823">
                <a:moveTo>
                  <a:pt x="251680" y="1"/>
                </a:moveTo>
                <a:lnTo>
                  <a:pt x="638591" y="386913"/>
                </a:lnTo>
                <a:lnTo>
                  <a:pt x="251680" y="773822"/>
                </a:lnTo>
                <a:close/>
                <a:moveTo>
                  <a:pt x="0" y="0"/>
                </a:moveTo>
                <a:lnTo>
                  <a:pt x="251679" y="0"/>
                </a:lnTo>
                <a:lnTo>
                  <a:pt x="251679" y="773823"/>
                </a:lnTo>
                <a:lnTo>
                  <a:pt x="0" y="773823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  <p:style>
          <a:lnRef idx="2">
            <a:srgbClr val="92D050">
              <a:shade val="50000"/>
            </a:srgbClr>
          </a:lnRef>
          <a:fillRef idx="1">
            <a:srgbClr val="92D050"/>
          </a:fillRef>
          <a:effectRef idx="0">
            <a:srgbClr val="92D050"/>
          </a:effectRef>
          <a:fontRef idx="minor">
            <a:sysClr val="window" lastClr="FFFFFF"/>
          </a:fontRef>
        </p:style>
        <p:txBody>
          <a:bodyPr lIns="0" tIns="0" rIns="144000" bIns="0" rtlCol="0" anchor="ctr">
            <a:normAutofit/>
          </a:bodyPr>
          <a:p>
            <a:pPr algn="ctr"/>
            <a:r>
              <a:rPr lang="en-US" altLang="zh-CN" sz="2000" dirty="0">
                <a:solidFill>
                  <a:sysClr val="window" lastClr="FFFFFF"/>
                </a:solidFill>
              </a:rPr>
              <a:t>03</a:t>
            </a:r>
            <a:endParaRPr lang="zh-CN" altLang="en-US" sz="2000" dirty="0">
              <a:solidFill>
                <a:sysClr val="window" lastClr="FFFFFF"/>
              </a:solidFill>
            </a:endParaRPr>
          </a:p>
        </p:txBody>
      </p:sp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(1-(ceil(((deg(atan(abs((#ppt_y-0.5)/(#ppt_x-0.5)))))/90)-0*(1/3))-ceil(((deg(atan(abs((#ppt_y-0.5)/(#ppt_x-0.5)))))/90)-1*(1/3)))))*((1+floor(#ppt_y-0.5))+(2*floor(#ppt_y-0.5)+1)*0.5*#ppt_h)+(1-(1-(ceil(((deg(atan(abs((#ppt_y-0.5)/(#ppt_x-0.5)))))/90)-0*(1/3))-ceil(((deg(atan(abs((#ppt_y-0.5)/(#ppt_x-0.5)))))/90)-1*(1/3)))))*#ppt_y&#10;"/>
                                          </p:val>
                                        </p:tav>
                                        <p:tav tm="40700">
                                          <p:val>
                                            <p:strVal val="#ppt_y-((floor(#ppt_y-0.5)+ceil(#ppt_y-0.5))*0.02)"/>
                                          </p:val>
                                        </p:tav>
                                        <p:tav tm="58900">
                                          <p:val>
                                            <p:strVal val="#ppt_y+((floor(#ppt_y-0.5)+ceil(#ppt_y-0.5))*0.03)"/>
                                          </p:val>
                                        </p:tav>
                                        <p:tav tm="80400">
                                          <p:val>
                                            <p:strVal val="#ppt_y-((floor(#ppt_y-0.5)+ceil(#ppt_y-0.5))*0.01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(1-(ceil(((deg(atan(abs((#ppt_y-0.5)/(#ppt_x-0.5)))))/90)-2*(1/3))-ceil(((deg(atan(abs((#ppt_y-0.5)/(#ppt_x-0.5)))))/90)-3*(1/3)))))*((1+floor(#ppt_x-0.5))+(2*floor(#ppt_x-0.5)+1)*0.5*#ppt_w)+(1-(1-(ceil(((deg(atan(abs((#ppt_y-0.5)/(#ppt_x-0.5)))))/90)-2*(1/3))-ceil(((deg(atan(abs((#ppt_y-0.5)/(#ppt_x-0.5)))))/90)-3*(1/3)))))*#ppt_x&#10;"/>
                                          </p:val>
                                        </p:tav>
                                        <p:tav tm="40000">
                                          <p:val>
                                            <p:strVal val="#ppt_x-((floor(#ppt_x-0.5)+ceil(#ppt_x-0.5))*0.02)"/>
                                          </p:val>
                                        </p:tav>
                                        <p:tav tm="60400">
                                          <p:val>
                                            <p:strVal val="#ppt_x+((floor(#ppt_x-0.5)+ceil(#ppt_x-0.5))*0.03)"/>
                                          </p:val>
                                        </p:tav>
                                        <p:tav tm="80000">
                                          <p:val>
                                            <p:strVal val="#ppt_x-((floor(#ppt_x-0.5)+ceil(#ppt_x-0.5))*0.01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(1-(ceil(((deg(atan(abs((#ppt_y-0.5)/(#ppt_x-0.5)))))/90)-0*(1/3))-ceil(((deg(atan(abs((#ppt_y-0.5)/(#ppt_x-0.5)))))/90)-1*(1/3)))))*((1+floor(#ppt_y-0.5))+(2*floor(#ppt_y-0.5)+1)*0.5*#ppt_h)+(1-(1-(ceil(((deg(atan(abs((#ppt_y-0.5)/(#ppt_x-0.5)))))/90)-0*(1/3))-ceil(((deg(atan(abs((#ppt_y-0.5)/(#ppt_x-0.5)))))/90)-1*(1/3)))))*#ppt_y&#10;"/>
                                          </p:val>
                                        </p:tav>
                                        <p:tav tm="40700">
                                          <p:val>
                                            <p:strVal val="#ppt_y-((floor(#ppt_y-0.5)+ceil(#ppt_y-0.5))*0.02)"/>
                                          </p:val>
                                        </p:tav>
                                        <p:tav tm="58900">
                                          <p:val>
                                            <p:strVal val="#ppt_y+((floor(#ppt_y-0.5)+ceil(#ppt_y-0.5))*0.03)"/>
                                          </p:val>
                                        </p:tav>
                                        <p:tav tm="80400">
                                          <p:val>
                                            <p:strVal val="#ppt_y-((floor(#ppt_y-0.5)+ceil(#ppt_y-0.5))*0.01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(1-(ceil(((deg(atan(abs((#ppt_y-0.5)/(#ppt_x-0.5)))))/90)-2*(1/3))-ceil(((deg(atan(abs((#ppt_y-0.5)/(#ppt_x-0.5)))))/90)-3*(1/3)))))*((1+floor(#ppt_x-0.5))+(2*floor(#ppt_x-0.5)+1)*0.5*#ppt_w)+(1-(1-(ceil(((deg(atan(abs((#ppt_y-0.5)/(#ppt_x-0.5)))))/90)-2*(1/3))-ceil(((deg(atan(abs((#ppt_y-0.5)/(#ppt_x-0.5)))))/90)-3*(1/3)))))*#ppt_x&#10;"/>
                                          </p:val>
                                        </p:tav>
                                        <p:tav tm="40000">
                                          <p:val>
                                            <p:strVal val="#ppt_x-((floor(#ppt_x-0.5)+ceil(#ppt_x-0.5))*0.02)"/>
                                          </p:val>
                                        </p:tav>
                                        <p:tav tm="60400">
                                          <p:val>
                                            <p:strVal val="#ppt_x+((floor(#ppt_x-0.5)+ceil(#ppt_x-0.5))*0.03)"/>
                                          </p:val>
                                        </p:tav>
                                        <p:tav tm="80000">
                                          <p:val>
                                            <p:strVal val="#ppt_x-((floor(#ppt_x-0.5)+ceil(#ppt_x-0.5))*0.01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(1-(ceil(((deg(atan(abs((#ppt_y-0.5)/(#ppt_x-0.5)))))/90)-0*(1/3))-ceil(((deg(atan(abs((#ppt_y-0.5)/(#ppt_x-0.5)))))/90)-1*(1/3)))))*((1+floor(#ppt_y-0.5))+(2*floor(#ppt_y-0.5)+1)*0.5*#ppt_h)+(1-(1-(ceil(((deg(atan(abs((#ppt_y-0.5)/(#ppt_x-0.5)))))/90)-0*(1/3))-ceil(((deg(atan(abs((#ppt_y-0.5)/(#ppt_x-0.5)))))/90)-1*(1/3)))))*#ppt_y&#10;"/>
                                          </p:val>
                                        </p:tav>
                                        <p:tav tm="40700">
                                          <p:val>
                                            <p:strVal val="#ppt_y-((floor(#ppt_y-0.5)+ceil(#ppt_y-0.5))*0.02)"/>
                                          </p:val>
                                        </p:tav>
                                        <p:tav tm="58900">
                                          <p:val>
                                            <p:strVal val="#ppt_y+((floor(#ppt_y-0.5)+ceil(#ppt_y-0.5))*0.03)"/>
                                          </p:val>
                                        </p:tav>
                                        <p:tav tm="80400">
                                          <p:val>
                                            <p:strVal val="#ppt_y-((floor(#ppt_y-0.5)+ceil(#ppt_y-0.5))*0.01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(1-(ceil(((deg(atan(abs((#ppt_y-0.5)/(#ppt_x-0.5)))))/90)-2*(1/3))-ceil(((deg(atan(abs((#ppt_y-0.5)/(#ppt_x-0.5)))))/90)-3*(1/3)))))*((1+floor(#ppt_x-0.5))+(2*floor(#ppt_x-0.5)+1)*0.5*#ppt_w)+(1-(1-(ceil(((deg(atan(abs((#ppt_y-0.5)/(#ppt_x-0.5)))))/90)-2*(1/3))-ceil(((deg(atan(abs((#ppt_y-0.5)/(#ppt_x-0.5)))))/90)-3*(1/3)))))*#ppt_x&#10;"/>
                                          </p:val>
                                        </p:tav>
                                        <p:tav tm="40000">
                                          <p:val>
                                            <p:strVal val="#ppt_x-((floor(#ppt_x-0.5)+ceil(#ppt_x-0.5))*0.02)"/>
                                          </p:val>
                                        </p:tav>
                                        <p:tav tm="60400">
                                          <p:val>
                                            <p:strVal val="#ppt_x+((floor(#ppt_x-0.5)+ceil(#ppt_x-0.5))*0.03)"/>
                                          </p:val>
                                        </p:tav>
                                        <p:tav tm="80000">
                                          <p:val>
                                            <p:strVal val="#ppt_x-((floor(#ppt_x-0.5)+ceil(#ppt_x-0.5))*0.01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TCP</a:t>
            </a:r>
            <a:r>
              <a:rPr lang="zh-CN" altLang="en-US">
                <a:sym typeface="+mn-ea"/>
              </a:rPr>
              <a:t>通信的实现过程</a:t>
            </a:r>
            <a:endParaRPr lang="zh-CN" altLang="en-US"/>
          </a:p>
        </p:txBody>
      </p:sp>
      <p:sp>
        <p:nvSpPr>
          <p:cNvPr id="5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822490" y="1446115"/>
            <a:ext cx="1270000" cy="420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13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服务器端</a:t>
            </a:r>
            <a:endParaRPr lang="zh-CN" altLang="en-US" sz="213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 Box 1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19599" y="1446115"/>
            <a:ext cx="998220" cy="420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13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客户端</a:t>
            </a:r>
            <a:endParaRPr lang="zh-CN" altLang="en-US" sz="213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/>
          <p:cNvSpPr/>
          <p:nvPr>
            <p:custDataLst>
              <p:tags r:id="rId3"/>
            </p:custDataLst>
          </p:nvPr>
        </p:nvSpPr>
        <p:spPr>
          <a:xfrm>
            <a:off x="838025" y="1829630"/>
            <a:ext cx="8478344" cy="2151016"/>
          </a:xfrm>
          <a:prstGeom prst="rect">
            <a:avLst/>
          </a:prstGeom>
          <a:noFill/>
          <a:ln w="12700">
            <a:solidFill>
              <a:srgbClr val="9DD1F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838025" y="3983110"/>
            <a:ext cx="8478344" cy="1285809"/>
          </a:xfrm>
          <a:prstGeom prst="rect">
            <a:avLst/>
          </a:prstGeom>
          <a:noFill/>
          <a:ln w="12700">
            <a:solidFill>
              <a:srgbClr val="9DD1F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838025" y="5268920"/>
            <a:ext cx="8478344" cy="596867"/>
          </a:xfrm>
          <a:prstGeom prst="rect">
            <a:avLst/>
          </a:prstGeom>
          <a:noFill/>
          <a:ln w="12700">
            <a:solidFill>
              <a:srgbClr val="9DD1F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 Box 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028934" y="1781120"/>
            <a:ext cx="95377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socket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139322" y="2358587"/>
            <a:ext cx="72326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bind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080800" y="2983404"/>
            <a:ext cx="8305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listen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 Box 8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011167" y="3608220"/>
            <a:ext cx="96012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accept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 Box 9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28222" y="4233038"/>
            <a:ext cx="7162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read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 Box 10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085256" y="4857856"/>
            <a:ext cx="7924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write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 Box 11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083425" y="5482672"/>
            <a:ext cx="78803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close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Line 12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6502576" y="2136614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Line 13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6502576" y="2733478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Line 14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6502576" y="3330343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Line 15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6502576" y="4001200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Line 16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6502576" y="4672056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Line 17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>
            <a:off x="6502576" y="5268920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 Box 19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280127" y="3038974"/>
            <a:ext cx="95377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socket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 Box 20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398874" y="4857856"/>
            <a:ext cx="7162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read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 Box 21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360773" y="4233038"/>
            <a:ext cx="7924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write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 Box 22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2363805" y="5482672"/>
            <a:ext cx="78803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close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 Box 23"/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2193626" y="3614799"/>
            <a:ext cx="112839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connect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Line 24"/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2757013" y="3386247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Line 25"/>
          <p:cNvSpPr>
            <a:spLocks noChangeShapeType="1"/>
          </p:cNvSpPr>
          <p:nvPr>
            <p:custDataLst>
              <p:tags r:id="rId25"/>
            </p:custDataLst>
          </p:nvPr>
        </p:nvSpPr>
        <p:spPr bwMode="auto">
          <a:xfrm>
            <a:off x="2757013" y="3983111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Line 26"/>
          <p:cNvSpPr>
            <a:spLocks noChangeShapeType="1"/>
          </p:cNvSpPr>
          <p:nvPr>
            <p:custDataLst>
              <p:tags r:id="rId26"/>
            </p:custDataLst>
          </p:nvPr>
        </p:nvSpPr>
        <p:spPr bwMode="auto">
          <a:xfrm>
            <a:off x="2757013" y="4579978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Line 27"/>
          <p:cNvSpPr>
            <a:spLocks noChangeShapeType="1"/>
          </p:cNvSpPr>
          <p:nvPr>
            <p:custDataLst>
              <p:tags r:id="rId27"/>
            </p:custDataLst>
          </p:nvPr>
        </p:nvSpPr>
        <p:spPr bwMode="auto">
          <a:xfrm>
            <a:off x="2757013" y="5250834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Freeform 28"/>
          <p:cNvSpPr/>
          <p:nvPr>
            <p:custDataLst>
              <p:tags r:id="rId28"/>
            </p:custDataLst>
          </p:nvPr>
        </p:nvSpPr>
        <p:spPr bwMode="auto">
          <a:xfrm flipH="1">
            <a:off x="1525512" y="4461442"/>
            <a:ext cx="875587" cy="616596"/>
          </a:xfrm>
          <a:custGeom>
            <a:avLst/>
            <a:gdLst>
              <a:gd name="T0" fmla="*/ 0 w 540"/>
              <a:gd name="T1" fmla="*/ 2147483646 h 391"/>
              <a:gd name="T2" fmla="*/ 2147483646 w 540"/>
              <a:gd name="T3" fmla="*/ 2147483646 h 391"/>
              <a:gd name="T4" fmla="*/ 2147483646 w 540"/>
              <a:gd name="T5" fmla="*/ 2147483646 h 391"/>
              <a:gd name="T6" fmla="*/ 2147483646 w 540"/>
              <a:gd name="T7" fmla="*/ 2147483646 h 391"/>
              <a:gd name="T8" fmla="*/ 2147483646 w 540"/>
              <a:gd name="T9" fmla="*/ 2147483646 h 391"/>
              <a:gd name="T10" fmla="*/ 2147483646 w 540"/>
              <a:gd name="T11" fmla="*/ 2147483646 h 391"/>
              <a:gd name="T12" fmla="*/ 2147483646 w 540"/>
              <a:gd name="T13" fmla="*/ 2147483646 h 391"/>
              <a:gd name="T14" fmla="*/ 2147483646 w 540"/>
              <a:gd name="T15" fmla="*/ 2147483646 h 391"/>
              <a:gd name="T16" fmla="*/ 0 w 540"/>
              <a:gd name="T17" fmla="*/ 2147483646 h 39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40" h="391">
                <a:moveTo>
                  <a:pt x="0" y="384"/>
                </a:moveTo>
                <a:cubicBezTo>
                  <a:pt x="52" y="385"/>
                  <a:pt x="240" y="389"/>
                  <a:pt x="311" y="389"/>
                </a:cubicBezTo>
                <a:cubicBezTo>
                  <a:pt x="382" y="389"/>
                  <a:pt x="397" y="391"/>
                  <a:pt x="427" y="385"/>
                </a:cubicBezTo>
                <a:cubicBezTo>
                  <a:pt x="457" y="379"/>
                  <a:pt x="477" y="372"/>
                  <a:pt x="494" y="355"/>
                </a:cubicBezTo>
                <a:cubicBezTo>
                  <a:pt x="511" y="338"/>
                  <a:pt x="523" y="324"/>
                  <a:pt x="529" y="284"/>
                </a:cubicBezTo>
                <a:cubicBezTo>
                  <a:pt x="535" y="244"/>
                  <a:pt x="540" y="155"/>
                  <a:pt x="533" y="113"/>
                </a:cubicBezTo>
                <a:cubicBezTo>
                  <a:pt x="526" y="71"/>
                  <a:pt x="515" y="52"/>
                  <a:pt x="488" y="34"/>
                </a:cubicBezTo>
                <a:cubicBezTo>
                  <a:pt x="461" y="16"/>
                  <a:pt x="451" y="10"/>
                  <a:pt x="370" y="5"/>
                </a:cubicBezTo>
                <a:cubicBezTo>
                  <a:pt x="289" y="0"/>
                  <a:pt x="77" y="6"/>
                  <a:pt x="0" y="6"/>
                </a:cubicBezTo>
              </a:path>
            </a:pathLst>
          </a:custGeom>
          <a:noFill/>
          <a:ln w="38100" cmpd="sng">
            <a:solidFill>
              <a:schemeClr val="bg1">
                <a:lumMod val="95000"/>
              </a:schemeClr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Freeform 29"/>
          <p:cNvSpPr/>
          <p:nvPr>
            <p:custDataLst>
              <p:tags r:id="rId29"/>
            </p:custDataLst>
          </p:nvPr>
        </p:nvSpPr>
        <p:spPr bwMode="auto">
          <a:xfrm>
            <a:off x="6855836" y="4435919"/>
            <a:ext cx="504272" cy="642903"/>
          </a:xfrm>
          <a:custGeom>
            <a:avLst/>
            <a:gdLst>
              <a:gd name="T0" fmla="*/ 0 w 311"/>
              <a:gd name="T1" fmla="*/ 2147483646 h 391"/>
              <a:gd name="T2" fmla="*/ 2147483646 w 311"/>
              <a:gd name="T3" fmla="*/ 2147483646 h 391"/>
              <a:gd name="T4" fmla="*/ 2147483646 w 311"/>
              <a:gd name="T5" fmla="*/ 2147483646 h 391"/>
              <a:gd name="T6" fmla="*/ 2147483646 w 311"/>
              <a:gd name="T7" fmla="*/ 2147483646 h 391"/>
              <a:gd name="T8" fmla="*/ 2147483646 w 311"/>
              <a:gd name="T9" fmla="*/ 2147483646 h 391"/>
              <a:gd name="T10" fmla="*/ 2147483646 w 311"/>
              <a:gd name="T11" fmla="*/ 2147483646 h 391"/>
              <a:gd name="T12" fmla="*/ 2147483646 w 311"/>
              <a:gd name="T13" fmla="*/ 2147483646 h 391"/>
              <a:gd name="T14" fmla="*/ 2147483646 w 311"/>
              <a:gd name="T15" fmla="*/ 2147483646 h 391"/>
              <a:gd name="T16" fmla="*/ 0 w 311"/>
              <a:gd name="T17" fmla="*/ 2147483646 h 39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11" h="391">
                <a:moveTo>
                  <a:pt x="0" y="387"/>
                </a:moveTo>
                <a:cubicBezTo>
                  <a:pt x="30" y="387"/>
                  <a:pt x="139" y="391"/>
                  <a:pt x="182" y="389"/>
                </a:cubicBezTo>
                <a:cubicBezTo>
                  <a:pt x="225" y="387"/>
                  <a:pt x="238" y="382"/>
                  <a:pt x="256" y="373"/>
                </a:cubicBezTo>
                <a:cubicBezTo>
                  <a:pt x="274" y="364"/>
                  <a:pt x="284" y="354"/>
                  <a:pt x="293" y="337"/>
                </a:cubicBezTo>
                <a:cubicBezTo>
                  <a:pt x="302" y="320"/>
                  <a:pt x="306" y="304"/>
                  <a:pt x="308" y="269"/>
                </a:cubicBezTo>
                <a:cubicBezTo>
                  <a:pt x="310" y="234"/>
                  <a:pt x="311" y="160"/>
                  <a:pt x="308" y="124"/>
                </a:cubicBezTo>
                <a:cubicBezTo>
                  <a:pt x="305" y="88"/>
                  <a:pt x="305" y="70"/>
                  <a:pt x="289" y="50"/>
                </a:cubicBezTo>
                <a:cubicBezTo>
                  <a:pt x="273" y="30"/>
                  <a:pt x="259" y="14"/>
                  <a:pt x="211" y="7"/>
                </a:cubicBezTo>
                <a:cubicBezTo>
                  <a:pt x="163" y="0"/>
                  <a:pt x="44" y="9"/>
                  <a:pt x="0" y="9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Freeform 30"/>
          <p:cNvSpPr/>
          <p:nvPr>
            <p:custDataLst>
              <p:tags r:id="rId30"/>
            </p:custDataLst>
          </p:nvPr>
        </p:nvSpPr>
        <p:spPr bwMode="auto">
          <a:xfrm>
            <a:off x="6976051" y="3793090"/>
            <a:ext cx="872344" cy="1923779"/>
          </a:xfrm>
          <a:custGeom>
            <a:avLst/>
            <a:gdLst>
              <a:gd name="T0" fmla="*/ 0 w 538"/>
              <a:gd name="T1" fmla="*/ 2147483646 h 1175"/>
              <a:gd name="T2" fmla="*/ 2147483646 w 538"/>
              <a:gd name="T3" fmla="*/ 2147483646 h 1175"/>
              <a:gd name="T4" fmla="*/ 2147483646 w 538"/>
              <a:gd name="T5" fmla="*/ 2147483646 h 1175"/>
              <a:gd name="T6" fmla="*/ 2147483646 w 538"/>
              <a:gd name="T7" fmla="*/ 2147483646 h 1175"/>
              <a:gd name="T8" fmla="*/ 2147483646 w 538"/>
              <a:gd name="T9" fmla="*/ 2147483646 h 1175"/>
              <a:gd name="T10" fmla="*/ 2147483646 w 538"/>
              <a:gd name="T11" fmla="*/ 2147483646 h 1175"/>
              <a:gd name="T12" fmla="*/ 2147483646 w 538"/>
              <a:gd name="T13" fmla="*/ 2147483646 h 1175"/>
              <a:gd name="T14" fmla="*/ 2147483646 w 538"/>
              <a:gd name="T15" fmla="*/ 2147483646 h 1175"/>
              <a:gd name="T16" fmla="*/ 0 w 538"/>
              <a:gd name="T17" fmla="*/ 2147483646 h 117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38" h="1175">
                <a:moveTo>
                  <a:pt x="0" y="1171"/>
                </a:moveTo>
                <a:cubicBezTo>
                  <a:pt x="51" y="1171"/>
                  <a:pt x="237" y="1175"/>
                  <a:pt x="306" y="1168"/>
                </a:cubicBezTo>
                <a:cubicBezTo>
                  <a:pt x="375" y="1161"/>
                  <a:pt x="386" y="1151"/>
                  <a:pt x="417" y="1129"/>
                </a:cubicBezTo>
                <a:cubicBezTo>
                  <a:pt x="448" y="1107"/>
                  <a:pt x="472" y="1080"/>
                  <a:pt x="489" y="1036"/>
                </a:cubicBezTo>
                <a:cubicBezTo>
                  <a:pt x="506" y="992"/>
                  <a:pt x="515" y="980"/>
                  <a:pt x="522" y="865"/>
                </a:cubicBezTo>
                <a:cubicBezTo>
                  <a:pt x="529" y="750"/>
                  <a:pt x="538" y="472"/>
                  <a:pt x="534" y="348"/>
                </a:cubicBezTo>
                <a:cubicBezTo>
                  <a:pt x="530" y="224"/>
                  <a:pt x="529" y="176"/>
                  <a:pt x="501" y="121"/>
                </a:cubicBezTo>
                <a:cubicBezTo>
                  <a:pt x="473" y="66"/>
                  <a:pt x="448" y="38"/>
                  <a:pt x="365" y="19"/>
                </a:cubicBezTo>
                <a:cubicBezTo>
                  <a:pt x="282" y="0"/>
                  <a:pt x="76" y="11"/>
                  <a:pt x="0" y="9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Line 31"/>
          <p:cNvSpPr>
            <a:spLocks noChangeShapeType="1"/>
          </p:cNvSpPr>
          <p:nvPr>
            <p:custDataLst>
              <p:tags r:id="rId31"/>
            </p:custDataLst>
          </p:nvPr>
        </p:nvSpPr>
        <p:spPr bwMode="auto">
          <a:xfrm>
            <a:off x="3089412" y="4604640"/>
            <a:ext cx="3309392" cy="147983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prstDash val="dash"/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Line 32"/>
          <p:cNvSpPr>
            <a:spLocks noChangeShapeType="1"/>
          </p:cNvSpPr>
          <p:nvPr>
            <p:custDataLst>
              <p:tags r:id="rId32"/>
            </p:custDataLst>
          </p:nvPr>
        </p:nvSpPr>
        <p:spPr bwMode="auto">
          <a:xfrm flipH="1">
            <a:off x="2930508" y="5232747"/>
            <a:ext cx="3309392" cy="147983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prstDash val="dash"/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Line 34"/>
          <p:cNvSpPr>
            <a:spLocks noChangeShapeType="1"/>
          </p:cNvSpPr>
          <p:nvPr>
            <p:custDataLst>
              <p:tags r:id="rId33"/>
            </p:custDataLst>
          </p:nvPr>
        </p:nvSpPr>
        <p:spPr bwMode="auto">
          <a:xfrm rot="186387" flipV="1">
            <a:off x="3292093" y="3976536"/>
            <a:ext cx="3040229" cy="8220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prstDash val="dash"/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Text Box 35"/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 rot="186387">
            <a:off x="3940955" y="3553254"/>
            <a:ext cx="160782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连接建立请求</a:t>
            </a:r>
            <a:endParaRPr lang="zh-CN" altLang="en-US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Text Box 18"/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8038085" y="2792480"/>
            <a:ext cx="113284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65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连接建立</a:t>
            </a:r>
            <a:endParaRPr lang="zh-CN" altLang="en-US" sz="1865" b="1" dirty="0" smtClean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Text Box 18"/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8038085" y="4422559"/>
            <a:ext cx="113284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65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数据传送</a:t>
            </a:r>
            <a:endParaRPr lang="zh-CN" altLang="en-US" sz="1865" b="1" dirty="0" smtClean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Text Box 18"/>
          <p:cNvSpPr txBox="1"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8038085" y="5339896"/>
            <a:ext cx="113284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65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连接释放</a:t>
            </a:r>
            <a:endParaRPr lang="zh-CN" altLang="en-US" sz="1865" b="1" dirty="0" smtClean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2117137" y="1909414"/>
            <a:ext cx="3870904" cy="1207447"/>
            <a:chOff x="2492362" y="1366814"/>
            <a:chExt cx="2903178" cy="905585"/>
          </a:xfrm>
        </p:grpSpPr>
        <p:cxnSp>
          <p:nvCxnSpPr>
            <p:cNvPr id="73" name="直接箭头连接符 72"/>
            <p:cNvCxnSpPr/>
            <p:nvPr>
              <p:custDataLst>
                <p:tags r:id="rId38"/>
              </p:custDataLst>
            </p:nvPr>
          </p:nvCxnSpPr>
          <p:spPr>
            <a:xfrm flipH="1">
              <a:off x="3102390" y="1936773"/>
              <a:ext cx="270776" cy="335626"/>
            </a:xfrm>
            <a:prstGeom prst="straightConnector1">
              <a:avLst/>
            </a:prstGeom>
            <a:ln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直接箭头连接符 73"/>
            <p:cNvCxnSpPr>
              <a:stCxn id="75" idx="3"/>
            </p:cNvCxnSpPr>
            <p:nvPr>
              <p:custDataLst>
                <p:tags r:id="rId39"/>
              </p:custDataLst>
            </p:nvPr>
          </p:nvCxnSpPr>
          <p:spPr>
            <a:xfrm flipV="1">
              <a:off x="4702003" y="1462021"/>
              <a:ext cx="693537" cy="185751"/>
            </a:xfrm>
            <a:prstGeom prst="straightConnector1">
              <a:avLst/>
            </a:prstGeom>
            <a:ln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矩形 74"/>
            <p:cNvSpPr/>
            <p:nvPr>
              <p:custDataLst>
                <p:tags r:id="rId40"/>
              </p:custDataLst>
            </p:nvPr>
          </p:nvSpPr>
          <p:spPr>
            <a:xfrm>
              <a:off x="2492362" y="1366814"/>
              <a:ext cx="2209641" cy="561975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sz="2135" b="1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通信之前，客户和服务器先创建套</a:t>
              </a:r>
              <a:r>
                <a:rPr lang="zh-CN" altLang="en-US" sz="2135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接</a:t>
              </a:r>
              <a:r>
                <a:rPr lang="zh-CN" altLang="en-US" sz="2135" b="1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字</a:t>
              </a:r>
              <a:endParaRPr lang="zh-CN" altLang="en-US" sz="2135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51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TCP</a:t>
            </a:r>
            <a:r>
              <a:rPr lang="zh-CN" altLang="en-US">
                <a:sym typeface="+mn-ea"/>
              </a:rPr>
              <a:t>通信的实现过程</a:t>
            </a:r>
            <a:endParaRPr lang="zh-CN" altLang="en-US"/>
          </a:p>
        </p:txBody>
      </p:sp>
      <p:sp>
        <p:nvSpPr>
          <p:cNvPr id="97" name="矩形 96"/>
          <p:cNvSpPr/>
          <p:nvPr>
            <p:custDataLst>
              <p:tags r:id="rId1"/>
            </p:custDataLst>
          </p:nvPr>
        </p:nvSpPr>
        <p:spPr>
          <a:xfrm>
            <a:off x="838025" y="1835345"/>
            <a:ext cx="8478344" cy="2151016"/>
          </a:xfrm>
          <a:prstGeom prst="rect">
            <a:avLst/>
          </a:prstGeom>
          <a:noFill/>
          <a:ln w="12700">
            <a:solidFill>
              <a:srgbClr val="9DD1F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8" name="矩形 97"/>
          <p:cNvSpPr/>
          <p:nvPr>
            <p:custDataLst>
              <p:tags r:id="rId2"/>
            </p:custDataLst>
          </p:nvPr>
        </p:nvSpPr>
        <p:spPr>
          <a:xfrm>
            <a:off x="838025" y="3988825"/>
            <a:ext cx="8478344" cy="1285809"/>
          </a:xfrm>
          <a:prstGeom prst="rect">
            <a:avLst/>
          </a:prstGeom>
          <a:noFill/>
          <a:ln w="12700">
            <a:solidFill>
              <a:srgbClr val="9DD1F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9" name="矩形 98"/>
          <p:cNvSpPr/>
          <p:nvPr>
            <p:custDataLst>
              <p:tags r:id="rId3"/>
            </p:custDataLst>
          </p:nvPr>
        </p:nvSpPr>
        <p:spPr>
          <a:xfrm>
            <a:off x="838025" y="5274635"/>
            <a:ext cx="8478344" cy="596867"/>
          </a:xfrm>
          <a:prstGeom prst="rect">
            <a:avLst/>
          </a:prstGeom>
          <a:noFill/>
          <a:ln w="12700">
            <a:solidFill>
              <a:srgbClr val="9DD1F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0" name="Text Box 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028934" y="1786835"/>
            <a:ext cx="95377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socket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139322" y="2364302"/>
            <a:ext cx="72326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bind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Text Box 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080800" y="2989119"/>
            <a:ext cx="8305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listen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Text Box 8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011167" y="3613935"/>
            <a:ext cx="96012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accept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Text Box 9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128222" y="4238753"/>
            <a:ext cx="7162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read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Text Box 10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085256" y="4863571"/>
            <a:ext cx="7924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write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Text Box 1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083425" y="5488387"/>
            <a:ext cx="78803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close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Line 12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6502576" y="2142329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Line 13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6502576" y="2739193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Line 14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6502576" y="3336058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Line 15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6502576" y="4006915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Line 16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6502576" y="4677771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Line 17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6502576" y="5274635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Text Box 19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280127" y="3044689"/>
            <a:ext cx="95377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socket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Text Box 20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398874" y="4863571"/>
            <a:ext cx="7162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read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Text Box 21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360773" y="4238753"/>
            <a:ext cx="7924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write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Text Box 22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363805" y="5488387"/>
            <a:ext cx="78803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close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Text Box 23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193626" y="3620514"/>
            <a:ext cx="112839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connect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Line 24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2757013" y="3391962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Line 25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>
            <a:off x="2757013" y="3988826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Line 26"/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2757013" y="4585693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Line 27"/>
          <p:cNvSpPr>
            <a:spLocks noChangeShapeType="1"/>
          </p:cNvSpPr>
          <p:nvPr>
            <p:custDataLst>
              <p:tags r:id="rId25"/>
            </p:custDataLst>
          </p:nvPr>
        </p:nvSpPr>
        <p:spPr bwMode="auto">
          <a:xfrm>
            <a:off x="2757013" y="5256549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Freeform 28"/>
          <p:cNvSpPr/>
          <p:nvPr>
            <p:custDataLst>
              <p:tags r:id="rId26"/>
            </p:custDataLst>
          </p:nvPr>
        </p:nvSpPr>
        <p:spPr bwMode="auto">
          <a:xfrm flipH="1">
            <a:off x="1525512" y="4467157"/>
            <a:ext cx="875587" cy="616596"/>
          </a:xfrm>
          <a:custGeom>
            <a:avLst/>
            <a:gdLst>
              <a:gd name="T0" fmla="*/ 0 w 540"/>
              <a:gd name="T1" fmla="*/ 2147483646 h 391"/>
              <a:gd name="T2" fmla="*/ 2147483646 w 540"/>
              <a:gd name="T3" fmla="*/ 2147483646 h 391"/>
              <a:gd name="T4" fmla="*/ 2147483646 w 540"/>
              <a:gd name="T5" fmla="*/ 2147483646 h 391"/>
              <a:gd name="T6" fmla="*/ 2147483646 w 540"/>
              <a:gd name="T7" fmla="*/ 2147483646 h 391"/>
              <a:gd name="T8" fmla="*/ 2147483646 w 540"/>
              <a:gd name="T9" fmla="*/ 2147483646 h 391"/>
              <a:gd name="T10" fmla="*/ 2147483646 w 540"/>
              <a:gd name="T11" fmla="*/ 2147483646 h 391"/>
              <a:gd name="T12" fmla="*/ 2147483646 w 540"/>
              <a:gd name="T13" fmla="*/ 2147483646 h 391"/>
              <a:gd name="T14" fmla="*/ 2147483646 w 540"/>
              <a:gd name="T15" fmla="*/ 2147483646 h 391"/>
              <a:gd name="T16" fmla="*/ 0 w 540"/>
              <a:gd name="T17" fmla="*/ 2147483646 h 39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40" h="391">
                <a:moveTo>
                  <a:pt x="0" y="384"/>
                </a:moveTo>
                <a:cubicBezTo>
                  <a:pt x="52" y="385"/>
                  <a:pt x="240" y="389"/>
                  <a:pt x="311" y="389"/>
                </a:cubicBezTo>
                <a:cubicBezTo>
                  <a:pt x="382" y="389"/>
                  <a:pt x="397" y="391"/>
                  <a:pt x="427" y="385"/>
                </a:cubicBezTo>
                <a:cubicBezTo>
                  <a:pt x="457" y="379"/>
                  <a:pt x="477" y="372"/>
                  <a:pt x="494" y="355"/>
                </a:cubicBezTo>
                <a:cubicBezTo>
                  <a:pt x="511" y="338"/>
                  <a:pt x="523" y="324"/>
                  <a:pt x="529" y="284"/>
                </a:cubicBezTo>
                <a:cubicBezTo>
                  <a:pt x="535" y="244"/>
                  <a:pt x="540" y="155"/>
                  <a:pt x="533" y="113"/>
                </a:cubicBezTo>
                <a:cubicBezTo>
                  <a:pt x="526" y="71"/>
                  <a:pt x="515" y="52"/>
                  <a:pt x="488" y="34"/>
                </a:cubicBezTo>
                <a:cubicBezTo>
                  <a:pt x="461" y="16"/>
                  <a:pt x="451" y="10"/>
                  <a:pt x="370" y="5"/>
                </a:cubicBezTo>
                <a:cubicBezTo>
                  <a:pt x="289" y="0"/>
                  <a:pt x="77" y="6"/>
                  <a:pt x="0" y="6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Freeform 29"/>
          <p:cNvSpPr/>
          <p:nvPr>
            <p:custDataLst>
              <p:tags r:id="rId27"/>
            </p:custDataLst>
          </p:nvPr>
        </p:nvSpPr>
        <p:spPr bwMode="auto">
          <a:xfrm>
            <a:off x="6855836" y="4441634"/>
            <a:ext cx="504272" cy="642903"/>
          </a:xfrm>
          <a:custGeom>
            <a:avLst/>
            <a:gdLst>
              <a:gd name="T0" fmla="*/ 0 w 311"/>
              <a:gd name="T1" fmla="*/ 2147483646 h 391"/>
              <a:gd name="T2" fmla="*/ 2147483646 w 311"/>
              <a:gd name="T3" fmla="*/ 2147483646 h 391"/>
              <a:gd name="T4" fmla="*/ 2147483646 w 311"/>
              <a:gd name="T5" fmla="*/ 2147483646 h 391"/>
              <a:gd name="T6" fmla="*/ 2147483646 w 311"/>
              <a:gd name="T7" fmla="*/ 2147483646 h 391"/>
              <a:gd name="T8" fmla="*/ 2147483646 w 311"/>
              <a:gd name="T9" fmla="*/ 2147483646 h 391"/>
              <a:gd name="T10" fmla="*/ 2147483646 w 311"/>
              <a:gd name="T11" fmla="*/ 2147483646 h 391"/>
              <a:gd name="T12" fmla="*/ 2147483646 w 311"/>
              <a:gd name="T13" fmla="*/ 2147483646 h 391"/>
              <a:gd name="T14" fmla="*/ 2147483646 w 311"/>
              <a:gd name="T15" fmla="*/ 2147483646 h 391"/>
              <a:gd name="T16" fmla="*/ 0 w 311"/>
              <a:gd name="T17" fmla="*/ 2147483646 h 39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11" h="391">
                <a:moveTo>
                  <a:pt x="0" y="387"/>
                </a:moveTo>
                <a:cubicBezTo>
                  <a:pt x="30" y="387"/>
                  <a:pt x="139" y="391"/>
                  <a:pt x="182" y="389"/>
                </a:cubicBezTo>
                <a:cubicBezTo>
                  <a:pt x="225" y="387"/>
                  <a:pt x="238" y="382"/>
                  <a:pt x="256" y="373"/>
                </a:cubicBezTo>
                <a:cubicBezTo>
                  <a:pt x="274" y="364"/>
                  <a:pt x="284" y="354"/>
                  <a:pt x="293" y="337"/>
                </a:cubicBezTo>
                <a:cubicBezTo>
                  <a:pt x="302" y="320"/>
                  <a:pt x="306" y="304"/>
                  <a:pt x="308" y="269"/>
                </a:cubicBezTo>
                <a:cubicBezTo>
                  <a:pt x="310" y="234"/>
                  <a:pt x="311" y="160"/>
                  <a:pt x="308" y="124"/>
                </a:cubicBezTo>
                <a:cubicBezTo>
                  <a:pt x="305" y="88"/>
                  <a:pt x="305" y="70"/>
                  <a:pt x="289" y="50"/>
                </a:cubicBezTo>
                <a:cubicBezTo>
                  <a:pt x="273" y="30"/>
                  <a:pt x="259" y="14"/>
                  <a:pt x="211" y="7"/>
                </a:cubicBezTo>
                <a:cubicBezTo>
                  <a:pt x="163" y="0"/>
                  <a:pt x="44" y="9"/>
                  <a:pt x="0" y="9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Freeform 30"/>
          <p:cNvSpPr/>
          <p:nvPr>
            <p:custDataLst>
              <p:tags r:id="rId28"/>
            </p:custDataLst>
          </p:nvPr>
        </p:nvSpPr>
        <p:spPr bwMode="auto">
          <a:xfrm>
            <a:off x="6976051" y="3798805"/>
            <a:ext cx="872344" cy="1923779"/>
          </a:xfrm>
          <a:custGeom>
            <a:avLst/>
            <a:gdLst>
              <a:gd name="T0" fmla="*/ 0 w 538"/>
              <a:gd name="T1" fmla="*/ 2147483646 h 1175"/>
              <a:gd name="T2" fmla="*/ 2147483646 w 538"/>
              <a:gd name="T3" fmla="*/ 2147483646 h 1175"/>
              <a:gd name="T4" fmla="*/ 2147483646 w 538"/>
              <a:gd name="T5" fmla="*/ 2147483646 h 1175"/>
              <a:gd name="T6" fmla="*/ 2147483646 w 538"/>
              <a:gd name="T7" fmla="*/ 2147483646 h 1175"/>
              <a:gd name="T8" fmla="*/ 2147483646 w 538"/>
              <a:gd name="T9" fmla="*/ 2147483646 h 1175"/>
              <a:gd name="T10" fmla="*/ 2147483646 w 538"/>
              <a:gd name="T11" fmla="*/ 2147483646 h 1175"/>
              <a:gd name="T12" fmla="*/ 2147483646 w 538"/>
              <a:gd name="T13" fmla="*/ 2147483646 h 1175"/>
              <a:gd name="T14" fmla="*/ 2147483646 w 538"/>
              <a:gd name="T15" fmla="*/ 2147483646 h 1175"/>
              <a:gd name="T16" fmla="*/ 0 w 538"/>
              <a:gd name="T17" fmla="*/ 2147483646 h 117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38" h="1175">
                <a:moveTo>
                  <a:pt x="0" y="1171"/>
                </a:moveTo>
                <a:cubicBezTo>
                  <a:pt x="51" y="1171"/>
                  <a:pt x="237" y="1175"/>
                  <a:pt x="306" y="1168"/>
                </a:cubicBezTo>
                <a:cubicBezTo>
                  <a:pt x="375" y="1161"/>
                  <a:pt x="386" y="1151"/>
                  <a:pt x="417" y="1129"/>
                </a:cubicBezTo>
                <a:cubicBezTo>
                  <a:pt x="448" y="1107"/>
                  <a:pt x="472" y="1080"/>
                  <a:pt x="489" y="1036"/>
                </a:cubicBezTo>
                <a:cubicBezTo>
                  <a:pt x="506" y="992"/>
                  <a:pt x="515" y="980"/>
                  <a:pt x="522" y="865"/>
                </a:cubicBezTo>
                <a:cubicBezTo>
                  <a:pt x="529" y="750"/>
                  <a:pt x="538" y="472"/>
                  <a:pt x="534" y="348"/>
                </a:cubicBezTo>
                <a:cubicBezTo>
                  <a:pt x="530" y="224"/>
                  <a:pt x="529" y="176"/>
                  <a:pt x="501" y="121"/>
                </a:cubicBezTo>
                <a:cubicBezTo>
                  <a:pt x="473" y="66"/>
                  <a:pt x="448" y="38"/>
                  <a:pt x="365" y="19"/>
                </a:cubicBezTo>
                <a:cubicBezTo>
                  <a:pt x="282" y="0"/>
                  <a:pt x="76" y="11"/>
                  <a:pt x="0" y="9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Line 31"/>
          <p:cNvSpPr>
            <a:spLocks noChangeShapeType="1"/>
          </p:cNvSpPr>
          <p:nvPr>
            <p:custDataLst>
              <p:tags r:id="rId29"/>
            </p:custDataLst>
          </p:nvPr>
        </p:nvSpPr>
        <p:spPr bwMode="auto">
          <a:xfrm>
            <a:off x="3089412" y="4610355"/>
            <a:ext cx="3309392" cy="147983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prstDash val="dash"/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Line 32"/>
          <p:cNvSpPr>
            <a:spLocks noChangeShapeType="1"/>
          </p:cNvSpPr>
          <p:nvPr>
            <p:custDataLst>
              <p:tags r:id="rId30"/>
            </p:custDataLst>
          </p:nvPr>
        </p:nvSpPr>
        <p:spPr bwMode="auto">
          <a:xfrm flipH="1">
            <a:off x="2930508" y="5238462"/>
            <a:ext cx="3309392" cy="147983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prstDash val="dash"/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Line 34"/>
          <p:cNvSpPr>
            <a:spLocks noChangeShapeType="1"/>
          </p:cNvSpPr>
          <p:nvPr>
            <p:custDataLst>
              <p:tags r:id="rId31"/>
            </p:custDataLst>
          </p:nvPr>
        </p:nvSpPr>
        <p:spPr bwMode="auto">
          <a:xfrm rot="186387" flipV="1">
            <a:off x="3292093" y="3982251"/>
            <a:ext cx="3040229" cy="8220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prstDash val="dash"/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Text Box 35"/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 rot="186387">
            <a:off x="3940955" y="3558969"/>
            <a:ext cx="160782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连接建立请求</a:t>
            </a:r>
            <a:endParaRPr lang="zh-CN" altLang="en-US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Text Box 18"/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8038085" y="2798195"/>
            <a:ext cx="113284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65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连接建立</a:t>
            </a:r>
            <a:endParaRPr lang="zh-CN" altLang="en-US" sz="1865" b="1" dirty="0" smtClean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Text Box 18"/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8038085" y="4428274"/>
            <a:ext cx="113284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65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数据传送</a:t>
            </a:r>
            <a:endParaRPr lang="zh-CN" altLang="en-US" sz="1865" b="1" dirty="0" smtClean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Text Box 18"/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8038085" y="5345611"/>
            <a:ext cx="113284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65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连接释放</a:t>
            </a:r>
            <a:endParaRPr lang="zh-CN" altLang="en-US" sz="1865" b="1" dirty="0" smtClean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32" name="组合 131"/>
          <p:cNvGrpSpPr/>
          <p:nvPr/>
        </p:nvGrpSpPr>
        <p:grpSpPr>
          <a:xfrm>
            <a:off x="1060245" y="1921187"/>
            <a:ext cx="4988995" cy="1078230"/>
            <a:chOff x="1648624" y="1371358"/>
            <a:chExt cx="3741746" cy="808672"/>
          </a:xfrm>
        </p:grpSpPr>
        <p:cxnSp>
          <p:nvCxnSpPr>
            <p:cNvPr id="133" name="直接箭头连接符 132"/>
            <p:cNvCxnSpPr/>
            <p:nvPr>
              <p:custDataLst>
                <p:tags r:id="rId36"/>
              </p:custDataLst>
            </p:nvPr>
          </p:nvCxnSpPr>
          <p:spPr>
            <a:xfrm>
              <a:off x="4773046" y="1858323"/>
              <a:ext cx="617324" cy="0"/>
            </a:xfrm>
            <a:prstGeom prst="straightConnector1">
              <a:avLst/>
            </a:prstGeom>
            <a:ln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4" name="矩形 133"/>
            <p:cNvSpPr/>
            <p:nvPr>
              <p:custDataLst>
                <p:tags r:id="rId37"/>
              </p:custDataLst>
            </p:nvPr>
          </p:nvSpPr>
          <p:spPr>
            <a:xfrm>
              <a:off x="1648624" y="1371358"/>
              <a:ext cx="3139984" cy="808672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sz="2135" b="1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服务器</a:t>
              </a:r>
              <a:r>
                <a:rPr lang="zh-CN" altLang="en-US" sz="2135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端调用 </a:t>
              </a:r>
              <a:r>
                <a:rPr lang="en-US" altLang="zh-CN" sz="2135" b="1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bind</a:t>
              </a:r>
              <a:r>
                <a:rPr lang="zh-CN" altLang="en-US" sz="2135" b="1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，把</a:t>
              </a:r>
              <a:r>
                <a:rPr lang="zh-CN" altLang="en-US" sz="2135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端口号和本地 </a:t>
              </a:r>
              <a:r>
                <a:rPr lang="en-US" altLang="zh-CN" sz="2135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IP </a:t>
              </a:r>
              <a:r>
                <a:rPr lang="zh-CN" altLang="en-US" sz="2135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地址填写到已创建的套接字中</a:t>
              </a:r>
              <a:r>
                <a:rPr lang="zh-CN" altLang="en-US" sz="2135" b="1" dirty="0" smtClean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。</a:t>
              </a:r>
              <a:endParaRPr lang="zh-CN" altLang="en-US" sz="2135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TCP</a:t>
            </a:r>
            <a:r>
              <a:rPr lang="zh-CN" altLang="en-US">
                <a:sym typeface="+mn-ea"/>
              </a:rPr>
              <a:t>通信的实现过程</a:t>
            </a:r>
            <a:endParaRPr lang="zh-CN" altLang="en-US"/>
          </a:p>
        </p:txBody>
      </p:sp>
      <p:sp>
        <p:nvSpPr>
          <p:cNvPr id="5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822490" y="1446115"/>
            <a:ext cx="1270000" cy="420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13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服务器端</a:t>
            </a:r>
            <a:endParaRPr lang="zh-CN" altLang="en-US" sz="213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Box 1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19599" y="1446115"/>
            <a:ext cx="998220" cy="420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13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客户端</a:t>
            </a:r>
            <a:endParaRPr lang="zh-CN" altLang="en-US" sz="213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/>
          <p:cNvSpPr/>
          <p:nvPr>
            <p:custDataLst>
              <p:tags r:id="rId3"/>
            </p:custDataLst>
          </p:nvPr>
        </p:nvSpPr>
        <p:spPr>
          <a:xfrm>
            <a:off x="838025" y="1829630"/>
            <a:ext cx="8478344" cy="2151016"/>
          </a:xfrm>
          <a:prstGeom prst="rect">
            <a:avLst/>
          </a:prstGeom>
          <a:noFill/>
          <a:ln w="12700">
            <a:solidFill>
              <a:srgbClr val="9DD1F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0" name="矩形 39"/>
          <p:cNvSpPr/>
          <p:nvPr>
            <p:custDataLst>
              <p:tags r:id="rId4"/>
            </p:custDataLst>
          </p:nvPr>
        </p:nvSpPr>
        <p:spPr>
          <a:xfrm>
            <a:off x="838025" y="3983110"/>
            <a:ext cx="8478344" cy="1285809"/>
          </a:xfrm>
          <a:prstGeom prst="rect">
            <a:avLst/>
          </a:prstGeom>
          <a:noFill/>
          <a:ln w="12700">
            <a:solidFill>
              <a:srgbClr val="9DD1F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1" name="矩形 40"/>
          <p:cNvSpPr/>
          <p:nvPr>
            <p:custDataLst>
              <p:tags r:id="rId5"/>
            </p:custDataLst>
          </p:nvPr>
        </p:nvSpPr>
        <p:spPr>
          <a:xfrm>
            <a:off x="838025" y="5268920"/>
            <a:ext cx="8478344" cy="596867"/>
          </a:xfrm>
          <a:prstGeom prst="rect">
            <a:avLst/>
          </a:prstGeom>
          <a:noFill/>
          <a:ln w="12700">
            <a:solidFill>
              <a:srgbClr val="9DD1F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6" name="Text Box 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028934" y="1781120"/>
            <a:ext cx="95377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socket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139322" y="2358587"/>
            <a:ext cx="72326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bind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080799" y="2983404"/>
            <a:ext cx="8305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listen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011167" y="3608220"/>
            <a:ext cx="96012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accept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128222" y="4233038"/>
            <a:ext cx="7162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read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085256" y="4857856"/>
            <a:ext cx="7924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write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 Box 11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083425" y="5482672"/>
            <a:ext cx="78803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close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Line 12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6502576" y="2136614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Line 13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6502576" y="2733478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Line 14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6502576" y="3330343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Line 15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6502576" y="4001200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Line 16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6502576" y="4672056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Line 17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>
            <a:off x="6502576" y="5268920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 Box 19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280127" y="3038974"/>
            <a:ext cx="95377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socket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 Box 20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398874" y="4857856"/>
            <a:ext cx="7162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read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 Box 21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360773" y="4233038"/>
            <a:ext cx="7924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write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 Box 22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2363805" y="5482672"/>
            <a:ext cx="78803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close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 Box 23"/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2193626" y="3614799"/>
            <a:ext cx="112839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connect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Line 24"/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2757013" y="3386247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Line 25"/>
          <p:cNvSpPr>
            <a:spLocks noChangeShapeType="1"/>
          </p:cNvSpPr>
          <p:nvPr>
            <p:custDataLst>
              <p:tags r:id="rId25"/>
            </p:custDataLst>
          </p:nvPr>
        </p:nvSpPr>
        <p:spPr bwMode="auto">
          <a:xfrm>
            <a:off x="2757013" y="3983111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Line 26"/>
          <p:cNvSpPr>
            <a:spLocks noChangeShapeType="1"/>
          </p:cNvSpPr>
          <p:nvPr>
            <p:custDataLst>
              <p:tags r:id="rId26"/>
            </p:custDataLst>
          </p:nvPr>
        </p:nvSpPr>
        <p:spPr bwMode="auto">
          <a:xfrm>
            <a:off x="2757013" y="4579978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Line 27"/>
          <p:cNvSpPr>
            <a:spLocks noChangeShapeType="1"/>
          </p:cNvSpPr>
          <p:nvPr>
            <p:custDataLst>
              <p:tags r:id="rId27"/>
            </p:custDataLst>
          </p:nvPr>
        </p:nvSpPr>
        <p:spPr bwMode="auto">
          <a:xfrm>
            <a:off x="2757013" y="5250834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Freeform 28"/>
          <p:cNvSpPr/>
          <p:nvPr>
            <p:custDataLst>
              <p:tags r:id="rId28"/>
            </p:custDataLst>
          </p:nvPr>
        </p:nvSpPr>
        <p:spPr bwMode="auto">
          <a:xfrm flipH="1">
            <a:off x="1525512" y="4461442"/>
            <a:ext cx="875587" cy="616596"/>
          </a:xfrm>
          <a:custGeom>
            <a:avLst/>
            <a:gdLst>
              <a:gd name="T0" fmla="*/ 0 w 540"/>
              <a:gd name="T1" fmla="*/ 2147483646 h 391"/>
              <a:gd name="T2" fmla="*/ 2147483646 w 540"/>
              <a:gd name="T3" fmla="*/ 2147483646 h 391"/>
              <a:gd name="T4" fmla="*/ 2147483646 w 540"/>
              <a:gd name="T5" fmla="*/ 2147483646 h 391"/>
              <a:gd name="T6" fmla="*/ 2147483646 w 540"/>
              <a:gd name="T7" fmla="*/ 2147483646 h 391"/>
              <a:gd name="T8" fmla="*/ 2147483646 w 540"/>
              <a:gd name="T9" fmla="*/ 2147483646 h 391"/>
              <a:gd name="T10" fmla="*/ 2147483646 w 540"/>
              <a:gd name="T11" fmla="*/ 2147483646 h 391"/>
              <a:gd name="T12" fmla="*/ 2147483646 w 540"/>
              <a:gd name="T13" fmla="*/ 2147483646 h 391"/>
              <a:gd name="T14" fmla="*/ 2147483646 w 540"/>
              <a:gd name="T15" fmla="*/ 2147483646 h 391"/>
              <a:gd name="T16" fmla="*/ 0 w 540"/>
              <a:gd name="T17" fmla="*/ 2147483646 h 39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40" h="391">
                <a:moveTo>
                  <a:pt x="0" y="384"/>
                </a:moveTo>
                <a:cubicBezTo>
                  <a:pt x="52" y="385"/>
                  <a:pt x="240" y="389"/>
                  <a:pt x="311" y="389"/>
                </a:cubicBezTo>
                <a:cubicBezTo>
                  <a:pt x="382" y="389"/>
                  <a:pt x="397" y="391"/>
                  <a:pt x="427" y="385"/>
                </a:cubicBezTo>
                <a:cubicBezTo>
                  <a:pt x="457" y="379"/>
                  <a:pt x="477" y="372"/>
                  <a:pt x="494" y="355"/>
                </a:cubicBezTo>
                <a:cubicBezTo>
                  <a:pt x="511" y="338"/>
                  <a:pt x="523" y="324"/>
                  <a:pt x="529" y="284"/>
                </a:cubicBezTo>
                <a:cubicBezTo>
                  <a:pt x="535" y="244"/>
                  <a:pt x="540" y="155"/>
                  <a:pt x="533" y="113"/>
                </a:cubicBezTo>
                <a:cubicBezTo>
                  <a:pt x="526" y="71"/>
                  <a:pt x="515" y="52"/>
                  <a:pt x="488" y="34"/>
                </a:cubicBezTo>
                <a:cubicBezTo>
                  <a:pt x="461" y="16"/>
                  <a:pt x="451" y="10"/>
                  <a:pt x="370" y="5"/>
                </a:cubicBezTo>
                <a:cubicBezTo>
                  <a:pt x="289" y="0"/>
                  <a:pt x="77" y="6"/>
                  <a:pt x="0" y="6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Freeform 29"/>
          <p:cNvSpPr/>
          <p:nvPr>
            <p:custDataLst>
              <p:tags r:id="rId29"/>
            </p:custDataLst>
          </p:nvPr>
        </p:nvSpPr>
        <p:spPr bwMode="auto">
          <a:xfrm>
            <a:off x="6855836" y="4435919"/>
            <a:ext cx="504272" cy="642903"/>
          </a:xfrm>
          <a:custGeom>
            <a:avLst/>
            <a:gdLst>
              <a:gd name="T0" fmla="*/ 0 w 311"/>
              <a:gd name="T1" fmla="*/ 2147483646 h 391"/>
              <a:gd name="T2" fmla="*/ 2147483646 w 311"/>
              <a:gd name="T3" fmla="*/ 2147483646 h 391"/>
              <a:gd name="T4" fmla="*/ 2147483646 w 311"/>
              <a:gd name="T5" fmla="*/ 2147483646 h 391"/>
              <a:gd name="T6" fmla="*/ 2147483646 w 311"/>
              <a:gd name="T7" fmla="*/ 2147483646 h 391"/>
              <a:gd name="T8" fmla="*/ 2147483646 w 311"/>
              <a:gd name="T9" fmla="*/ 2147483646 h 391"/>
              <a:gd name="T10" fmla="*/ 2147483646 w 311"/>
              <a:gd name="T11" fmla="*/ 2147483646 h 391"/>
              <a:gd name="T12" fmla="*/ 2147483646 w 311"/>
              <a:gd name="T13" fmla="*/ 2147483646 h 391"/>
              <a:gd name="T14" fmla="*/ 2147483646 w 311"/>
              <a:gd name="T15" fmla="*/ 2147483646 h 391"/>
              <a:gd name="T16" fmla="*/ 0 w 311"/>
              <a:gd name="T17" fmla="*/ 2147483646 h 39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11" h="391">
                <a:moveTo>
                  <a:pt x="0" y="387"/>
                </a:moveTo>
                <a:cubicBezTo>
                  <a:pt x="30" y="387"/>
                  <a:pt x="139" y="391"/>
                  <a:pt x="182" y="389"/>
                </a:cubicBezTo>
                <a:cubicBezTo>
                  <a:pt x="225" y="387"/>
                  <a:pt x="238" y="382"/>
                  <a:pt x="256" y="373"/>
                </a:cubicBezTo>
                <a:cubicBezTo>
                  <a:pt x="274" y="364"/>
                  <a:pt x="284" y="354"/>
                  <a:pt x="293" y="337"/>
                </a:cubicBezTo>
                <a:cubicBezTo>
                  <a:pt x="302" y="320"/>
                  <a:pt x="306" y="304"/>
                  <a:pt x="308" y="269"/>
                </a:cubicBezTo>
                <a:cubicBezTo>
                  <a:pt x="310" y="234"/>
                  <a:pt x="311" y="160"/>
                  <a:pt x="308" y="124"/>
                </a:cubicBezTo>
                <a:cubicBezTo>
                  <a:pt x="305" y="88"/>
                  <a:pt x="305" y="70"/>
                  <a:pt x="289" y="50"/>
                </a:cubicBezTo>
                <a:cubicBezTo>
                  <a:pt x="273" y="30"/>
                  <a:pt x="259" y="14"/>
                  <a:pt x="211" y="7"/>
                </a:cubicBezTo>
                <a:cubicBezTo>
                  <a:pt x="163" y="0"/>
                  <a:pt x="44" y="9"/>
                  <a:pt x="0" y="9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Freeform 30"/>
          <p:cNvSpPr/>
          <p:nvPr>
            <p:custDataLst>
              <p:tags r:id="rId30"/>
            </p:custDataLst>
          </p:nvPr>
        </p:nvSpPr>
        <p:spPr bwMode="auto">
          <a:xfrm>
            <a:off x="6976051" y="3793090"/>
            <a:ext cx="872344" cy="1923779"/>
          </a:xfrm>
          <a:custGeom>
            <a:avLst/>
            <a:gdLst>
              <a:gd name="T0" fmla="*/ 0 w 538"/>
              <a:gd name="T1" fmla="*/ 2147483646 h 1175"/>
              <a:gd name="T2" fmla="*/ 2147483646 w 538"/>
              <a:gd name="T3" fmla="*/ 2147483646 h 1175"/>
              <a:gd name="T4" fmla="*/ 2147483646 w 538"/>
              <a:gd name="T5" fmla="*/ 2147483646 h 1175"/>
              <a:gd name="T6" fmla="*/ 2147483646 w 538"/>
              <a:gd name="T7" fmla="*/ 2147483646 h 1175"/>
              <a:gd name="T8" fmla="*/ 2147483646 w 538"/>
              <a:gd name="T9" fmla="*/ 2147483646 h 1175"/>
              <a:gd name="T10" fmla="*/ 2147483646 w 538"/>
              <a:gd name="T11" fmla="*/ 2147483646 h 1175"/>
              <a:gd name="T12" fmla="*/ 2147483646 w 538"/>
              <a:gd name="T13" fmla="*/ 2147483646 h 1175"/>
              <a:gd name="T14" fmla="*/ 2147483646 w 538"/>
              <a:gd name="T15" fmla="*/ 2147483646 h 1175"/>
              <a:gd name="T16" fmla="*/ 0 w 538"/>
              <a:gd name="T17" fmla="*/ 2147483646 h 117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38" h="1175">
                <a:moveTo>
                  <a:pt x="0" y="1171"/>
                </a:moveTo>
                <a:cubicBezTo>
                  <a:pt x="51" y="1171"/>
                  <a:pt x="237" y="1175"/>
                  <a:pt x="306" y="1168"/>
                </a:cubicBezTo>
                <a:cubicBezTo>
                  <a:pt x="375" y="1161"/>
                  <a:pt x="386" y="1151"/>
                  <a:pt x="417" y="1129"/>
                </a:cubicBezTo>
                <a:cubicBezTo>
                  <a:pt x="448" y="1107"/>
                  <a:pt x="472" y="1080"/>
                  <a:pt x="489" y="1036"/>
                </a:cubicBezTo>
                <a:cubicBezTo>
                  <a:pt x="506" y="992"/>
                  <a:pt x="515" y="980"/>
                  <a:pt x="522" y="865"/>
                </a:cubicBezTo>
                <a:cubicBezTo>
                  <a:pt x="529" y="750"/>
                  <a:pt x="538" y="472"/>
                  <a:pt x="534" y="348"/>
                </a:cubicBezTo>
                <a:cubicBezTo>
                  <a:pt x="530" y="224"/>
                  <a:pt x="529" y="176"/>
                  <a:pt x="501" y="121"/>
                </a:cubicBezTo>
                <a:cubicBezTo>
                  <a:pt x="473" y="66"/>
                  <a:pt x="448" y="38"/>
                  <a:pt x="365" y="19"/>
                </a:cubicBezTo>
                <a:cubicBezTo>
                  <a:pt x="282" y="0"/>
                  <a:pt x="76" y="11"/>
                  <a:pt x="0" y="9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Line 31"/>
          <p:cNvSpPr>
            <a:spLocks noChangeShapeType="1"/>
          </p:cNvSpPr>
          <p:nvPr>
            <p:custDataLst>
              <p:tags r:id="rId31"/>
            </p:custDataLst>
          </p:nvPr>
        </p:nvSpPr>
        <p:spPr bwMode="auto">
          <a:xfrm>
            <a:off x="3089412" y="4604640"/>
            <a:ext cx="3309392" cy="147983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prstDash val="dash"/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Line 32"/>
          <p:cNvSpPr>
            <a:spLocks noChangeShapeType="1"/>
          </p:cNvSpPr>
          <p:nvPr>
            <p:custDataLst>
              <p:tags r:id="rId32"/>
            </p:custDataLst>
          </p:nvPr>
        </p:nvSpPr>
        <p:spPr bwMode="auto">
          <a:xfrm flipH="1">
            <a:off x="2930508" y="5232747"/>
            <a:ext cx="3309392" cy="147983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prstDash val="dash"/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Line 34"/>
          <p:cNvSpPr>
            <a:spLocks noChangeShapeType="1"/>
          </p:cNvSpPr>
          <p:nvPr>
            <p:custDataLst>
              <p:tags r:id="rId33"/>
            </p:custDataLst>
          </p:nvPr>
        </p:nvSpPr>
        <p:spPr bwMode="auto">
          <a:xfrm rot="186387" flipV="1">
            <a:off x="3292093" y="3976536"/>
            <a:ext cx="3040229" cy="8220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prstDash val="dash"/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 Box 35"/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 rot="186387">
            <a:off x="3940955" y="3553254"/>
            <a:ext cx="160782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连接建立请求</a:t>
            </a:r>
            <a:endParaRPr lang="zh-CN" altLang="en-US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 Box 18"/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8038085" y="2792480"/>
            <a:ext cx="113284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65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连接建立</a:t>
            </a:r>
            <a:endParaRPr lang="zh-CN" altLang="en-US" sz="1865" b="1" dirty="0" smtClean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 Box 18"/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8038085" y="4422559"/>
            <a:ext cx="113284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65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数据传送</a:t>
            </a:r>
            <a:endParaRPr lang="zh-CN" altLang="en-US" sz="1865" b="1" dirty="0" smtClean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 Box 18"/>
          <p:cNvSpPr txBox="1"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8038085" y="5339896"/>
            <a:ext cx="113284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65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连接释放</a:t>
            </a:r>
            <a:endParaRPr lang="zh-CN" altLang="en-US" sz="1865" b="1" dirty="0" smtClean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294344" y="1915472"/>
            <a:ext cx="5753204" cy="1407160"/>
            <a:chOff x="1074198" y="1371358"/>
            <a:chExt cx="4314903" cy="1055370"/>
          </a:xfrm>
        </p:grpSpPr>
        <p:cxnSp>
          <p:nvCxnSpPr>
            <p:cNvPr id="48" name="直接箭头连接符 47"/>
            <p:cNvCxnSpPr/>
            <p:nvPr>
              <p:custDataLst>
                <p:tags r:id="rId38"/>
              </p:custDataLst>
            </p:nvPr>
          </p:nvCxnSpPr>
          <p:spPr>
            <a:xfrm>
              <a:off x="4773046" y="1858323"/>
              <a:ext cx="616055" cy="406473"/>
            </a:xfrm>
            <a:prstGeom prst="straightConnector1">
              <a:avLst/>
            </a:prstGeom>
            <a:ln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矩形 48"/>
            <p:cNvSpPr/>
            <p:nvPr>
              <p:custDataLst>
                <p:tags r:id="rId39"/>
              </p:custDataLst>
            </p:nvPr>
          </p:nvSpPr>
          <p:spPr>
            <a:xfrm>
              <a:off x="1074198" y="1371358"/>
              <a:ext cx="3714410" cy="105537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sz="2135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服务器端</a:t>
              </a:r>
              <a:r>
                <a:rPr lang="zh-CN" altLang="en-US" sz="2135" b="1" dirty="0">
                  <a:latin typeface="微软雅黑" panose="020B0503020204020204" charset="-122"/>
                  <a:ea typeface="微软雅黑" panose="020B0503020204020204" charset="-122"/>
                </a:rPr>
                <a:t>调用 </a:t>
              </a:r>
              <a:r>
                <a:rPr lang="en-US" altLang="zh-CN" sz="2135" b="1" dirty="0">
                  <a:latin typeface="微软雅黑" panose="020B0503020204020204" charset="-122"/>
                  <a:ea typeface="微软雅黑" panose="020B0503020204020204" charset="-122"/>
                </a:rPr>
                <a:t>listen</a:t>
              </a:r>
              <a:r>
                <a:rPr lang="zh-CN" altLang="en-US" sz="2135" b="1" dirty="0">
                  <a:latin typeface="微软雅黑" panose="020B0503020204020204" charset="-122"/>
                  <a:ea typeface="微软雅黑" panose="020B0503020204020204" charset="-122"/>
                </a:rPr>
                <a:t>（收听</a:t>
              </a:r>
              <a:r>
                <a:rPr lang="zh-CN" altLang="en-US" sz="2135" b="1" dirty="0" smtClean="0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r>
                <a:rPr lang="zh-CN" altLang="en-US" sz="2135" b="1" dirty="0">
                  <a:latin typeface="微软雅黑" panose="020B0503020204020204" charset="-122"/>
                  <a:ea typeface="微软雅黑" panose="020B0503020204020204" charset="-122"/>
                </a:rPr>
                <a:t>，</a:t>
              </a:r>
              <a:r>
                <a:rPr lang="zh-CN" altLang="en-US" sz="2135" b="1" dirty="0" smtClean="0">
                  <a:latin typeface="微软雅黑" panose="020B0503020204020204" charset="-122"/>
                  <a:ea typeface="微软雅黑" panose="020B0503020204020204" charset="-122"/>
                </a:rPr>
                <a:t>把</a:t>
              </a:r>
              <a:r>
                <a:rPr lang="zh-CN" altLang="en-US" sz="2135" b="1" dirty="0">
                  <a:latin typeface="微软雅黑" panose="020B0503020204020204" charset="-122"/>
                  <a:ea typeface="微软雅黑" panose="020B0503020204020204" charset="-122"/>
                </a:rPr>
                <a:t>套接字设置为被动方式，以便随时接受客户的服务请求。</a:t>
              </a:r>
              <a:r>
                <a:rPr lang="en-US" altLang="zh-CN" sz="2135" b="1" dirty="0">
                  <a:latin typeface="微软雅黑" panose="020B0503020204020204" charset="-122"/>
                  <a:ea typeface="微软雅黑" panose="020B0503020204020204" charset="-122"/>
                </a:rPr>
                <a:t>UDP </a:t>
              </a:r>
              <a:r>
                <a:rPr lang="zh-CN" altLang="en-US" sz="2135" b="1" dirty="0" smtClean="0">
                  <a:latin typeface="微软雅黑" panose="020B0503020204020204" charset="-122"/>
                  <a:ea typeface="微软雅黑" panose="020B0503020204020204" charset="-122"/>
                </a:rPr>
                <a:t>服务器不</a:t>
              </a:r>
              <a:r>
                <a:rPr lang="zh-CN" altLang="en-US" sz="2135" b="1" dirty="0">
                  <a:latin typeface="微软雅黑" panose="020B0503020204020204" charset="-122"/>
                  <a:ea typeface="微软雅黑" panose="020B0503020204020204" charset="-122"/>
                </a:rPr>
                <a:t>使用 </a:t>
              </a:r>
              <a:r>
                <a:rPr lang="en-US" altLang="zh-CN" sz="2135" b="1" dirty="0">
                  <a:latin typeface="微软雅黑" panose="020B0503020204020204" charset="-122"/>
                  <a:ea typeface="微软雅黑" panose="020B0503020204020204" charset="-122"/>
                </a:rPr>
                <a:t>listen </a:t>
              </a:r>
              <a:r>
                <a:rPr lang="zh-CN" altLang="en-US" sz="2135" b="1" dirty="0">
                  <a:latin typeface="微软雅黑" panose="020B0503020204020204" charset="-122"/>
                  <a:ea typeface="微软雅黑" panose="020B0503020204020204" charset="-122"/>
                </a:rPr>
                <a:t>系统调用</a:t>
              </a:r>
              <a:r>
                <a:rPr lang="zh-CN" altLang="en-US" sz="2135" b="1" dirty="0" smtClean="0">
                  <a:latin typeface="微软雅黑" panose="020B0503020204020204" charset="-122"/>
                  <a:ea typeface="微软雅黑" panose="020B0503020204020204" charset="-122"/>
                </a:rPr>
                <a:t>。</a:t>
              </a:r>
              <a:endParaRPr lang="zh-CN" altLang="en-US" sz="2135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TCP</a:t>
            </a:r>
            <a:r>
              <a:rPr lang="zh-CN" altLang="en-US">
                <a:sym typeface="+mn-ea"/>
              </a:rPr>
              <a:t>通信的实现过程</a:t>
            </a:r>
            <a:endParaRPr lang="zh-CN" altLang="en-US"/>
          </a:p>
        </p:txBody>
      </p:sp>
      <p:sp>
        <p:nvSpPr>
          <p:cNvPr id="5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822490" y="1446115"/>
            <a:ext cx="1270000" cy="420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13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服务器端</a:t>
            </a:r>
            <a:endParaRPr lang="zh-CN" altLang="en-US" sz="213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Box 1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19599" y="1446115"/>
            <a:ext cx="998220" cy="420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13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客户端</a:t>
            </a:r>
            <a:endParaRPr lang="zh-CN" altLang="en-US" sz="213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/>
          <p:cNvSpPr/>
          <p:nvPr>
            <p:custDataLst>
              <p:tags r:id="rId3"/>
            </p:custDataLst>
          </p:nvPr>
        </p:nvSpPr>
        <p:spPr>
          <a:xfrm>
            <a:off x="838025" y="1829630"/>
            <a:ext cx="8478344" cy="2151016"/>
          </a:xfrm>
          <a:prstGeom prst="rect">
            <a:avLst/>
          </a:prstGeom>
          <a:noFill/>
          <a:ln w="12700">
            <a:solidFill>
              <a:srgbClr val="9DD1F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0" name="矩形 39"/>
          <p:cNvSpPr/>
          <p:nvPr>
            <p:custDataLst>
              <p:tags r:id="rId4"/>
            </p:custDataLst>
          </p:nvPr>
        </p:nvSpPr>
        <p:spPr>
          <a:xfrm>
            <a:off x="838025" y="3983110"/>
            <a:ext cx="8478344" cy="1285809"/>
          </a:xfrm>
          <a:prstGeom prst="rect">
            <a:avLst/>
          </a:prstGeom>
          <a:noFill/>
          <a:ln w="12700">
            <a:solidFill>
              <a:srgbClr val="9DD1F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1" name="矩形 40"/>
          <p:cNvSpPr/>
          <p:nvPr>
            <p:custDataLst>
              <p:tags r:id="rId5"/>
            </p:custDataLst>
          </p:nvPr>
        </p:nvSpPr>
        <p:spPr>
          <a:xfrm>
            <a:off x="838025" y="5268920"/>
            <a:ext cx="8478344" cy="596867"/>
          </a:xfrm>
          <a:prstGeom prst="rect">
            <a:avLst/>
          </a:prstGeom>
          <a:noFill/>
          <a:ln w="12700">
            <a:solidFill>
              <a:srgbClr val="9DD1F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6" name="Text Box 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028934" y="1781120"/>
            <a:ext cx="95377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socket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139322" y="2358587"/>
            <a:ext cx="72326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bind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080799" y="2983404"/>
            <a:ext cx="8305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listen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6011167" y="3608220"/>
            <a:ext cx="96012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accept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128222" y="4233038"/>
            <a:ext cx="7162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read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085256" y="4857856"/>
            <a:ext cx="7924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write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 Box 11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083425" y="5482672"/>
            <a:ext cx="78803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close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Line 12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6502576" y="2136614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Line 13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6502576" y="2733478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Line 14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6502576" y="3330343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Line 15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6502576" y="4001200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Line 16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6502576" y="4672056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Line 17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6502576" y="5268920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 Box 19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280127" y="3038974"/>
            <a:ext cx="95377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socket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 Box 20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398874" y="4857856"/>
            <a:ext cx="7162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read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 Box 21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360773" y="4233038"/>
            <a:ext cx="7924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write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 Box 22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363805" y="5482672"/>
            <a:ext cx="78803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close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 Box 23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2193626" y="3614799"/>
            <a:ext cx="112839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connect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Line 24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>
            <a:off x="2757013" y="3386247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Line 25"/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2757013" y="3983111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Line 26"/>
          <p:cNvSpPr>
            <a:spLocks noChangeShapeType="1"/>
          </p:cNvSpPr>
          <p:nvPr>
            <p:custDataLst>
              <p:tags r:id="rId25"/>
            </p:custDataLst>
          </p:nvPr>
        </p:nvSpPr>
        <p:spPr bwMode="auto">
          <a:xfrm>
            <a:off x="2757013" y="4579978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Line 27"/>
          <p:cNvSpPr>
            <a:spLocks noChangeShapeType="1"/>
          </p:cNvSpPr>
          <p:nvPr>
            <p:custDataLst>
              <p:tags r:id="rId26"/>
            </p:custDataLst>
          </p:nvPr>
        </p:nvSpPr>
        <p:spPr bwMode="auto">
          <a:xfrm>
            <a:off x="2757013" y="5250834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Freeform 28"/>
          <p:cNvSpPr/>
          <p:nvPr>
            <p:custDataLst>
              <p:tags r:id="rId27"/>
            </p:custDataLst>
          </p:nvPr>
        </p:nvSpPr>
        <p:spPr bwMode="auto">
          <a:xfrm flipH="1">
            <a:off x="1525512" y="4461442"/>
            <a:ext cx="875587" cy="616596"/>
          </a:xfrm>
          <a:custGeom>
            <a:avLst/>
            <a:gdLst>
              <a:gd name="T0" fmla="*/ 0 w 540"/>
              <a:gd name="T1" fmla="*/ 2147483646 h 391"/>
              <a:gd name="T2" fmla="*/ 2147483646 w 540"/>
              <a:gd name="T3" fmla="*/ 2147483646 h 391"/>
              <a:gd name="T4" fmla="*/ 2147483646 w 540"/>
              <a:gd name="T5" fmla="*/ 2147483646 h 391"/>
              <a:gd name="T6" fmla="*/ 2147483646 w 540"/>
              <a:gd name="T7" fmla="*/ 2147483646 h 391"/>
              <a:gd name="T8" fmla="*/ 2147483646 w 540"/>
              <a:gd name="T9" fmla="*/ 2147483646 h 391"/>
              <a:gd name="T10" fmla="*/ 2147483646 w 540"/>
              <a:gd name="T11" fmla="*/ 2147483646 h 391"/>
              <a:gd name="T12" fmla="*/ 2147483646 w 540"/>
              <a:gd name="T13" fmla="*/ 2147483646 h 391"/>
              <a:gd name="T14" fmla="*/ 2147483646 w 540"/>
              <a:gd name="T15" fmla="*/ 2147483646 h 391"/>
              <a:gd name="T16" fmla="*/ 0 w 540"/>
              <a:gd name="T17" fmla="*/ 2147483646 h 39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40" h="391">
                <a:moveTo>
                  <a:pt x="0" y="384"/>
                </a:moveTo>
                <a:cubicBezTo>
                  <a:pt x="52" y="385"/>
                  <a:pt x="240" y="389"/>
                  <a:pt x="311" y="389"/>
                </a:cubicBezTo>
                <a:cubicBezTo>
                  <a:pt x="382" y="389"/>
                  <a:pt x="397" y="391"/>
                  <a:pt x="427" y="385"/>
                </a:cubicBezTo>
                <a:cubicBezTo>
                  <a:pt x="457" y="379"/>
                  <a:pt x="477" y="372"/>
                  <a:pt x="494" y="355"/>
                </a:cubicBezTo>
                <a:cubicBezTo>
                  <a:pt x="511" y="338"/>
                  <a:pt x="523" y="324"/>
                  <a:pt x="529" y="284"/>
                </a:cubicBezTo>
                <a:cubicBezTo>
                  <a:pt x="535" y="244"/>
                  <a:pt x="540" y="155"/>
                  <a:pt x="533" y="113"/>
                </a:cubicBezTo>
                <a:cubicBezTo>
                  <a:pt x="526" y="71"/>
                  <a:pt x="515" y="52"/>
                  <a:pt x="488" y="34"/>
                </a:cubicBezTo>
                <a:cubicBezTo>
                  <a:pt x="461" y="16"/>
                  <a:pt x="451" y="10"/>
                  <a:pt x="370" y="5"/>
                </a:cubicBezTo>
                <a:cubicBezTo>
                  <a:pt x="289" y="0"/>
                  <a:pt x="77" y="6"/>
                  <a:pt x="0" y="6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Freeform 29"/>
          <p:cNvSpPr/>
          <p:nvPr>
            <p:custDataLst>
              <p:tags r:id="rId28"/>
            </p:custDataLst>
          </p:nvPr>
        </p:nvSpPr>
        <p:spPr bwMode="auto">
          <a:xfrm>
            <a:off x="6855836" y="4435919"/>
            <a:ext cx="504272" cy="642903"/>
          </a:xfrm>
          <a:custGeom>
            <a:avLst/>
            <a:gdLst>
              <a:gd name="T0" fmla="*/ 0 w 311"/>
              <a:gd name="T1" fmla="*/ 2147483646 h 391"/>
              <a:gd name="T2" fmla="*/ 2147483646 w 311"/>
              <a:gd name="T3" fmla="*/ 2147483646 h 391"/>
              <a:gd name="T4" fmla="*/ 2147483646 w 311"/>
              <a:gd name="T5" fmla="*/ 2147483646 h 391"/>
              <a:gd name="T6" fmla="*/ 2147483646 w 311"/>
              <a:gd name="T7" fmla="*/ 2147483646 h 391"/>
              <a:gd name="T8" fmla="*/ 2147483646 w 311"/>
              <a:gd name="T9" fmla="*/ 2147483646 h 391"/>
              <a:gd name="T10" fmla="*/ 2147483646 w 311"/>
              <a:gd name="T11" fmla="*/ 2147483646 h 391"/>
              <a:gd name="T12" fmla="*/ 2147483646 w 311"/>
              <a:gd name="T13" fmla="*/ 2147483646 h 391"/>
              <a:gd name="T14" fmla="*/ 2147483646 w 311"/>
              <a:gd name="T15" fmla="*/ 2147483646 h 391"/>
              <a:gd name="T16" fmla="*/ 0 w 311"/>
              <a:gd name="T17" fmla="*/ 2147483646 h 39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11" h="391">
                <a:moveTo>
                  <a:pt x="0" y="387"/>
                </a:moveTo>
                <a:cubicBezTo>
                  <a:pt x="30" y="387"/>
                  <a:pt x="139" y="391"/>
                  <a:pt x="182" y="389"/>
                </a:cubicBezTo>
                <a:cubicBezTo>
                  <a:pt x="225" y="387"/>
                  <a:pt x="238" y="382"/>
                  <a:pt x="256" y="373"/>
                </a:cubicBezTo>
                <a:cubicBezTo>
                  <a:pt x="274" y="364"/>
                  <a:pt x="284" y="354"/>
                  <a:pt x="293" y="337"/>
                </a:cubicBezTo>
                <a:cubicBezTo>
                  <a:pt x="302" y="320"/>
                  <a:pt x="306" y="304"/>
                  <a:pt x="308" y="269"/>
                </a:cubicBezTo>
                <a:cubicBezTo>
                  <a:pt x="310" y="234"/>
                  <a:pt x="311" y="160"/>
                  <a:pt x="308" y="124"/>
                </a:cubicBezTo>
                <a:cubicBezTo>
                  <a:pt x="305" y="88"/>
                  <a:pt x="305" y="70"/>
                  <a:pt x="289" y="50"/>
                </a:cubicBezTo>
                <a:cubicBezTo>
                  <a:pt x="273" y="30"/>
                  <a:pt x="259" y="14"/>
                  <a:pt x="211" y="7"/>
                </a:cubicBezTo>
                <a:cubicBezTo>
                  <a:pt x="163" y="0"/>
                  <a:pt x="44" y="9"/>
                  <a:pt x="0" y="9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Freeform 30"/>
          <p:cNvSpPr/>
          <p:nvPr>
            <p:custDataLst>
              <p:tags r:id="rId29"/>
            </p:custDataLst>
          </p:nvPr>
        </p:nvSpPr>
        <p:spPr bwMode="auto">
          <a:xfrm>
            <a:off x="6976051" y="3793090"/>
            <a:ext cx="872344" cy="1923779"/>
          </a:xfrm>
          <a:custGeom>
            <a:avLst/>
            <a:gdLst>
              <a:gd name="T0" fmla="*/ 0 w 538"/>
              <a:gd name="T1" fmla="*/ 2147483646 h 1175"/>
              <a:gd name="T2" fmla="*/ 2147483646 w 538"/>
              <a:gd name="T3" fmla="*/ 2147483646 h 1175"/>
              <a:gd name="T4" fmla="*/ 2147483646 w 538"/>
              <a:gd name="T5" fmla="*/ 2147483646 h 1175"/>
              <a:gd name="T6" fmla="*/ 2147483646 w 538"/>
              <a:gd name="T7" fmla="*/ 2147483646 h 1175"/>
              <a:gd name="T8" fmla="*/ 2147483646 w 538"/>
              <a:gd name="T9" fmla="*/ 2147483646 h 1175"/>
              <a:gd name="T10" fmla="*/ 2147483646 w 538"/>
              <a:gd name="T11" fmla="*/ 2147483646 h 1175"/>
              <a:gd name="T12" fmla="*/ 2147483646 w 538"/>
              <a:gd name="T13" fmla="*/ 2147483646 h 1175"/>
              <a:gd name="T14" fmla="*/ 2147483646 w 538"/>
              <a:gd name="T15" fmla="*/ 2147483646 h 1175"/>
              <a:gd name="T16" fmla="*/ 0 w 538"/>
              <a:gd name="T17" fmla="*/ 2147483646 h 117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38" h="1175">
                <a:moveTo>
                  <a:pt x="0" y="1171"/>
                </a:moveTo>
                <a:cubicBezTo>
                  <a:pt x="51" y="1171"/>
                  <a:pt x="237" y="1175"/>
                  <a:pt x="306" y="1168"/>
                </a:cubicBezTo>
                <a:cubicBezTo>
                  <a:pt x="375" y="1161"/>
                  <a:pt x="386" y="1151"/>
                  <a:pt x="417" y="1129"/>
                </a:cubicBezTo>
                <a:cubicBezTo>
                  <a:pt x="448" y="1107"/>
                  <a:pt x="472" y="1080"/>
                  <a:pt x="489" y="1036"/>
                </a:cubicBezTo>
                <a:cubicBezTo>
                  <a:pt x="506" y="992"/>
                  <a:pt x="515" y="980"/>
                  <a:pt x="522" y="865"/>
                </a:cubicBezTo>
                <a:cubicBezTo>
                  <a:pt x="529" y="750"/>
                  <a:pt x="538" y="472"/>
                  <a:pt x="534" y="348"/>
                </a:cubicBezTo>
                <a:cubicBezTo>
                  <a:pt x="530" y="224"/>
                  <a:pt x="529" y="176"/>
                  <a:pt x="501" y="121"/>
                </a:cubicBezTo>
                <a:cubicBezTo>
                  <a:pt x="473" y="66"/>
                  <a:pt x="448" y="38"/>
                  <a:pt x="365" y="19"/>
                </a:cubicBezTo>
                <a:cubicBezTo>
                  <a:pt x="282" y="0"/>
                  <a:pt x="76" y="11"/>
                  <a:pt x="0" y="9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Line 31"/>
          <p:cNvSpPr>
            <a:spLocks noChangeShapeType="1"/>
          </p:cNvSpPr>
          <p:nvPr>
            <p:custDataLst>
              <p:tags r:id="rId30"/>
            </p:custDataLst>
          </p:nvPr>
        </p:nvSpPr>
        <p:spPr bwMode="auto">
          <a:xfrm>
            <a:off x="3089412" y="4604640"/>
            <a:ext cx="3309392" cy="147983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prstDash val="dash"/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Line 32"/>
          <p:cNvSpPr>
            <a:spLocks noChangeShapeType="1"/>
          </p:cNvSpPr>
          <p:nvPr>
            <p:custDataLst>
              <p:tags r:id="rId31"/>
            </p:custDataLst>
          </p:nvPr>
        </p:nvSpPr>
        <p:spPr bwMode="auto">
          <a:xfrm flipH="1">
            <a:off x="2930508" y="5232747"/>
            <a:ext cx="3309392" cy="147983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prstDash val="dash"/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Line 34"/>
          <p:cNvSpPr>
            <a:spLocks noChangeShapeType="1"/>
          </p:cNvSpPr>
          <p:nvPr>
            <p:custDataLst>
              <p:tags r:id="rId32"/>
            </p:custDataLst>
          </p:nvPr>
        </p:nvSpPr>
        <p:spPr bwMode="auto">
          <a:xfrm rot="186387" flipV="1">
            <a:off x="3292093" y="3976536"/>
            <a:ext cx="3040229" cy="8220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prstDash val="dash"/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 Box 35"/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 rot="186387">
            <a:off x="3940955" y="3553254"/>
            <a:ext cx="160782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连接建立请求</a:t>
            </a:r>
            <a:endParaRPr lang="zh-CN" altLang="en-US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 Box 18"/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8038085" y="2792480"/>
            <a:ext cx="113284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65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连接建立</a:t>
            </a:r>
            <a:endParaRPr lang="zh-CN" altLang="en-US" sz="1865" b="1" dirty="0" smtClean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 Box 18"/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8038085" y="4422559"/>
            <a:ext cx="113284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65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数据传送</a:t>
            </a:r>
            <a:endParaRPr lang="zh-CN" altLang="en-US" sz="1865" b="1" dirty="0" smtClean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 Box 18"/>
          <p:cNvSpPr txBox="1"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8038085" y="5339896"/>
            <a:ext cx="113284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65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连接释放</a:t>
            </a:r>
            <a:endParaRPr lang="zh-CN" altLang="en-US" sz="1865" b="1" dirty="0" smtClean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3" name="直接箭头连接符 72"/>
          <p:cNvCxnSpPr/>
          <p:nvPr>
            <p:custDataLst>
              <p:tags r:id="rId37"/>
            </p:custDataLst>
          </p:nvPr>
        </p:nvCxnSpPr>
        <p:spPr>
          <a:xfrm>
            <a:off x="5221697" y="2870021"/>
            <a:ext cx="846909" cy="761812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矩形 73"/>
          <p:cNvSpPr/>
          <p:nvPr>
            <p:custDataLst>
              <p:tags r:id="rId38"/>
            </p:custDataLst>
          </p:nvPr>
        </p:nvSpPr>
        <p:spPr>
          <a:xfrm>
            <a:off x="988278" y="1835349"/>
            <a:ext cx="4261923" cy="14071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p>
            <a:pPr algn="ctr"/>
            <a:r>
              <a:rPr lang="zh-CN" altLang="en-US" sz="2135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服务器端</a:t>
            </a:r>
            <a:r>
              <a:rPr lang="zh-CN" altLang="en-US" sz="2135" b="1" dirty="0">
                <a:latin typeface="微软雅黑" panose="020B0503020204020204" charset="-122"/>
                <a:ea typeface="微软雅黑" panose="020B0503020204020204" charset="-122"/>
              </a:rPr>
              <a:t>调用 </a:t>
            </a:r>
            <a:r>
              <a:rPr lang="en-US" altLang="zh-CN" sz="2135" b="1" dirty="0">
                <a:latin typeface="微软雅黑" panose="020B0503020204020204" charset="-122"/>
                <a:ea typeface="微软雅黑" panose="020B0503020204020204" charset="-122"/>
              </a:rPr>
              <a:t>accept</a:t>
            </a:r>
            <a:r>
              <a:rPr lang="zh-CN" altLang="en-US" sz="2135" b="1" dirty="0">
                <a:latin typeface="微软雅黑" panose="020B0503020204020204" charset="-122"/>
                <a:ea typeface="微软雅黑" panose="020B0503020204020204" charset="-122"/>
              </a:rPr>
              <a:t>（接受），以便把远地客户进程发来的连接请求提取出来</a:t>
            </a:r>
            <a:r>
              <a:rPr lang="zh-CN" altLang="en-US" sz="2135" b="1" dirty="0" smtClean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en-US" altLang="zh-CN" sz="2135" b="1" dirty="0">
                <a:latin typeface="微软雅黑" panose="020B0503020204020204" charset="-122"/>
                <a:ea typeface="微软雅黑" panose="020B0503020204020204" charset="-122"/>
              </a:rPr>
              <a:t>UDP </a:t>
            </a:r>
            <a:r>
              <a:rPr lang="zh-CN" altLang="en-US" sz="2135" b="1" dirty="0">
                <a:latin typeface="微软雅黑" panose="020B0503020204020204" charset="-122"/>
                <a:ea typeface="微软雅黑" panose="020B0503020204020204" charset="-122"/>
              </a:rPr>
              <a:t>服务器不使用 </a:t>
            </a:r>
            <a:r>
              <a:rPr lang="en-US" altLang="zh-CN" sz="2135" b="1" dirty="0" smtClean="0">
                <a:latin typeface="微软雅黑" panose="020B0503020204020204" charset="-122"/>
                <a:ea typeface="微软雅黑" panose="020B0503020204020204" charset="-122"/>
              </a:rPr>
              <a:t>accept </a:t>
            </a:r>
            <a:r>
              <a:rPr lang="zh-CN" altLang="en-US" sz="2135" b="1" dirty="0">
                <a:latin typeface="微软雅黑" panose="020B0503020204020204" charset="-122"/>
                <a:ea typeface="微软雅黑" panose="020B0503020204020204" charset="-122"/>
              </a:rPr>
              <a:t>系统调用</a:t>
            </a:r>
            <a:endParaRPr lang="zh-CN" altLang="en-US" sz="2135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TCP</a:t>
            </a:r>
            <a:r>
              <a:rPr lang="zh-CN" altLang="en-US">
                <a:sym typeface="+mn-ea"/>
              </a:rPr>
              <a:t>通信的实现过程</a:t>
            </a:r>
            <a:endParaRPr lang="zh-CN" altLang="en-US"/>
          </a:p>
        </p:txBody>
      </p:sp>
      <p:sp>
        <p:nvSpPr>
          <p:cNvPr id="5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822490" y="1446115"/>
            <a:ext cx="1270000" cy="420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13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服务器端</a:t>
            </a:r>
            <a:endParaRPr lang="zh-CN" altLang="en-US" sz="213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Box 1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19599" y="1446115"/>
            <a:ext cx="998220" cy="420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13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客户端</a:t>
            </a:r>
            <a:endParaRPr lang="zh-CN" altLang="en-US" sz="213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/>
          <p:cNvSpPr/>
          <p:nvPr>
            <p:custDataLst>
              <p:tags r:id="rId3"/>
            </p:custDataLst>
          </p:nvPr>
        </p:nvSpPr>
        <p:spPr>
          <a:xfrm>
            <a:off x="838025" y="1829630"/>
            <a:ext cx="8478344" cy="2151016"/>
          </a:xfrm>
          <a:prstGeom prst="rect">
            <a:avLst/>
          </a:prstGeom>
          <a:noFill/>
          <a:ln w="12700">
            <a:solidFill>
              <a:srgbClr val="9DD1F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0" name="矩形 39"/>
          <p:cNvSpPr/>
          <p:nvPr>
            <p:custDataLst>
              <p:tags r:id="rId4"/>
            </p:custDataLst>
          </p:nvPr>
        </p:nvSpPr>
        <p:spPr>
          <a:xfrm>
            <a:off x="838025" y="3983110"/>
            <a:ext cx="8478344" cy="1285809"/>
          </a:xfrm>
          <a:prstGeom prst="rect">
            <a:avLst/>
          </a:prstGeom>
          <a:noFill/>
          <a:ln w="12700">
            <a:solidFill>
              <a:srgbClr val="9DD1F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1" name="矩形 40"/>
          <p:cNvSpPr/>
          <p:nvPr>
            <p:custDataLst>
              <p:tags r:id="rId5"/>
            </p:custDataLst>
          </p:nvPr>
        </p:nvSpPr>
        <p:spPr>
          <a:xfrm>
            <a:off x="838025" y="5268920"/>
            <a:ext cx="8478344" cy="596867"/>
          </a:xfrm>
          <a:prstGeom prst="rect">
            <a:avLst/>
          </a:prstGeom>
          <a:noFill/>
          <a:ln w="12700">
            <a:solidFill>
              <a:srgbClr val="9DD1F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6" name="Text Box 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028934" y="1781120"/>
            <a:ext cx="95377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socket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139322" y="2358587"/>
            <a:ext cx="72326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bind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080799" y="2983404"/>
            <a:ext cx="8305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listen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6011167" y="3608220"/>
            <a:ext cx="96012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accept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128222" y="4233038"/>
            <a:ext cx="7162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read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085256" y="4857856"/>
            <a:ext cx="7924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write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 Box 11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083425" y="5482672"/>
            <a:ext cx="78803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close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Line 12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6502576" y="2136614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Line 13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6502576" y="2733478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Line 14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6502576" y="3330343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Line 15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6502576" y="4001200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Line 16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6502576" y="4672056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Line 17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6502576" y="5268920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 Box 19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280127" y="3038974"/>
            <a:ext cx="95377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socket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 Box 20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398874" y="4857856"/>
            <a:ext cx="7162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read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 Box 21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360773" y="4233038"/>
            <a:ext cx="7924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write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 Box 22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363805" y="5482672"/>
            <a:ext cx="78803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close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 Box 23"/>
          <p:cNvSpPr txBox="1">
            <a:spLocks noChangeArrowheads="1"/>
          </p:cNvSpPr>
          <p:nvPr/>
        </p:nvSpPr>
        <p:spPr bwMode="auto">
          <a:xfrm>
            <a:off x="2193626" y="3614799"/>
            <a:ext cx="112839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connect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Line 24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2757013" y="3386247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Line 25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>
            <a:off x="2757013" y="3983111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Line 26"/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2757013" y="4579978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Line 27"/>
          <p:cNvSpPr>
            <a:spLocks noChangeShapeType="1"/>
          </p:cNvSpPr>
          <p:nvPr>
            <p:custDataLst>
              <p:tags r:id="rId25"/>
            </p:custDataLst>
          </p:nvPr>
        </p:nvSpPr>
        <p:spPr bwMode="auto">
          <a:xfrm>
            <a:off x="2757013" y="5250834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Freeform 28"/>
          <p:cNvSpPr/>
          <p:nvPr>
            <p:custDataLst>
              <p:tags r:id="rId26"/>
            </p:custDataLst>
          </p:nvPr>
        </p:nvSpPr>
        <p:spPr bwMode="auto">
          <a:xfrm flipH="1">
            <a:off x="1525512" y="4461442"/>
            <a:ext cx="875587" cy="616596"/>
          </a:xfrm>
          <a:custGeom>
            <a:avLst/>
            <a:gdLst>
              <a:gd name="T0" fmla="*/ 0 w 540"/>
              <a:gd name="T1" fmla="*/ 2147483646 h 391"/>
              <a:gd name="T2" fmla="*/ 2147483646 w 540"/>
              <a:gd name="T3" fmla="*/ 2147483646 h 391"/>
              <a:gd name="T4" fmla="*/ 2147483646 w 540"/>
              <a:gd name="T5" fmla="*/ 2147483646 h 391"/>
              <a:gd name="T6" fmla="*/ 2147483646 w 540"/>
              <a:gd name="T7" fmla="*/ 2147483646 h 391"/>
              <a:gd name="T8" fmla="*/ 2147483646 w 540"/>
              <a:gd name="T9" fmla="*/ 2147483646 h 391"/>
              <a:gd name="T10" fmla="*/ 2147483646 w 540"/>
              <a:gd name="T11" fmla="*/ 2147483646 h 391"/>
              <a:gd name="T12" fmla="*/ 2147483646 w 540"/>
              <a:gd name="T13" fmla="*/ 2147483646 h 391"/>
              <a:gd name="T14" fmla="*/ 2147483646 w 540"/>
              <a:gd name="T15" fmla="*/ 2147483646 h 391"/>
              <a:gd name="T16" fmla="*/ 0 w 540"/>
              <a:gd name="T17" fmla="*/ 2147483646 h 39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40" h="391">
                <a:moveTo>
                  <a:pt x="0" y="384"/>
                </a:moveTo>
                <a:cubicBezTo>
                  <a:pt x="52" y="385"/>
                  <a:pt x="240" y="389"/>
                  <a:pt x="311" y="389"/>
                </a:cubicBezTo>
                <a:cubicBezTo>
                  <a:pt x="382" y="389"/>
                  <a:pt x="397" y="391"/>
                  <a:pt x="427" y="385"/>
                </a:cubicBezTo>
                <a:cubicBezTo>
                  <a:pt x="457" y="379"/>
                  <a:pt x="477" y="372"/>
                  <a:pt x="494" y="355"/>
                </a:cubicBezTo>
                <a:cubicBezTo>
                  <a:pt x="511" y="338"/>
                  <a:pt x="523" y="324"/>
                  <a:pt x="529" y="284"/>
                </a:cubicBezTo>
                <a:cubicBezTo>
                  <a:pt x="535" y="244"/>
                  <a:pt x="540" y="155"/>
                  <a:pt x="533" y="113"/>
                </a:cubicBezTo>
                <a:cubicBezTo>
                  <a:pt x="526" y="71"/>
                  <a:pt x="515" y="52"/>
                  <a:pt x="488" y="34"/>
                </a:cubicBezTo>
                <a:cubicBezTo>
                  <a:pt x="461" y="16"/>
                  <a:pt x="451" y="10"/>
                  <a:pt x="370" y="5"/>
                </a:cubicBezTo>
                <a:cubicBezTo>
                  <a:pt x="289" y="0"/>
                  <a:pt x="77" y="6"/>
                  <a:pt x="0" y="6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Freeform 29"/>
          <p:cNvSpPr/>
          <p:nvPr>
            <p:custDataLst>
              <p:tags r:id="rId27"/>
            </p:custDataLst>
          </p:nvPr>
        </p:nvSpPr>
        <p:spPr bwMode="auto">
          <a:xfrm>
            <a:off x="6855836" y="4435919"/>
            <a:ext cx="504272" cy="642903"/>
          </a:xfrm>
          <a:custGeom>
            <a:avLst/>
            <a:gdLst>
              <a:gd name="T0" fmla="*/ 0 w 311"/>
              <a:gd name="T1" fmla="*/ 2147483646 h 391"/>
              <a:gd name="T2" fmla="*/ 2147483646 w 311"/>
              <a:gd name="T3" fmla="*/ 2147483646 h 391"/>
              <a:gd name="T4" fmla="*/ 2147483646 w 311"/>
              <a:gd name="T5" fmla="*/ 2147483646 h 391"/>
              <a:gd name="T6" fmla="*/ 2147483646 w 311"/>
              <a:gd name="T7" fmla="*/ 2147483646 h 391"/>
              <a:gd name="T8" fmla="*/ 2147483646 w 311"/>
              <a:gd name="T9" fmla="*/ 2147483646 h 391"/>
              <a:gd name="T10" fmla="*/ 2147483646 w 311"/>
              <a:gd name="T11" fmla="*/ 2147483646 h 391"/>
              <a:gd name="T12" fmla="*/ 2147483646 w 311"/>
              <a:gd name="T13" fmla="*/ 2147483646 h 391"/>
              <a:gd name="T14" fmla="*/ 2147483646 w 311"/>
              <a:gd name="T15" fmla="*/ 2147483646 h 391"/>
              <a:gd name="T16" fmla="*/ 0 w 311"/>
              <a:gd name="T17" fmla="*/ 2147483646 h 39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11" h="391">
                <a:moveTo>
                  <a:pt x="0" y="387"/>
                </a:moveTo>
                <a:cubicBezTo>
                  <a:pt x="30" y="387"/>
                  <a:pt x="139" y="391"/>
                  <a:pt x="182" y="389"/>
                </a:cubicBezTo>
                <a:cubicBezTo>
                  <a:pt x="225" y="387"/>
                  <a:pt x="238" y="382"/>
                  <a:pt x="256" y="373"/>
                </a:cubicBezTo>
                <a:cubicBezTo>
                  <a:pt x="274" y="364"/>
                  <a:pt x="284" y="354"/>
                  <a:pt x="293" y="337"/>
                </a:cubicBezTo>
                <a:cubicBezTo>
                  <a:pt x="302" y="320"/>
                  <a:pt x="306" y="304"/>
                  <a:pt x="308" y="269"/>
                </a:cubicBezTo>
                <a:cubicBezTo>
                  <a:pt x="310" y="234"/>
                  <a:pt x="311" y="160"/>
                  <a:pt x="308" y="124"/>
                </a:cubicBezTo>
                <a:cubicBezTo>
                  <a:pt x="305" y="88"/>
                  <a:pt x="305" y="70"/>
                  <a:pt x="289" y="50"/>
                </a:cubicBezTo>
                <a:cubicBezTo>
                  <a:pt x="273" y="30"/>
                  <a:pt x="259" y="14"/>
                  <a:pt x="211" y="7"/>
                </a:cubicBezTo>
                <a:cubicBezTo>
                  <a:pt x="163" y="0"/>
                  <a:pt x="44" y="9"/>
                  <a:pt x="0" y="9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Freeform 30"/>
          <p:cNvSpPr/>
          <p:nvPr>
            <p:custDataLst>
              <p:tags r:id="rId28"/>
            </p:custDataLst>
          </p:nvPr>
        </p:nvSpPr>
        <p:spPr bwMode="auto">
          <a:xfrm>
            <a:off x="6976051" y="3793090"/>
            <a:ext cx="872344" cy="1923779"/>
          </a:xfrm>
          <a:custGeom>
            <a:avLst/>
            <a:gdLst>
              <a:gd name="T0" fmla="*/ 0 w 538"/>
              <a:gd name="T1" fmla="*/ 2147483646 h 1175"/>
              <a:gd name="T2" fmla="*/ 2147483646 w 538"/>
              <a:gd name="T3" fmla="*/ 2147483646 h 1175"/>
              <a:gd name="T4" fmla="*/ 2147483646 w 538"/>
              <a:gd name="T5" fmla="*/ 2147483646 h 1175"/>
              <a:gd name="T6" fmla="*/ 2147483646 w 538"/>
              <a:gd name="T7" fmla="*/ 2147483646 h 1175"/>
              <a:gd name="T8" fmla="*/ 2147483646 w 538"/>
              <a:gd name="T9" fmla="*/ 2147483646 h 1175"/>
              <a:gd name="T10" fmla="*/ 2147483646 w 538"/>
              <a:gd name="T11" fmla="*/ 2147483646 h 1175"/>
              <a:gd name="T12" fmla="*/ 2147483646 w 538"/>
              <a:gd name="T13" fmla="*/ 2147483646 h 1175"/>
              <a:gd name="T14" fmla="*/ 2147483646 w 538"/>
              <a:gd name="T15" fmla="*/ 2147483646 h 1175"/>
              <a:gd name="T16" fmla="*/ 0 w 538"/>
              <a:gd name="T17" fmla="*/ 2147483646 h 117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38" h="1175">
                <a:moveTo>
                  <a:pt x="0" y="1171"/>
                </a:moveTo>
                <a:cubicBezTo>
                  <a:pt x="51" y="1171"/>
                  <a:pt x="237" y="1175"/>
                  <a:pt x="306" y="1168"/>
                </a:cubicBezTo>
                <a:cubicBezTo>
                  <a:pt x="375" y="1161"/>
                  <a:pt x="386" y="1151"/>
                  <a:pt x="417" y="1129"/>
                </a:cubicBezTo>
                <a:cubicBezTo>
                  <a:pt x="448" y="1107"/>
                  <a:pt x="472" y="1080"/>
                  <a:pt x="489" y="1036"/>
                </a:cubicBezTo>
                <a:cubicBezTo>
                  <a:pt x="506" y="992"/>
                  <a:pt x="515" y="980"/>
                  <a:pt x="522" y="865"/>
                </a:cubicBezTo>
                <a:cubicBezTo>
                  <a:pt x="529" y="750"/>
                  <a:pt x="538" y="472"/>
                  <a:pt x="534" y="348"/>
                </a:cubicBezTo>
                <a:cubicBezTo>
                  <a:pt x="530" y="224"/>
                  <a:pt x="529" y="176"/>
                  <a:pt x="501" y="121"/>
                </a:cubicBezTo>
                <a:cubicBezTo>
                  <a:pt x="473" y="66"/>
                  <a:pt x="448" y="38"/>
                  <a:pt x="365" y="19"/>
                </a:cubicBezTo>
                <a:cubicBezTo>
                  <a:pt x="282" y="0"/>
                  <a:pt x="76" y="11"/>
                  <a:pt x="0" y="9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Line 31"/>
          <p:cNvSpPr>
            <a:spLocks noChangeShapeType="1"/>
          </p:cNvSpPr>
          <p:nvPr>
            <p:custDataLst>
              <p:tags r:id="rId29"/>
            </p:custDataLst>
          </p:nvPr>
        </p:nvSpPr>
        <p:spPr bwMode="auto">
          <a:xfrm>
            <a:off x="3089412" y="4604640"/>
            <a:ext cx="3309392" cy="147983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prstDash val="dash"/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Line 32"/>
          <p:cNvSpPr>
            <a:spLocks noChangeShapeType="1"/>
          </p:cNvSpPr>
          <p:nvPr>
            <p:custDataLst>
              <p:tags r:id="rId30"/>
            </p:custDataLst>
          </p:nvPr>
        </p:nvSpPr>
        <p:spPr bwMode="auto">
          <a:xfrm flipH="1">
            <a:off x="2930508" y="5232747"/>
            <a:ext cx="3309392" cy="147983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prstDash val="dash"/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Line 34"/>
          <p:cNvSpPr>
            <a:spLocks noChangeShapeType="1"/>
          </p:cNvSpPr>
          <p:nvPr>
            <p:custDataLst>
              <p:tags r:id="rId31"/>
            </p:custDataLst>
          </p:nvPr>
        </p:nvSpPr>
        <p:spPr bwMode="auto">
          <a:xfrm rot="186387" flipV="1">
            <a:off x="3292093" y="3976536"/>
            <a:ext cx="3040229" cy="8220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prstDash val="dash"/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 Box 35"/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 rot="186387">
            <a:off x="3940955" y="3553254"/>
            <a:ext cx="160782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连接建立请求</a:t>
            </a:r>
            <a:endParaRPr lang="zh-CN" altLang="en-US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 Box 18"/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8038085" y="2792480"/>
            <a:ext cx="113284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65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连接建立</a:t>
            </a:r>
            <a:endParaRPr lang="zh-CN" altLang="en-US" sz="1865" b="1" dirty="0" smtClean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 Box 18"/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8038085" y="4422559"/>
            <a:ext cx="113284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65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数据传送</a:t>
            </a:r>
            <a:endParaRPr lang="zh-CN" altLang="en-US" sz="1865" b="1" dirty="0" smtClean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 Box 18"/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8038085" y="5339896"/>
            <a:ext cx="113284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65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连接释放</a:t>
            </a:r>
            <a:endParaRPr lang="zh-CN" altLang="en-US" sz="1865" b="1" dirty="0" smtClean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6" name="直接箭头连接符 85"/>
          <p:cNvCxnSpPr/>
          <p:nvPr>
            <p:custDataLst>
              <p:tags r:id="rId36"/>
            </p:custDataLst>
          </p:nvPr>
        </p:nvCxnSpPr>
        <p:spPr>
          <a:xfrm flipH="1">
            <a:off x="3215624" y="3010253"/>
            <a:ext cx="353971" cy="673420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矩形 86"/>
          <p:cNvSpPr/>
          <p:nvPr>
            <p:custDataLst>
              <p:tags r:id="rId37"/>
            </p:custDataLst>
          </p:nvPr>
        </p:nvSpPr>
        <p:spPr>
          <a:xfrm>
            <a:off x="2398733" y="1913454"/>
            <a:ext cx="3572525" cy="10782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p>
            <a:pPr algn="ctr"/>
            <a:r>
              <a:rPr lang="zh-CN" altLang="en-US" sz="2135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客户</a:t>
            </a:r>
            <a:r>
              <a:rPr lang="zh-CN" altLang="en-US" sz="2135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进程</a:t>
            </a:r>
            <a:r>
              <a:rPr lang="zh-CN" altLang="en-US" sz="2135" b="1" dirty="0" smtClean="0">
                <a:latin typeface="微软雅黑" panose="020B0503020204020204" charset="-122"/>
                <a:ea typeface="微软雅黑" panose="020B0503020204020204" charset="-122"/>
              </a:rPr>
              <a:t>调用 </a:t>
            </a:r>
            <a:r>
              <a:rPr lang="en-US" altLang="zh-CN" sz="2135" b="1" dirty="0" smtClean="0">
                <a:latin typeface="微软雅黑" panose="020B0503020204020204" charset="-122"/>
                <a:ea typeface="微软雅黑" panose="020B0503020204020204" charset="-122"/>
              </a:rPr>
              <a:t>connect</a:t>
            </a:r>
            <a:r>
              <a:rPr lang="zh-CN" altLang="en-US" sz="2135" b="1" dirty="0">
                <a:latin typeface="微软雅黑" panose="020B0503020204020204" charset="-122"/>
                <a:ea typeface="微软雅黑" panose="020B0503020204020204" charset="-122"/>
              </a:rPr>
              <a:t>，以便和远地服务器建立连接（这就是主动</a:t>
            </a:r>
            <a:r>
              <a:rPr lang="zh-CN" altLang="en-US" sz="2135" b="1" dirty="0" smtClean="0">
                <a:latin typeface="微软雅黑" panose="020B0503020204020204" charset="-122"/>
                <a:ea typeface="微软雅黑" panose="020B0503020204020204" charset="-122"/>
              </a:rPr>
              <a:t>打开</a:t>
            </a:r>
            <a:r>
              <a:rPr lang="zh-CN" altLang="en-US" sz="2135" b="1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altLang="en-US" sz="2135" b="1" dirty="0" smtClean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135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TCP</a:t>
            </a:r>
            <a:r>
              <a:rPr lang="zh-CN" altLang="en-US">
                <a:sym typeface="+mn-ea"/>
              </a:rPr>
              <a:t>通信的实现过程</a:t>
            </a:r>
            <a:endParaRPr lang="zh-CN" altLang="en-US"/>
          </a:p>
        </p:txBody>
      </p:sp>
      <p:sp>
        <p:nvSpPr>
          <p:cNvPr id="5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822490" y="1446115"/>
            <a:ext cx="1270000" cy="420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13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服务器端</a:t>
            </a:r>
            <a:endParaRPr lang="zh-CN" altLang="en-US" sz="213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Box 1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19599" y="1446115"/>
            <a:ext cx="998220" cy="420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13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客户端</a:t>
            </a:r>
            <a:endParaRPr lang="zh-CN" altLang="en-US" sz="213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/>
          <p:cNvSpPr/>
          <p:nvPr>
            <p:custDataLst>
              <p:tags r:id="rId3"/>
            </p:custDataLst>
          </p:nvPr>
        </p:nvSpPr>
        <p:spPr>
          <a:xfrm>
            <a:off x="838025" y="1829630"/>
            <a:ext cx="8478344" cy="2151016"/>
          </a:xfrm>
          <a:prstGeom prst="rect">
            <a:avLst/>
          </a:prstGeom>
          <a:noFill/>
          <a:ln w="12700">
            <a:solidFill>
              <a:srgbClr val="9DD1F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0" name="矩形 39"/>
          <p:cNvSpPr/>
          <p:nvPr>
            <p:custDataLst>
              <p:tags r:id="rId4"/>
            </p:custDataLst>
          </p:nvPr>
        </p:nvSpPr>
        <p:spPr>
          <a:xfrm>
            <a:off x="838025" y="3983110"/>
            <a:ext cx="8478344" cy="1285809"/>
          </a:xfrm>
          <a:prstGeom prst="rect">
            <a:avLst/>
          </a:prstGeom>
          <a:noFill/>
          <a:ln w="12700">
            <a:solidFill>
              <a:srgbClr val="9DD1F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1" name="矩形 40"/>
          <p:cNvSpPr/>
          <p:nvPr>
            <p:custDataLst>
              <p:tags r:id="rId5"/>
            </p:custDataLst>
          </p:nvPr>
        </p:nvSpPr>
        <p:spPr>
          <a:xfrm>
            <a:off x="838025" y="5268920"/>
            <a:ext cx="8478344" cy="596867"/>
          </a:xfrm>
          <a:prstGeom prst="rect">
            <a:avLst/>
          </a:prstGeom>
          <a:noFill/>
          <a:ln w="12700">
            <a:solidFill>
              <a:srgbClr val="9DD1F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6" name="Text Box 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028934" y="1781120"/>
            <a:ext cx="95377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socket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139322" y="2358587"/>
            <a:ext cx="72326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bind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080799" y="2983404"/>
            <a:ext cx="8305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listen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6011167" y="3608220"/>
            <a:ext cx="96012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accept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6128222" y="4233038"/>
            <a:ext cx="7162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read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6085256" y="4857856"/>
            <a:ext cx="7924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rgbClr val="9DD1FD"/>
                </a:solidFill>
                <a:latin typeface="微软雅黑" panose="020B0503020204020204" charset="-122"/>
                <a:ea typeface="微软雅黑" panose="020B0503020204020204" charset="-122"/>
              </a:rPr>
              <a:t>write</a:t>
            </a:r>
            <a:endParaRPr lang="en-US" altLang="zh-CN" sz="1865" b="1">
              <a:solidFill>
                <a:srgbClr val="9DD1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 Box 11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083425" y="5482672"/>
            <a:ext cx="78803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close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Line 12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6502576" y="2136614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Line 13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6502576" y="2733478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Line 14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6502576" y="3330343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Line 15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6502576" y="4001200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Line 16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6502576" y="4672056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Line 17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6502576" y="5268920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 Box 19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280127" y="3038974"/>
            <a:ext cx="95377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socket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 Box 20"/>
          <p:cNvSpPr txBox="1">
            <a:spLocks noChangeArrowheads="1"/>
          </p:cNvSpPr>
          <p:nvPr/>
        </p:nvSpPr>
        <p:spPr bwMode="auto">
          <a:xfrm>
            <a:off x="2398874" y="4857856"/>
            <a:ext cx="7162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read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 Box 21"/>
          <p:cNvSpPr txBox="1">
            <a:spLocks noChangeArrowheads="1"/>
          </p:cNvSpPr>
          <p:nvPr/>
        </p:nvSpPr>
        <p:spPr bwMode="auto">
          <a:xfrm>
            <a:off x="2360773" y="4233038"/>
            <a:ext cx="7924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rgbClr val="9DD1FD"/>
                </a:solidFill>
                <a:latin typeface="微软雅黑" panose="020B0503020204020204" charset="-122"/>
                <a:ea typeface="微软雅黑" panose="020B0503020204020204" charset="-122"/>
              </a:rPr>
              <a:t>write</a:t>
            </a:r>
            <a:endParaRPr lang="en-US" altLang="zh-CN" sz="1865" b="1">
              <a:solidFill>
                <a:srgbClr val="9DD1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 Box 22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363805" y="5482672"/>
            <a:ext cx="78803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close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 Box 23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193626" y="3614799"/>
            <a:ext cx="112839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connect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Line 24"/>
          <p:cNvSpPr>
            <a:spLocks noChangeShapeType="1"/>
          </p:cNvSpPr>
          <p:nvPr>
            <p:custDataLst>
              <p:tags r:id="rId19"/>
            </p:custDataLst>
          </p:nvPr>
        </p:nvSpPr>
        <p:spPr bwMode="auto">
          <a:xfrm>
            <a:off x="2757013" y="3386247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Line 25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2757013" y="3983111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Line 26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2757013" y="4579978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Line 27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2757013" y="5250834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Freeform 28"/>
          <p:cNvSpPr/>
          <p:nvPr>
            <p:custDataLst>
              <p:tags r:id="rId23"/>
            </p:custDataLst>
          </p:nvPr>
        </p:nvSpPr>
        <p:spPr bwMode="auto">
          <a:xfrm flipH="1">
            <a:off x="1525512" y="4461442"/>
            <a:ext cx="875587" cy="616596"/>
          </a:xfrm>
          <a:custGeom>
            <a:avLst/>
            <a:gdLst>
              <a:gd name="T0" fmla="*/ 0 w 540"/>
              <a:gd name="T1" fmla="*/ 2147483646 h 391"/>
              <a:gd name="T2" fmla="*/ 2147483646 w 540"/>
              <a:gd name="T3" fmla="*/ 2147483646 h 391"/>
              <a:gd name="T4" fmla="*/ 2147483646 w 540"/>
              <a:gd name="T5" fmla="*/ 2147483646 h 391"/>
              <a:gd name="T6" fmla="*/ 2147483646 w 540"/>
              <a:gd name="T7" fmla="*/ 2147483646 h 391"/>
              <a:gd name="T8" fmla="*/ 2147483646 w 540"/>
              <a:gd name="T9" fmla="*/ 2147483646 h 391"/>
              <a:gd name="T10" fmla="*/ 2147483646 w 540"/>
              <a:gd name="T11" fmla="*/ 2147483646 h 391"/>
              <a:gd name="T12" fmla="*/ 2147483646 w 540"/>
              <a:gd name="T13" fmla="*/ 2147483646 h 391"/>
              <a:gd name="T14" fmla="*/ 2147483646 w 540"/>
              <a:gd name="T15" fmla="*/ 2147483646 h 391"/>
              <a:gd name="T16" fmla="*/ 0 w 540"/>
              <a:gd name="T17" fmla="*/ 2147483646 h 39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40" h="391">
                <a:moveTo>
                  <a:pt x="0" y="384"/>
                </a:moveTo>
                <a:cubicBezTo>
                  <a:pt x="52" y="385"/>
                  <a:pt x="240" y="389"/>
                  <a:pt x="311" y="389"/>
                </a:cubicBezTo>
                <a:cubicBezTo>
                  <a:pt x="382" y="389"/>
                  <a:pt x="397" y="391"/>
                  <a:pt x="427" y="385"/>
                </a:cubicBezTo>
                <a:cubicBezTo>
                  <a:pt x="457" y="379"/>
                  <a:pt x="477" y="372"/>
                  <a:pt x="494" y="355"/>
                </a:cubicBezTo>
                <a:cubicBezTo>
                  <a:pt x="511" y="338"/>
                  <a:pt x="523" y="324"/>
                  <a:pt x="529" y="284"/>
                </a:cubicBezTo>
                <a:cubicBezTo>
                  <a:pt x="535" y="244"/>
                  <a:pt x="540" y="155"/>
                  <a:pt x="533" y="113"/>
                </a:cubicBezTo>
                <a:cubicBezTo>
                  <a:pt x="526" y="71"/>
                  <a:pt x="515" y="52"/>
                  <a:pt x="488" y="34"/>
                </a:cubicBezTo>
                <a:cubicBezTo>
                  <a:pt x="461" y="16"/>
                  <a:pt x="451" y="10"/>
                  <a:pt x="370" y="5"/>
                </a:cubicBezTo>
                <a:cubicBezTo>
                  <a:pt x="289" y="0"/>
                  <a:pt x="77" y="6"/>
                  <a:pt x="0" y="6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Freeform 29"/>
          <p:cNvSpPr/>
          <p:nvPr>
            <p:custDataLst>
              <p:tags r:id="rId24"/>
            </p:custDataLst>
          </p:nvPr>
        </p:nvSpPr>
        <p:spPr bwMode="auto">
          <a:xfrm>
            <a:off x="6855836" y="4435919"/>
            <a:ext cx="504272" cy="642903"/>
          </a:xfrm>
          <a:custGeom>
            <a:avLst/>
            <a:gdLst>
              <a:gd name="T0" fmla="*/ 0 w 311"/>
              <a:gd name="T1" fmla="*/ 2147483646 h 391"/>
              <a:gd name="T2" fmla="*/ 2147483646 w 311"/>
              <a:gd name="T3" fmla="*/ 2147483646 h 391"/>
              <a:gd name="T4" fmla="*/ 2147483646 w 311"/>
              <a:gd name="T5" fmla="*/ 2147483646 h 391"/>
              <a:gd name="T6" fmla="*/ 2147483646 w 311"/>
              <a:gd name="T7" fmla="*/ 2147483646 h 391"/>
              <a:gd name="T8" fmla="*/ 2147483646 w 311"/>
              <a:gd name="T9" fmla="*/ 2147483646 h 391"/>
              <a:gd name="T10" fmla="*/ 2147483646 w 311"/>
              <a:gd name="T11" fmla="*/ 2147483646 h 391"/>
              <a:gd name="T12" fmla="*/ 2147483646 w 311"/>
              <a:gd name="T13" fmla="*/ 2147483646 h 391"/>
              <a:gd name="T14" fmla="*/ 2147483646 w 311"/>
              <a:gd name="T15" fmla="*/ 2147483646 h 391"/>
              <a:gd name="T16" fmla="*/ 0 w 311"/>
              <a:gd name="T17" fmla="*/ 2147483646 h 39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11" h="391">
                <a:moveTo>
                  <a:pt x="0" y="387"/>
                </a:moveTo>
                <a:cubicBezTo>
                  <a:pt x="30" y="387"/>
                  <a:pt x="139" y="391"/>
                  <a:pt x="182" y="389"/>
                </a:cubicBezTo>
                <a:cubicBezTo>
                  <a:pt x="225" y="387"/>
                  <a:pt x="238" y="382"/>
                  <a:pt x="256" y="373"/>
                </a:cubicBezTo>
                <a:cubicBezTo>
                  <a:pt x="274" y="364"/>
                  <a:pt x="284" y="354"/>
                  <a:pt x="293" y="337"/>
                </a:cubicBezTo>
                <a:cubicBezTo>
                  <a:pt x="302" y="320"/>
                  <a:pt x="306" y="304"/>
                  <a:pt x="308" y="269"/>
                </a:cubicBezTo>
                <a:cubicBezTo>
                  <a:pt x="310" y="234"/>
                  <a:pt x="311" y="160"/>
                  <a:pt x="308" y="124"/>
                </a:cubicBezTo>
                <a:cubicBezTo>
                  <a:pt x="305" y="88"/>
                  <a:pt x="305" y="70"/>
                  <a:pt x="289" y="50"/>
                </a:cubicBezTo>
                <a:cubicBezTo>
                  <a:pt x="273" y="30"/>
                  <a:pt x="259" y="14"/>
                  <a:pt x="211" y="7"/>
                </a:cubicBezTo>
                <a:cubicBezTo>
                  <a:pt x="163" y="0"/>
                  <a:pt x="44" y="9"/>
                  <a:pt x="0" y="9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Freeform 30"/>
          <p:cNvSpPr/>
          <p:nvPr>
            <p:custDataLst>
              <p:tags r:id="rId25"/>
            </p:custDataLst>
          </p:nvPr>
        </p:nvSpPr>
        <p:spPr bwMode="auto">
          <a:xfrm>
            <a:off x="6976051" y="3793090"/>
            <a:ext cx="872344" cy="1923779"/>
          </a:xfrm>
          <a:custGeom>
            <a:avLst/>
            <a:gdLst>
              <a:gd name="T0" fmla="*/ 0 w 538"/>
              <a:gd name="T1" fmla="*/ 2147483646 h 1175"/>
              <a:gd name="T2" fmla="*/ 2147483646 w 538"/>
              <a:gd name="T3" fmla="*/ 2147483646 h 1175"/>
              <a:gd name="T4" fmla="*/ 2147483646 w 538"/>
              <a:gd name="T5" fmla="*/ 2147483646 h 1175"/>
              <a:gd name="T6" fmla="*/ 2147483646 w 538"/>
              <a:gd name="T7" fmla="*/ 2147483646 h 1175"/>
              <a:gd name="T8" fmla="*/ 2147483646 w 538"/>
              <a:gd name="T9" fmla="*/ 2147483646 h 1175"/>
              <a:gd name="T10" fmla="*/ 2147483646 w 538"/>
              <a:gd name="T11" fmla="*/ 2147483646 h 1175"/>
              <a:gd name="T12" fmla="*/ 2147483646 w 538"/>
              <a:gd name="T13" fmla="*/ 2147483646 h 1175"/>
              <a:gd name="T14" fmla="*/ 2147483646 w 538"/>
              <a:gd name="T15" fmla="*/ 2147483646 h 1175"/>
              <a:gd name="T16" fmla="*/ 0 w 538"/>
              <a:gd name="T17" fmla="*/ 2147483646 h 117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38" h="1175">
                <a:moveTo>
                  <a:pt x="0" y="1171"/>
                </a:moveTo>
                <a:cubicBezTo>
                  <a:pt x="51" y="1171"/>
                  <a:pt x="237" y="1175"/>
                  <a:pt x="306" y="1168"/>
                </a:cubicBezTo>
                <a:cubicBezTo>
                  <a:pt x="375" y="1161"/>
                  <a:pt x="386" y="1151"/>
                  <a:pt x="417" y="1129"/>
                </a:cubicBezTo>
                <a:cubicBezTo>
                  <a:pt x="448" y="1107"/>
                  <a:pt x="472" y="1080"/>
                  <a:pt x="489" y="1036"/>
                </a:cubicBezTo>
                <a:cubicBezTo>
                  <a:pt x="506" y="992"/>
                  <a:pt x="515" y="980"/>
                  <a:pt x="522" y="865"/>
                </a:cubicBezTo>
                <a:cubicBezTo>
                  <a:pt x="529" y="750"/>
                  <a:pt x="538" y="472"/>
                  <a:pt x="534" y="348"/>
                </a:cubicBezTo>
                <a:cubicBezTo>
                  <a:pt x="530" y="224"/>
                  <a:pt x="529" y="176"/>
                  <a:pt x="501" y="121"/>
                </a:cubicBezTo>
                <a:cubicBezTo>
                  <a:pt x="473" y="66"/>
                  <a:pt x="448" y="38"/>
                  <a:pt x="365" y="19"/>
                </a:cubicBezTo>
                <a:cubicBezTo>
                  <a:pt x="282" y="0"/>
                  <a:pt x="76" y="11"/>
                  <a:pt x="0" y="9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Line 31"/>
          <p:cNvSpPr>
            <a:spLocks noChangeShapeType="1"/>
          </p:cNvSpPr>
          <p:nvPr>
            <p:custDataLst>
              <p:tags r:id="rId26"/>
            </p:custDataLst>
          </p:nvPr>
        </p:nvSpPr>
        <p:spPr bwMode="auto">
          <a:xfrm>
            <a:off x="3089412" y="4604640"/>
            <a:ext cx="3309392" cy="147983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prstDash val="dash"/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Line 32"/>
          <p:cNvSpPr>
            <a:spLocks noChangeShapeType="1"/>
          </p:cNvSpPr>
          <p:nvPr>
            <p:custDataLst>
              <p:tags r:id="rId27"/>
            </p:custDataLst>
          </p:nvPr>
        </p:nvSpPr>
        <p:spPr bwMode="auto">
          <a:xfrm flipH="1">
            <a:off x="2930508" y="5232747"/>
            <a:ext cx="3309392" cy="147983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prstDash val="dash"/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Line 34"/>
          <p:cNvSpPr>
            <a:spLocks noChangeShapeType="1"/>
          </p:cNvSpPr>
          <p:nvPr>
            <p:custDataLst>
              <p:tags r:id="rId28"/>
            </p:custDataLst>
          </p:nvPr>
        </p:nvSpPr>
        <p:spPr bwMode="auto">
          <a:xfrm rot="186387" flipV="1">
            <a:off x="3292093" y="3976536"/>
            <a:ext cx="3040229" cy="8220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prstDash val="dash"/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 Box 35"/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 rot="186387">
            <a:off x="3940955" y="3553254"/>
            <a:ext cx="160782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连接建立请求</a:t>
            </a:r>
            <a:endParaRPr lang="zh-CN" altLang="en-US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 Box 18"/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8038085" y="2792480"/>
            <a:ext cx="113284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65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连接建立</a:t>
            </a:r>
            <a:endParaRPr lang="zh-CN" altLang="en-US" sz="1865" b="1" dirty="0" smtClean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 Box 18"/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8038085" y="4422559"/>
            <a:ext cx="113284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65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数据传送</a:t>
            </a:r>
            <a:endParaRPr lang="zh-CN" altLang="en-US" sz="1865" b="1" dirty="0" smtClean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 Box 18"/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8038085" y="5339896"/>
            <a:ext cx="113284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65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连接释放</a:t>
            </a:r>
            <a:endParaRPr lang="zh-CN" altLang="en-US" sz="1865" b="1" dirty="0" smtClean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箭头连接符 11"/>
          <p:cNvCxnSpPr/>
          <p:nvPr>
            <p:custDataLst>
              <p:tags r:id="rId33"/>
            </p:custDataLst>
          </p:nvPr>
        </p:nvCxnSpPr>
        <p:spPr>
          <a:xfrm flipH="1">
            <a:off x="2938811" y="2995759"/>
            <a:ext cx="922584" cy="1263408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>
            <p:custDataLst>
              <p:tags r:id="rId34"/>
            </p:custDataLst>
          </p:nvPr>
        </p:nvCxnSpPr>
        <p:spPr>
          <a:xfrm>
            <a:off x="5164205" y="2995759"/>
            <a:ext cx="1019415" cy="1326549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矩形 74"/>
          <p:cNvSpPr/>
          <p:nvPr>
            <p:custDataLst>
              <p:tags r:id="rId35"/>
            </p:custDataLst>
          </p:nvPr>
        </p:nvSpPr>
        <p:spPr>
          <a:xfrm>
            <a:off x="2279988" y="1905199"/>
            <a:ext cx="3572525" cy="10782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p>
            <a:pPr algn="ctr"/>
            <a:r>
              <a:rPr lang="zh-CN" altLang="en-US" sz="2135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客户</a:t>
            </a:r>
            <a:r>
              <a:rPr lang="zh-CN" altLang="en-US" sz="2135" b="1" dirty="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zh-CN" altLang="en-US" sz="2135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服务器</a:t>
            </a:r>
            <a:r>
              <a:rPr lang="zh-CN" altLang="en-US" sz="2135" b="1" dirty="0" smtClean="0">
                <a:latin typeface="微软雅黑" panose="020B0503020204020204" charset="-122"/>
                <a:ea typeface="微软雅黑" panose="020B0503020204020204" charset="-122"/>
              </a:rPr>
              <a:t>在 </a:t>
            </a:r>
            <a:r>
              <a:rPr lang="en-US" altLang="zh-CN" sz="2135" b="1" dirty="0" smtClean="0">
                <a:latin typeface="微软雅黑" panose="020B0503020204020204" charset="-122"/>
                <a:ea typeface="微软雅黑" panose="020B0503020204020204" charset="-122"/>
              </a:rPr>
              <a:t>TCP </a:t>
            </a:r>
            <a:r>
              <a:rPr lang="zh-CN" altLang="en-US" sz="2135" b="1" dirty="0" smtClean="0">
                <a:latin typeface="微软雅黑" panose="020B0503020204020204" charset="-122"/>
                <a:ea typeface="微软雅黑" panose="020B0503020204020204" charset="-122"/>
              </a:rPr>
              <a:t>连接</a:t>
            </a:r>
            <a:r>
              <a:rPr lang="zh-CN" altLang="en-US" sz="2135" b="1" dirty="0">
                <a:latin typeface="微软雅黑" panose="020B0503020204020204" charset="-122"/>
                <a:ea typeface="微软雅黑" panose="020B0503020204020204" charset="-122"/>
              </a:rPr>
              <a:t>上</a:t>
            </a:r>
            <a:r>
              <a:rPr lang="zh-CN" altLang="en-US" sz="2135" b="1" dirty="0" smtClean="0">
                <a:latin typeface="微软雅黑" panose="020B0503020204020204" charset="-122"/>
                <a:ea typeface="微软雅黑" panose="020B0503020204020204" charset="-122"/>
              </a:rPr>
              <a:t>使用 </a:t>
            </a:r>
            <a:r>
              <a:rPr lang="en-US" altLang="zh-CN" sz="2135" b="1" dirty="0" smtClean="0">
                <a:latin typeface="微软雅黑" panose="020B0503020204020204" charset="-122"/>
                <a:ea typeface="微软雅黑" panose="020B0503020204020204" charset="-122"/>
              </a:rPr>
              <a:t>write</a:t>
            </a:r>
            <a:r>
              <a:rPr lang="zh-CN" altLang="en-US" sz="2135" b="1" dirty="0" smtClean="0">
                <a:latin typeface="微软雅黑" panose="020B0503020204020204" charset="-122"/>
                <a:ea typeface="微软雅黑" panose="020B0503020204020204" charset="-122"/>
              </a:rPr>
              <a:t>传送</a:t>
            </a:r>
            <a:r>
              <a:rPr lang="zh-CN" altLang="en-US" sz="2135" b="1" dirty="0">
                <a:latin typeface="微软雅黑" panose="020B0503020204020204" charset="-122"/>
                <a:ea typeface="微软雅黑" panose="020B0503020204020204" charset="-122"/>
              </a:rPr>
              <a:t>数据，</a:t>
            </a:r>
            <a:r>
              <a:rPr lang="zh-CN" altLang="en-US" sz="2135" b="1" dirty="0" smtClean="0">
                <a:latin typeface="微软雅黑" panose="020B0503020204020204" charset="-122"/>
                <a:ea typeface="微软雅黑" panose="020B0503020204020204" charset="-122"/>
              </a:rPr>
              <a:t>使用 </a:t>
            </a:r>
            <a:r>
              <a:rPr lang="en-US" altLang="zh-CN" sz="2135" b="1" dirty="0" err="1" smtClean="0">
                <a:latin typeface="微软雅黑" panose="020B0503020204020204" charset="-122"/>
                <a:ea typeface="微软雅黑" panose="020B0503020204020204" charset="-122"/>
              </a:rPr>
              <a:t>read</a:t>
            </a:r>
            <a:r>
              <a:rPr lang="zh-CN" altLang="en-US" sz="2135" b="1" dirty="0" smtClean="0">
                <a:latin typeface="微软雅黑" panose="020B0503020204020204" charset="-122"/>
                <a:ea typeface="微软雅黑" panose="020B0503020204020204" charset="-122"/>
              </a:rPr>
              <a:t>接收</a:t>
            </a:r>
            <a:r>
              <a:rPr lang="zh-CN" altLang="en-US" sz="2135" b="1" dirty="0"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zh-CN" altLang="en-US" sz="2135" b="1" dirty="0" smtClean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135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10" grpId="0" animBg="1"/>
      <p:bldP spid="11" grpId="0" animBg="1"/>
      <p:bldP spid="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TCP</a:t>
            </a:r>
            <a:r>
              <a:rPr lang="zh-CN" altLang="en-US">
                <a:sym typeface="+mn-ea"/>
              </a:rPr>
              <a:t>通信的实现过程</a:t>
            </a:r>
            <a:endParaRPr lang="zh-CN" altLang="en-US"/>
          </a:p>
        </p:txBody>
      </p:sp>
      <p:sp>
        <p:nvSpPr>
          <p:cNvPr id="5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822490" y="1446115"/>
            <a:ext cx="1270000" cy="420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13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服务器端</a:t>
            </a:r>
            <a:endParaRPr lang="zh-CN" altLang="en-US" sz="213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Box 1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19599" y="1446115"/>
            <a:ext cx="998220" cy="420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13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客户端</a:t>
            </a:r>
            <a:endParaRPr lang="zh-CN" altLang="en-US" sz="213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/>
          <p:cNvSpPr/>
          <p:nvPr>
            <p:custDataLst>
              <p:tags r:id="rId3"/>
            </p:custDataLst>
          </p:nvPr>
        </p:nvSpPr>
        <p:spPr>
          <a:xfrm>
            <a:off x="838025" y="1829630"/>
            <a:ext cx="8478344" cy="2151016"/>
          </a:xfrm>
          <a:prstGeom prst="rect">
            <a:avLst/>
          </a:prstGeom>
          <a:noFill/>
          <a:ln w="12700">
            <a:solidFill>
              <a:srgbClr val="9DD1F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0" name="矩形 39"/>
          <p:cNvSpPr/>
          <p:nvPr>
            <p:custDataLst>
              <p:tags r:id="rId4"/>
            </p:custDataLst>
          </p:nvPr>
        </p:nvSpPr>
        <p:spPr>
          <a:xfrm>
            <a:off x="838025" y="3983110"/>
            <a:ext cx="8478344" cy="1285809"/>
          </a:xfrm>
          <a:prstGeom prst="rect">
            <a:avLst/>
          </a:prstGeom>
          <a:noFill/>
          <a:ln w="12700">
            <a:solidFill>
              <a:srgbClr val="9DD1F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1" name="矩形 40"/>
          <p:cNvSpPr/>
          <p:nvPr>
            <p:custDataLst>
              <p:tags r:id="rId5"/>
            </p:custDataLst>
          </p:nvPr>
        </p:nvSpPr>
        <p:spPr>
          <a:xfrm>
            <a:off x="838025" y="5268920"/>
            <a:ext cx="8478344" cy="596867"/>
          </a:xfrm>
          <a:prstGeom prst="rect">
            <a:avLst/>
          </a:prstGeom>
          <a:noFill/>
          <a:ln w="12700">
            <a:solidFill>
              <a:srgbClr val="9DD1F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6" name="Text Box 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028934" y="1781120"/>
            <a:ext cx="95377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socket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139322" y="2358587"/>
            <a:ext cx="72326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bind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080799" y="2983404"/>
            <a:ext cx="8305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listen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6011167" y="3608220"/>
            <a:ext cx="96012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accept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128222" y="4233038"/>
            <a:ext cx="7162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read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085256" y="4857856"/>
            <a:ext cx="7924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write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6083425" y="5482672"/>
            <a:ext cx="78803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close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Line 12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6502576" y="2136614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Line 13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6502576" y="2733478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Line 14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6502576" y="3330343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Line 15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6502576" y="4001200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Line 16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6502576" y="4672056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Line 17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6502576" y="5268920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 Box 19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280127" y="3038974"/>
            <a:ext cx="95377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socket</a:t>
            </a:r>
            <a:endParaRPr lang="en-US" altLang="zh-CN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 Box 20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398874" y="4857856"/>
            <a:ext cx="7162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read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 Box 21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360773" y="4233038"/>
            <a:ext cx="79248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write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 Box 22"/>
          <p:cNvSpPr txBox="1">
            <a:spLocks noChangeArrowheads="1"/>
          </p:cNvSpPr>
          <p:nvPr/>
        </p:nvSpPr>
        <p:spPr bwMode="auto">
          <a:xfrm>
            <a:off x="2363805" y="5482672"/>
            <a:ext cx="78803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close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 Box 23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193626" y="3614799"/>
            <a:ext cx="1128395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65" b="1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connect</a:t>
            </a:r>
            <a:endParaRPr lang="en-US" altLang="zh-CN" sz="1865" b="1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Line 24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2757013" y="3386247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Line 25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2757013" y="3983111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Line 26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>
            <a:off x="2757013" y="4579978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Line 27"/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2757013" y="5250834"/>
            <a:ext cx="0" cy="373245"/>
          </a:xfrm>
          <a:prstGeom prst="line">
            <a:avLst/>
          </a:prstGeom>
          <a:noFill/>
          <a:ln w="31750">
            <a:solidFill>
              <a:schemeClr val="bg1">
                <a:lumMod val="95000"/>
              </a:schemeClr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Freeform 28"/>
          <p:cNvSpPr/>
          <p:nvPr>
            <p:custDataLst>
              <p:tags r:id="rId25"/>
            </p:custDataLst>
          </p:nvPr>
        </p:nvSpPr>
        <p:spPr bwMode="auto">
          <a:xfrm flipH="1">
            <a:off x="1525512" y="4461442"/>
            <a:ext cx="875587" cy="616596"/>
          </a:xfrm>
          <a:custGeom>
            <a:avLst/>
            <a:gdLst>
              <a:gd name="T0" fmla="*/ 0 w 540"/>
              <a:gd name="T1" fmla="*/ 2147483646 h 391"/>
              <a:gd name="T2" fmla="*/ 2147483646 w 540"/>
              <a:gd name="T3" fmla="*/ 2147483646 h 391"/>
              <a:gd name="T4" fmla="*/ 2147483646 w 540"/>
              <a:gd name="T5" fmla="*/ 2147483646 h 391"/>
              <a:gd name="T6" fmla="*/ 2147483646 w 540"/>
              <a:gd name="T7" fmla="*/ 2147483646 h 391"/>
              <a:gd name="T8" fmla="*/ 2147483646 w 540"/>
              <a:gd name="T9" fmla="*/ 2147483646 h 391"/>
              <a:gd name="T10" fmla="*/ 2147483646 w 540"/>
              <a:gd name="T11" fmla="*/ 2147483646 h 391"/>
              <a:gd name="T12" fmla="*/ 2147483646 w 540"/>
              <a:gd name="T13" fmla="*/ 2147483646 h 391"/>
              <a:gd name="T14" fmla="*/ 2147483646 w 540"/>
              <a:gd name="T15" fmla="*/ 2147483646 h 391"/>
              <a:gd name="T16" fmla="*/ 0 w 540"/>
              <a:gd name="T17" fmla="*/ 2147483646 h 39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40" h="391">
                <a:moveTo>
                  <a:pt x="0" y="384"/>
                </a:moveTo>
                <a:cubicBezTo>
                  <a:pt x="52" y="385"/>
                  <a:pt x="240" y="389"/>
                  <a:pt x="311" y="389"/>
                </a:cubicBezTo>
                <a:cubicBezTo>
                  <a:pt x="382" y="389"/>
                  <a:pt x="397" y="391"/>
                  <a:pt x="427" y="385"/>
                </a:cubicBezTo>
                <a:cubicBezTo>
                  <a:pt x="457" y="379"/>
                  <a:pt x="477" y="372"/>
                  <a:pt x="494" y="355"/>
                </a:cubicBezTo>
                <a:cubicBezTo>
                  <a:pt x="511" y="338"/>
                  <a:pt x="523" y="324"/>
                  <a:pt x="529" y="284"/>
                </a:cubicBezTo>
                <a:cubicBezTo>
                  <a:pt x="535" y="244"/>
                  <a:pt x="540" y="155"/>
                  <a:pt x="533" y="113"/>
                </a:cubicBezTo>
                <a:cubicBezTo>
                  <a:pt x="526" y="71"/>
                  <a:pt x="515" y="52"/>
                  <a:pt x="488" y="34"/>
                </a:cubicBezTo>
                <a:cubicBezTo>
                  <a:pt x="461" y="16"/>
                  <a:pt x="451" y="10"/>
                  <a:pt x="370" y="5"/>
                </a:cubicBezTo>
                <a:cubicBezTo>
                  <a:pt x="289" y="0"/>
                  <a:pt x="77" y="6"/>
                  <a:pt x="0" y="6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Freeform 29"/>
          <p:cNvSpPr/>
          <p:nvPr>
            <p:custDataLst>
              <p:tags r:id="rId26"/>
            </p:custDataLst>
          </p:nvPr>
        </p:nvSpPr>
        <p:spPr bwMode="auto">
          <a:xfrm>
            <a:off x="6855836" y="4435919"/>
            <a:ext cx="504272" cy="642903"/>
          </a:xfrm>
          <a:custGeom>
            <a:avLst/>
            <a:gdLst>
              <a:gd name="T0" fmla="*/ 0 w 311"/>
              <a:gd name="T1" fmla="*/ 2147483646 h 391"/>
              <a:gd name="T2" fmla="*/ 2147483646 w 311"/>
              <a:gd name="T3" fmla="*/ 2147483646 h 391"/>
              <a:gd name="T4" fmla="*/ 2147483646 w 311"/>
              <a:gd name="T5" fmla="*/ 2147483646 h 391"/>
              <a:gd name="T6" fmla="*/ 2147483646 w 311"/>
              <a:gd name="T7" fmla="*/ 2147483646 h 391"/>
              <a:gd name="T8" fmla="*/ 2147483646 w 311"/>
              <a:gd name="T9" fmla="*/ 2147483646 h 391"/>
              <a:gd name="T10" fmla="*/ 2147483646 w 311"/>
              <a:gd name="T11" fmla="*/ 2147483646 h 391"/>
              <a:gd name="T12" fmla="*/ 2147483646 w 311"/>
              <a:gd name="T13" fmla="*/ 2147483646 h 391"/>
              <a:gd name="T14" fmla="*/ 2147483646 w 311"/>
              <a:gd name="T15" fmla="*/ 2147483646 h 391"/>
              <a:gd name="T16" fmla="*/ 0 w 311"/>
              <a:gd name="T17" fmla="*/ 2147483646 h 39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11" h="391">
                <a:moveTo>
                  <a:pt x="0" y="387"/>
                </a:moveTo>
                <a:cubicBezTo>
                  <a:pt x="30" y="387"/>
                  <a:pt x="139" y="391"/>
                  <a:pt x="182" y="389"/>
                </a:cubicBezTo>
                <a:cubicBezTo>
                  <a:pt x="225" y="387"/>
                  <a:pt x="238" y="382"/>
                  <a:pt x="256" y="373"/>
                </a:cubicBezTo>
                <a:cubicBezTo>
                  <a:pt x="274" y="364"/>
                  <a:pt x="284" y="354"/>
                  <a:pt x="293" y="337"/>
                </a:cubicBezTo>
                <a:cubicBezTo>
                  <a:pt x="302" y="320"/>
                  <a:pt x="306" y="304"/>
                  <a:pt x="308" y="269"/>
                </a:cubicBezTo>
                <a:cubicBezTo>
                  <a:pt x="310" y="234"/>
                  <a:pt x="311" y="160"/>
                  <a:pt x="308" y="124"/>
                </a:cubicBezTo>
                <a:cubicBezTo>
                  <a:pt x="305" y="88"/>
                  <a:pt x="305" y="70"/>
                  <a:pt x="289" y="50"/>
                </a:cubicBezTo>
                <a:cubicBezTo>
                  <a:pt x="273" y="30"/>
                  <a:pt x="259" y="14"/>
                  <a:pt x="211" y="7"/>
                </a:cubicBezTo>
                <a:cubicBezTo>
                  <a:pt x="163" y="0"/>
                  <a:pt x="44" y="9"/>
                  <a:pt x="0" y="9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Freeform 30"/>
          <p:cNvSpPr/>
          <p:nvPr>
            <p:custDataLst>
              <p:tags r:id="rId27"/>
            </p:custDataLst>
          </p:nvPr>
        </p:nvSpPr>
        <p:spPr bwMode="auto">
          <a:xfrm>
            <a:off x="6976051" y="3793090"/>
            <a:ext cx="872344" cy="1923779"/>
          </a:xfrm>
          <a:custGeom>
            <a:avLst/>
            <a:gdLst>
              <a:gd name="T0" fmla="*/ 0 w 538"/>
              <a:gd name="T1" fmla="*/ 2147483646 h 1175"/>
              <a:gd name="T2" fmla="*/ 2147483646 w 538"/>
              <a:gd name="T3" fmla="*/ 2147483646 h 1175"/>
              <a:gd name="T4" fmla="*/ 2147483646 w 538"/>
              <a:gd name="T5" fmla="*/ 2147483646 h 1175"/>
              <a:gd name="T6" fmla="*/ 2147483646 w 538"/>
              <a:gd name="T7" fmla="*/ 2147483646 h 1175"/>
              <a:gd name="T8" fmla="*/ 2147483646 w 538"/>
              <a:gd name="T9" fmla="*/ 2147483646 h 1175"/>
              <a:gd name="T10" fmla="*/ 2147483646 w 538"/>
              <a:gd name="T11" fmla="*/ 2147483646 h 1175"/>
              <a:gd name="T12" fmla="*/ 2147483646 w 538"/>
              <a:gd name="T13" fmla="*/ 2147483646 h 1175"/>
              <a:gd name="T14" fmla="*/ 2147483646 w 538"/>
              <a:gd name="T15" fmla="*/ 2147483646 h 1175"/>
              <a:gd name="T16" fmla="*/ 0 w 538"/>
              <a:gd name="T17" fmla="*/ 2147483646 h 117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38" h="1175">
                <a:moveTo>
                  <a:pt x="0" y="1171"/>
                </a:moveTo>
                <a:cubicBezTo>
                  <a:pt x="51" y="1171"/>
                  <a:pt x="237" y="1175"/>
                  <a:pt x="306" y="1168"/>
                </a:cubicBezTo>
                <a:cubicBezTo>
                  <a:pt x="375" y="1161"/>
                  <a:pt x="386" y="1151"/>
                  <a:pt x="417" y="1129"/>
                </a:cubicBezTo>
                <a:cubicBezTo>
                  <a:pt x="448" y="1107"/>
                  <a:pt x="472" y="1080"/>
                  <a:pt x="489" y="1036"/>
                </a:cubicBezTo>
                <a:cubicBezTo>
                  <a:pt x="506" y="992"/>
                  <a:pt x="515" y="980"/>
                  <a:pt x="522" y="865"/>
                </a:cubicBezTo>
                <a:cubicBezTo>
                  <a:pt x="529" y="750"/>
                  <a:pt x="538" y="472"/>
                  <a:pt x="534" y="348"/>
                </a:cubicBezTo>
                <a:cubicBezTo>
                  <a:pt x="530" y="224"/>
                  <a:pt x="529" y="176"/>
                  <a:pt x="501" y="121"/>
                </a:cubicBezTo>
                <a:cubicBezTo>
                  <a:pt x="473" y="66"/>
                  <a:pt x="448" y="38"/>
                  <a:pt x="365" y="19"/>
                </a:cubicBezTo>
                <a:cubicBezTo>
                  <a:pt x="282" y="0"/>
                  <a:pt x="76" y="11"/>
                  <a:pt x="0" y="9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Line 31"/>
          <p:cNvSpPr>
            <a:spLocks noChangeShapeType="1"/>
          </p:cNvSpPr>
          <p:nvPr>
            <p:custDataLst>
              <p:tags r:id="rId28"/>
            </p:custDataLst>
          </p:nvPr>
        </p:nvSpPr>
        <p:spPr bwMode="auto">
          <a:xfrm>
            <a:off x="3089412" y="4604640"/>
            <a:ext cx="3309392" cy="147983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prstDash val="dash"/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Line 32"/>
          <p:cNvSpPr>
            <a:spLocks noChangeShapeType="1"/>
          </p:cNvSpPr>
          <p:nvPr>
            <p:custDataLst>
              <p:tags r:id="rId29"/>
            </p:custDataLst>
          </p:nvPr>
        </p:nvSpPr>
        <p:spPr bwMode="auto">
          <a:xfrm flipH="1">
            <a:off x="2930508" y="5232747"/>
            <a:ext cx="3309392" cy="147983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prstDash val="dash"/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Line 34"/>
          <p:cNvSpPr>
            <a:spLocks noChangeShapeType="1"/>
          </p:cNvSpPr>
          <p:nvPr>
            <p:custDataLst>
              <p:tags r:id="rId30"/>
            </p:custDataLst>
          </p:nvPr>
        </p:nvSpPr>
        <p:spPr bwMode="auto">
          <a:xfrm rot="186387" flipV="1">
            <a:off x="3292093" y="3976536"/>
            <a:ext cx="3040229" cy="8220"/>
          </a:xfrm>
          <a:prstGeom prst="line">
            <a:avLst/>
          </a:prstGeom>
          <a:noFill/>
          <a:ln w="28575">
            <a:solidFill>
              <a:schemeClr val="bg1">
                <a:lumMod val="95000"/>
              </a:schemeClr>
            </a:solidFill>
            <a:prstDash val="dash"/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865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 Box 35"/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 rot="186387">
            <a:off x="3940955" y="3553254"/>
            <a:ext cx="160782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65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连接建立请求</a:t>
            </a:r>
            <a:endParaRPr lang="zh-CN" altLang="en-US" sz="1865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 Box 18"/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8038085" y="2792480"/>
            <a:ext cx="113284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65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连接建立</a:t>
            </a:r>
            <a:endParaRPr lang="zh-CN" altLang="en-US" sz="1865" b="1" dirty="0" smtClean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 Box 18"/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8038085" y="4422559"/>
            <a:ext cx="113284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65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数据传送</a:t>
            </a:r>
            <a:endParaRPr lang="zh-CN" altLang="en-US" sz="1865" b="1" dirty="0" smtClean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 Box 18"/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8038085" y="5339896"/>
            <a:ext cx="1132840" cy="3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65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连接释放</a:t>
            </a:r>
            <a:endParaRPr lang="zh-CN" altLang="en-US" sz="1865" b="1" dirty="0" smtClean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箭头连接符 11"/>
          <p:cNvCxnSpPr/>
          <p:nvPr>
            <p:custDataLst>
              <p:tags r:id="rId35"/>
            </p:custDataLst>
          </p:nvPr>
        </p:nvCxnSpPr>
        <p:spPr>
          <a:xfrm flipH="1">
            <a:off x="2967364" y="2630289"/>
            <a:ext cx="693105" cy="2937275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>
            <p:custDataLst>
              <p:tags r:id="rId36"/>
            </p:custDataLst>
          </p:nvPr>
        </p:nvCxnSpPr>
        <p:spPr>
          <a:xfrm>
            <a:off x="5079365" y="2630289"/>
            <a:ext cx="1198535" cy="2937275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矩形 74"/>
          <p:cNvSpPr/>
          <p:nvPr>
            <p:custDataLst>
              <p:tags r:id="rId37"/>
            </p:custDataLst>
          </p:nvPr>
        </p:nvSpPr>
        <p:spPr>
          <a:xfrm>
            <a:off x="1828060" y="1850589"/>
            <a:ext cx="4087953" cy="7493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p>
            <a:pPr algn="ctr"/>
            <a:r>
              <a:rPr lang="zh-CN" altLang="en-US" sz="2135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客户</a:t>
            </a:r>
            <a:r>
              <a:rPr lang="zh-CN" altLang="en-US" sz="2135" b="1" dirty="0"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zh-CN" altLang="en-US" sz="2135" b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服务器</a:t>
            </a:r>
            <a:r>
              <a:rPr lang="zh-CN" altLang="en-US" sz="2135" b="1" dirty="0" smtClean="0">
                <a:latin typeface="微软雅黑" panose="020B0503020204020204" charset="-122"/>
                <a:ea typeface="微软雅黑" panose="020B0503020204020204" charset="-122"/>
              </a:rPr>
              <a:t>通信结束，调用 </a:t>
            </a:r>
            <a:r>
              <a:rPr lang="en-US" altLang="zh-CN" sz="2135" b="1" dirty="0" smtClean="0">
                <a:latin typeface="微软雅黑" panose="020B0503020204020204" charset="-122"/>
                <a:ea typeface="微软雅黑" panose="020B0503020204020204" charset="-122"/>
              </a:rPr>
              <a:t>close </a:t>
            </a:r>
            <a:r>
              <a:rPr lang="zh-CN" altLang="en-US" sz="2135" b="1" dirty="0" smtClean="0">
                <a:latin typeface="微软雅黑" panose="020B0503020204020204" charset="-122"/>
                <a:ea typeface="微软雅黑" panose="020B0503020204020204" charset="-122"/>
              </a:rPr>
              <a:t>释放</a:t>
            </a:r>
            <a:r>
              <a:rPr lang="zh-CN" altLang="en-US" sz="2135" b="1" dirty="0">
                <a:latin typeface="微软雅黑" panose="020B0503020204020204" charset="-122"/>
                <a:ea typeface="微软雅黑" panose="020B0503020204020204" charset="-122"/>
              </a:rPr>
              <a:t>连接和撤销套接字</a:t>
            </a:r>
            <a:r>
              <a:rPr lang="zh-CN" altLang="en-US" sz="2135" b="1" dirty="0" smtClean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135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8465" y="3816350"/>
            <a:ext cx="2882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9DD1FD"/>
                </a:solidFill>
                <a:latin typeface="微软雅黑" panose="020B0503020204020204" charset="-122"/>
                <a:ea typeface="微软雅黑" panose="020B0503020204020204" charset="-122"/>
              </a:rPr>
              <a:t>扫一扫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，获取更多信息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4825" y="4365943"/>
            <a:ext cx="2286000" cy="2152650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创客学院微信图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920433" y="4714875"/>
            <a:ext cx="1454785" cy="14547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244850" y="4925060"/>
            <a:ext cx="54768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THANK </a:t>
            </a:r>
            <a:r>
              <a:rPr lang="zh-CN" altLang="en-US" sz="6000">
                <a:solidFill>
                  <a:srgbClr val="9DD1FD"/>
                </a:solidFill>
                <a:latin typeface="微软雅黑" panose="020B0503020204020204" charset="-122"/>
                <a:ea typeface="微软雅黑" panose="020B0503020204020204" charset="-122"/>
              </a:rPr>
              <a:t>YOU</a:t>
            </a:r>
            <a:endParaRPr lang="zh-CN" altLang="en-US" sz="6000">
              <a:solidFill>
                <a:srgbClr val="9DD1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454_3*i*1"/>
  <p:tag name="KSO_WM_TEMPLATE_CATEGORY" val="diagram"/>
  <p:tag name="KSO_WM_TEMPLATE_INDEX" val="160454"/>
  <p:tag name="KSO_WM_UNIT_INDEX" val="1"/>
</p:tagLst>
</file>

<file path=ppt/tags/tag44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454"/>
  <p:tag name="KSO_WM_UNIT_ID" val="diagram160454_3*m_i*1_1"/>
  <p:tag name="KSO_WM_UNIT_TYPE" val="m_i"/>
  <p:tag name="KSO_WM_UNIT_INDEX" val="1_1"/>
  <p:tag name="KSO_WM_UNIT_CLEAR" val="1"/>
  <p:tag name="KSO_WM_UNIT_LAYERLEVEL" val="1_1"/>
  <p:tag name="KSO_WM_DIAGRAM_GROUP_CODE" val="m1-1"/>
  <p:tag name="KSO_WM_UNIT_FILL_FORE_SCHEMECOLOR_INDEX" val="5"/>
  <p:tag name="KSO_WM_UNIT_FILL_TYPE" val="1"/>
  <p:tag name="KSO_WM_UNIT_TEXT_FILL_FORE_SCHEMECOLOR_INDEX" val="13"/>
  <p:tag name="KSO_WM_UNIT_TEXT_FILL_TYPE" val="1"/>
</p:tagLst>
</file>

<file path=ppt/tags/tag45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454"/>
  <p:tag name="KSO_WM_UNIT_ID" val="diagram160454_3*m_i*1_2"/>
  <p:tag name="KSO_WM_UNIT_TYPE" val="m_i"/>
  <p:tag name="KSO_WM_UNIT_INDEX" val="1_2"/>
  <p:tag name="KSO_WM_UNIT_CLEAR" val="1"/>
  <p:tag name="KSO_WM_UNIT_LAYERLEVEL" val="1_1"/>
  <p:tag name="KSO_WM_DIAGRAM_GROUP_CODE" val="m1-1"/>
  <p:tag name="KSO_WM_UNIT_FILL_FORE_SCHEMECOLOR_INDEX" val="5"/>
  <p:tag name="KSO_WM_UNIT_FILL_TYPE" val="1"/>
  <p:tag name="KSO_WM_UNIT_TEXT_FILL_FORE_SCHEMECOLOR_INDEX" val="13"/>
  <p:tag name="KSO_WM_UNIT_TEXT_FILL_TYPE" val="1"/>
</p:tagLst>
</file>

<file path=ppt/tags/tag46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454"/>
  <p:tag name="KSO_WM_UNIT_ID" val="diagram160454_3*m_h_f*1_1_1"/>
  <p:tag name="KSO_WM_UNIT_TYPE" val="m_h_f"/>
  <p:tag name="KSO_WM_UNIT_INDEX" val="1_1_1"/>
  <p:tag name="KSO_WM_UNIT_CLEAR" val="1"/>
  <p:tag name="KSO_WM_UNIT_LAYERLEVEL" val="1_1_1"/>
  <p:tag name="KSO_WM_UNIT_VALUE" val="49"/>
  <p:tag name="KSO_WM_UNIT_HIGHLIGHT" val="0"/>
  <p:tag name="KSO_WM_UNIT_COMPATIBLE" val="0"/>
  <p:tag name="KSO_WM_DIAGRAM_GROUP_CODE" val="m1-1"/>
  <p:tag name="KSO_WM_UNIT_PRESET_TEXT" val="Lorem ipsum dolor sit consectetur adipisicing"/>
  <p:tag name="KSO_WM_UNIT_TEXT_FILL_FORE_SCHEMECOLOR_INDEX" val="13"/>
  <p:tag name="KSO_WM_UNIT_TEXT_FILL_TYPE" val="1"/>
</p:tagLst>
</file>

<file path=ppt/tags/tag47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454"/>
  <p:tag name="KSO_WM_UNIT_ID" val="diagram160454_3*m_i*1_3"/>
  <p:tag name="KSO_WM_UNIT_TYPE" val="m_i"/>
  <p:tag name="KSO_WM_UNIT_INDEX" val="1_3"/>
  <p:tag name="KSO_WM_UNIT_CLEAR" val="1"/>
  <p:tag name="KSO_WM_UNIT_LAYERLEVEL" val="1_1"/>
  <p:tag name="KSO_WM_DIAGRAM_GROUP_CODE" val="m1-1"/>
  <p:tag name="KSO_WM_UNIT_FILL_FORE_SCHEMECOLOR_INDEX" val="5"/>
  <p:tag name="KSO_WM_UNIT_FILL_TYPE" val="1"/>
  <p:tag name="KSO_WM_UNIT_TEXT_FILL_FORE_SCHEMECOLOR_INDEX" val="13"/>
  <p:tag name="KSO_WM_UNIT_TEXT_FILL_TYPE" val="1"/>
</p:tagLst>
</file>

<file path=ppt/tags/tag48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454"/>
  <p:tag name="KSO_WM_UNIT_ID" val="diagram160454_3*m_i*1_4"/>
  <p:tag name="KSO_WM_UNIT_TYPE" val="m_i"/>
  <p:tag name="KSO_WM_UNIT_INDEX" val="1_4"/>
  <p:tag name="KSO_WM_UNIT_CLEAR" val="1"/>
  <p:tag name="KSO_WM_UNIT_LAYERLEVEL" val="1_1"/>
  <p:tag name="KSO_WM_DIAGRAM_GROUP_CODE" val="m1-1"/>
  <p:tag name="KSO_WM_UNIT_TEXT_FILL_FORE_SCHEMECOLOR_INDEX" val="13"/>
  <p:tag name="KSO_WM_UNIT_TEXT_FILL_TYPE" val="1"/>
</p:tagLst>
</file>

<file path=ppt/tags/tag49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454"/>
  <p:tag name="KSO_WM_UNIT_ID" val="diagram160454_3*m_i*1_5"/>
  <p:tag name="KSO_WM_UNIT_TYPE" val="m_i"/>
  <p:tag name="KSO_WM_UNIT_INDEX" val="1_5"/>
  <p:tag name="KSO_WM_UNIT_CLEAR" val="1"/>
  <p:tag name="KSO_WM_UNIT_LAYERLEVEL" val="1_1"/>
  <p:tag name="KSO_WM_DIAGRAM_GROUP_CODE" val="m1-1"/>
  <p:tag name="KSO_WM_UNIT_TEXT_FILL_FORE_SCHEMECOLOR_INDEX" val="13"/>
  <p:tag name="KSO_WM_UNIT_TEXT_FILL_TYPE" val="1"/>
</p:tagLst>
</file>

<file path=ppt/tags/tag5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454_3*i*14"/>
  <p:tag name="KSO_WM_TEMPLATE_CATEGORY" val="diagram"/>
  <p:tag name="KSO_WM_TEMPLATE_INDEX" val="160454"/>
  <p:tag name="KSO_WM_UNIT_INDEX" val="14"/>
</p:tagLst>
</file>

<file path=ppt/tags/tag51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454"/>
  <p:tag name="KSO_WM_UNIT_ID" val="diagram160454_3*m_i*1_6"/>
  <p:tag name="KSO_WM_UNIT_TYPE" val="m_i"/>
  <p:tag name="KSO_WM_UNIT_INDEX" val="1_6"/>
  <p:tag name="KSO_WM_UNIT_CLEAR" val="1"/>
  <p:tag name="KSO_WM_UNIT_LAYERLEVEL" val="1_1"/>
  <p:tag name="KSO_WM_DIAGRAM_GROUP_CODE" val="m1-1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52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454"/>
  <p:tag name="KSO_WM_UNIT_ID" val="diagram160454_3*m_i*1_7"/>
  <p:tag name="KSO_WM_UNIT_TYPE" val="m_i"/>
  <p:tag name="KSO_WM_UNIT_INDEX" val="1_7"/>
  <p:tag name="KSO_WM_UNIT_CLEAR" val="1"/>
  <p:tag name="KSO_WM_UNIT_LAYERLEVEL" val="1_1"/>
  <p:tag name="KSO_WM_DIAGRAM_GROUP_CODE" val="m1-1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53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454"/>
  <p:tag name="KSO_WM_UNIT_ID" val="diagram160454_3*m_h_f*1_2_1"/>
  <p:tag name="KSO_WM_UNIT_TYPE" val="m_h_f"/>
  <p:tag name="KSO_WM_UNIT_INDEX" val="1_2_1"/>
  <p:tag name="KSO_WM_UNIT_CLEAR" val="1"/>
  <p:tag name="KSO_WM_UNIT_LAYERLEVEL" val="1_1_1"/>
  <p:tag name="KSO_WM_UNIT_VALUE" val="49"/>
  <p:tag name="KSO_WM_UNIT_HIGHLIGHT" val="0"/>
  <p:tag name="KSO_WM_UNIT_COMPATIBLE" val="0"/>
  <p:tag name="KSO_WM_DIAGRAM_GROUP_CODE" val="m1-1"/>
  <p:tag name="KSO_WM_UNIT_PRESET_TEXT" val="Lorem ipsum dolor sit consectetur adipisicing"/>
  <p:tag name="KSO_WM_UNIT_TEXT_FILL_FORE_SCHEMECOLOR_INDEX" val="13"/>
  <p:tag name="KSO_WM_UNIT_TEXT_FILL_TYPE" val="1"/>
</p:tagLst>
</file>

<file path=ppt/tags/tag54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454"/>
  <p:tag name="KSO_WM_UNIT_ID" val="diagram160454_3*m_i*1_8"/>
  <p:tag name="KSO_WM_UNIT_TYPE" val="m_i"/>
  <p:tag name="KSO_WM_UNIT_INDEX" val="1_8"/>
  <p:tag name="KSO_WM_UNIT_CLEAR" val="1"/>
  <p:tag name="KSO_WM_UNIT_LAYERLEVEL" val="1_1"/>
  <p:tag name="KSO_WM_DIAGRAM_GROUP_CODE" val="m1-1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55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454"/>
  <p:tag name="KSO_WM_UNIT_ID" val="diagram160454_3*m_i*1_9"/>
  <p:tag name="KSO_WM_UNIT_TYPE" val="m_i"/>
  <p:tag name="KSO_WM_UNIT_INDEX" val="1_9"/>
  <p:tag name="KSO_WM_UNIT_CLEAR" val="1"/>
  <p:tag name="KSO_WM_UNIT_LAYERLEVEL" val="1_1"/>
  <p:tag name="KSO_WM_DIAGRAM_GROUP_CODE" val="m1-1"/>
  <p:tag name="KSO_WM_UNIT_TEXT_FILL_FORE_SCHEMECOLOR_INDEX" val="13"/>
  <p:tag name="KSO_WM_UNIT_TEXT_FILL_TYPE" val="1"/>
</p:tagLst>
</file>

<file path=ppt/tags/tag56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454"/>
  <p:tag name="KSO_WM_UNIT_ID" val="diagram160454_3*m_i*1_10"/>
  <p:tag name="KSO_WM_UNIT_TYPE" val="m_i"/>
  <p:tag name="KSO_WM_UNIT_INDEX" val="1_10"/>
  <p:tag name="KSO_WM_UNIT_CLEAR" val="1"/>
  <p:tag name="KSO_WM_UNIT_LAYERLEVEL" val="1_1"/>
  <p:tag name="KSO_WM_DIAGRAM_GROUP_CODE" val="m1-1"/>
  <p:tag name="KSO_WM_UNIT_TEXT_FILL_FORE_SCHEMECOLOR_INDEX" val="13"/>
  <p:tag name="KSO_WM_UNIT_TEXT_FILL_TYPE" val="1"/>
</p:tagLst>
</file>

<file path=ppt/tags/tag5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454_3*i*27"/>
  <p:tag name="KSO_WM_TEMPLATE_CATEGORY" val="diagram"/>
  <p:tag name="KSO_WM_TEMPLATE_INDEX" val="160454"/>
  <p:tag name="KSO_WM_UNIT_INDEX" val="27"/>
</p:tagLst>
</file>

<file path=ppt/tags/tag58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454"/>
  <p:tag name="KSO_WM_UNIT_ID" val="diagram160454_3*m_i*1_11"/>
  <p:tag name="KSO_WM_UNIT_TYPE" val="m_i"/>
  <p:tag name="KSO_WM_UNIT_INDEX" val="1_11"/>
  <p:tag name="KSO_WM_UNIT_CLEAR" val="1"/>
  <p:tag name="KSO_WM_UNIT_LAYERLEVEL" val="1_1"/>
  <p:tag name="KSO_WM_DIAGRAM_GROUP_CODE" val="m1-1"/>
  <p:tag name="KSO_WM_UNIT_FILL_FORE_SCHEMECOLOR_INDEX" val="7"/>
  <p:tag name="KSO_WM_UNIT_FILL_TYPE" val="1"/>
  <p:tag name="KSO_WM_UNIT_TEXT_FILL_FORE_SCHEMECOLOR_INDEX" val="13"/>
  <p:tag name="KSO_WM_UNIT_TEXT_FILL_TYPE" val="1"/>
</p:tagLst>
</file>

<file path=ppt/tags/tag59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454"/>
  <p:tag name="KSO_WM_UNIT_ID" val="diagram160454_3*m_i*1_12"/>
  <p:tag name="KSO_WM_UNIT_TYPE" val="m_i"/>
  <p:tag name="KSO_WM_UNIT_INDEX" val="1_12"/>
  <p:tag name="KSO_WM_UNIT_CLEAR" val="1"/>
  <p:tag name="KSO_WM_UNIT_LAYERLEVEL" val="1_1"/>
  <p:tag name="KSO_WM_DIAGRAM_GROUP_CODE" val="m1-1"/>
  <p:tag name="KSO_WM_UNIT_FILL_FORE_SCHEMECOLOR_INDEX" val="7"/>
  <p:tag name="KSO_WM_UNIT_FILL_TYPE" val="1"/>
  <p:tag name="KSO_WM_UNIT_TEXT_FILL_FORE_SCHEMECOLOR_INDEX" val="13"/>
  <p:tag name="KSO_WM_UNIT_TEXT_FILL_TYPE" val="1"/>
</p:tagLst>
</file>

<file path=ppt/tags/tag60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454"/>
  <p:tag name="KSO_WM_UNIT_ID" val="diagram160454_3*m_h_f*1_3_1"/>
  <p:tag name="KSO_WM_UNIT_TYPE" val="m_h_f"/>
  <p:tag name="KSO_WM_UNIT_INDEX" val="1_3_1"/>
  <p:tag name="KSO_WM_UNIT_CLEAR" val="1"/>
  <p:tag name="KSO_WM_UNIT_LAYERLEVEL" val="1_1_1"/>
  <p:tag name="KSO_WM_UNIT_VALUE" val="49"/>
  <p:tag name="KSO_WM_UNIT_HIGHLIGHT" val="0"/>
  <p:tag name="KSO_WM_UNIT_COMPATIBLE" val="0"/>
  <p:tag name="KSO_WM_DIAGRAM_GROUP_CODE" val="m1-1"/>
  <p:tag name="KSO_WM_UNIT_PRESET_TEXT" val="Lorem ipsum dolor sit consectetur adipisicing"/>
  <p:tag name="KSO_WM_UNIT_TEXT_FILL_FORE_SCHEMECOLOR_INDEX" val="13"/>
  <p:tag name="KSO_WM_UNIT_TEXT_FILL_TYPE" val="1"/>
</p:tagLst>
</file>

<file path=ppt/tags/tag61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454"/>
  <p:tag name="KSO_WM_UNIT_ID" val="diagram160454_3*m_i*1_13"/>
  <p:tag name="KSO_WM_UNIT_TYPE" val="m_i"/>
  <p:tag name="KSO_WM_UNIT_INDEX" val="1_13"/>
  <p:tag name="KSO_WM_UNIT_CLEAR" val="1"/>
  <p:tag name="KSO_WM_UNIT_LAYERLEVEL" val="1_1"/>
  <p:tag name="KSO_WM_DIAGRAM_GROUP_CODE" val="m1-1"/>
  <p:tag name="KSO_WM_UNIT_FILL_FORE_SCHEMECOLOR_INDEX" val="7"/>
  <p:tag name="KSO_WM_UNIT_FILL_TYPE" val="1"/>
  <p:tag name="KSO_WM_UNIT_TEXT_FILL_FORE_SCHEMECOLOR_INDEX" val="13"/>
  <p:tag name="KSO_WM_UNIT_TEXT_FILL_TYPE" val="1"/>
</p:tagLst>
</file>

<file path=ppt/tags/tag62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454"/>
  <p:tag name="KSO_WM_UNIT_ID" val="diagram160454_3*m_i*1_14"/>
  <p:tag name="KSO_WM_UNIT_TYPE" val="m_i"/>
  <p:tag name="KSO_WM_UNIT_INDEX" val="1_14"/>
  <p:tag name="KSO_WM_UNIT_CLEAR" val="1"/>
  <p:tag name="KSO_WM_UNIT_LAYERLEVEL" val="1_1"/>
  <p:tag name="KSO_WM_DIAGRAM_GROUP_CODE" val="m1-1"/>
  <p:tag name="KSO_WM_UNIT_TEXT_FILL_FORE_SCHEMECOLOR_INDEX" val="13"/>
  <p:tag name="KSO_WM_UNIT_TEXT_FILL_TYPE" val="1"/>
</p:tagLst>
</file>

<file path=ppt/tags/tag63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160454"/>
  <p:tag name="KSO_WM_UNIT_ID" val="diagram160454_3*m_i*1_15"/>
  <p:tag name="KSO_WM_UNIT_TYPE" val="m_i"/>
  <p:tag name="KSO_WM_UNIT_INDEX" val="1_15"/>
  <p:tag name="KSO_WM_UNIT_CLEAR" val="1"/>
  <p:tag name="KSO_WM_UNIT_LAYERLEVEL" val="1_1"/>
  <p:tag name="KSO_WM_DIAGRAM_GROUP_CODE" val="m1-1"/>
  <p:tag name="KSO_WM_UNIT_TEXT_FILL_FORE_SCHEMECOLOR_INDEX" val="13"/>
  <p:tag name="KSO_WM_UNIT_TEXT_FILL_TYPE" val="1"/>
</p:tagLst>
</file>

<file path=ppt/tags/tag64.xml><?xml version="1.0" encoding="utf-8"?>
<p:tagLst xmlns:p="http://schemas.openxmlformats.org/presentationml/2006/main">
  <p:tag name="KSO_WM_TAG_VERSION" val="1.0"/>
  <p:tag name="KSO_WM_TEMPLATE_CATEGORY" val="diagram"/>
  <p:tag name="KSO_WM_TEMPLATE_INDEX" val="160456"/>
  <p:tag name="KSO_WM_UNIT_TYPE" val="m_i"/>
  <p:tag name="KSO_WM_UNIT_INDEX" val="1_1"/>
  <p:tag name="KSO_WM_UNIT_ID" val="258*m_i*1_1"/>
  <p:tag name="KSO_WM_UNIT_CLEAR" val="1"/>
  <p:tag name="KSO_WM_UNIT_LAYERLEVEL" val="1_1"/>
  <p:tag name="KSO_WM_BEAUTIFY_FLAG" val="#wm#"/>
  <p:tag name="KSO_WM_DIAGRAM_GROUP_CODE" val="m1-1"/>
  <p:tag name="KSO_WM_UNIT_DIAGRAM_SCHEMECOLOR_ID" val="0"/>
  <p:tag name="KSO_WM_UNIT_USESOURCEFORMAT_APPLY" val="1"/>
</p:tagLst>
</file>

<file path=ppt/tags/tag65.xml><?xml version="1.0" encoding="utf-8"?>
<p:tagLst xmlns:p="http://schemas.openxmlformats.org/presentationml/2006/main">
  <p:tag name="KSO_WM_TAG_VERSION" val="1.0"/>
  <p:tag name="KSO_WM_TEMPLATE_CATEGORY" val="diagram"/>
  <p:tag name="KSO_WM_TEMPLATE_INDEX" val="160456"/>
  <p:tag name="KSO_WM_UNIT_TYPE" val="m_i"/>
  <p:tag name="KSO_WM_UNIT_INDEX" val="1_2"/>
  <p:tag name="KSO_WM_UNIT_ID" val="258*m_i*1_2"/>
  <p:tag name="KSO_WM_UNIT_CLEAR" val="1"/>
  <p:tag name="KSO_WM_UNIT_LAYERLEVEL" val="1_1"/>
  <p:tag name="KSO_WM_BEAUTIFY_FLAG" val="#wm#"/>
  <p:tag name="KSO_WM_DIAGRAM_GROUP_CODE" val="m1-1"/>
  <p:tag name="KSO_WM_UNIT_DIAGRAM_SCHEMECOLOR_ID" val="0"/>
  <p:tag name="KSO_WM_UNIT_USESOURCEFORMAT_APPLY" val="1"/>
</p:tagLst>
</file>

<file path=ppt/tags/tag66.xml><?xml version="1.0" encoding="utf-8"?>
<p:tagLst xmlns:p="http://schemas.openxmlformats.org/presentationml/2006/main">
  <p:tag name="KSO_WM_TAG_VERSION" val="1.0"/>
  <p:tag name="KSO_WM_TEMPLATE_CATEGORY" val="diagram"/>
  <p:tag name="KSO_WM_TEMPLATE_INDEX" val="160456"/>
  <p:tag name="KSO_WM_UNIT_TYPE" val="m_i"/>
  <p:tag name="KSO_WM_UNIT_INDEX" val="1_3"/>
  <p:tag name="KSO_WM_UNIT_ID" val="258*m_i*1_3"/>
  <p:tag name="KSO_WM_UNIT_CLEAR" val="1"/>
  <p:tag name="KSO_WM_UNIT_LAYERLEVEL" val="1_1"/>
  <p:tag name="KSO_WM_BEAUTIFY_FLAG" val="#wm#"/>
  <p:tag name="KSO_WM_DIAGRAM_GROUP_CODE" val="m1-1"/>
  <p:tag name="KSO_WM_UNIT_DIAGRAM_SCHEMECOLOR_ID" val="0"/>
  <p:tag name="KSO_WM_UNIT_USESOURCEFORMAT_APPLY" val="1"/>
</p:tagLst>
</file>

<file path=ppt/tags/tag67.xml><?xml version="1.0" encoding="utf-8"?>
<p:tagLst xmlns:p="http://schemas.openxmlformats.org/presentationml/2006/main">
  <p:tag name="KSO_WM_TAG_VERSION" val="1.0"/>
  <p:tag name="KSO_WM_TEMPLATE_CATEGORY" val="diagram"/>
  <p:tag name="KSO_WM_TEMPLATE_INDEX" val="160456"/>
  <p:tag name="KSO_WM_UNIT_TYPE" val="m_i"/>
  <p:tag name="KSO_WM_UNIT_INDEX" val="1_4"/>
  <p:tag name="KSO_WM_UNIT_ID" val="258*m_i*1_4"/>
  <p:tag name="KSO_WM_UNIT_CLEAR" val="1"/>
  <p:tag name="KSO_WM_UNIT_LAYERLEVEL" val="1_1"/>
  <p:tag name="KSO_WM_BEAUTIFY_FLAG" val="#wm#"/>
  <p:tag name="KSO_WM_DIAGRAM_GROUP_CODE" val="m1-1"/>
  <p:tag name="KSO_WM_UNIT_DIAGRAM_SCHEMECOLOR_ID" val="0"/>
  <p:tag name="KSO_WM_UNIT_USESOURCEFORMAT_APPLY" val="1"/>
</p:tagLst>
</file>

<file path=ppt/tags/tag68.xml><?xml version="1.0" encoding="utf-8"?>
<p:tagLst xmlns:p="http://schemas.openxmlformats.org/presentationml/2006/main">
  <p:tag name="KSO_WM_TAG_VERSION" val="1.0"/>
  <p:tag name="KSO_WM_TEMPLATE_CATEGORY" val="diagram"/>
  <p:tag name="KSO_WM_TEMPLATE_INDEX" val="160456"/>
  <p:tag name="KSO_WM_UNIT_TYPE" val="m_h_f"/>
  <p:tag name="KSO_WM_UNIT_INDEX" val="1_1_1"/>
  <p:tag name="KSO_WM_UNIT_ID" val="258*m_h_f*1_1_1"/>
  <p:tag name="KSO_WM_UNIT_CLEAR" val="1"/>
  <p:tag name="KSO_WM_UNIT_LAYERLEVEL" val="1_1_1"/>
  <p:tag name="KSO_WM_UNIT_VALUE" val="36"/>
  <p:tag name="KSO_WM_UNIT_HIGHLIGHT" val="0"/>
  <p:tag name="KSO_WM_UNIT_COMPATIBLE" val="0"/>
  <p:tag name="KSO_WM_UNIT_PRESET_TEXT" val="Lorem ipsum dolor sit amet consectetur"/>
  <p:tag name="KSO_WM_BEAUTIFY_FLAG" val="#wm#"/>
  <p:tag name="KSO_WM_DIAGRAM_GROUP_CODE" val="m1-1"/>
  <p:tag name="KSO_WM_UNIT_TEXT_FILL_FORE_SCHEMECOLOR_INDEX" val="14"/>
  <p:tag name="KSO_WM_UNIT_TEXT_FILL_TYPE" val="1"/>
  <p:tag name="KSO_WM_UNIT_DIAGRAM_SCHEMECOLOR_ID" val="0"/>
  <p:tag name="KSO_WM_UNIT_USESOURCEFORMAT_APPLY" val="1"/>
</p:tagLst>
</file>

<file path=ppt/tags/tag69.xml><?xml version="1.0" encoding="utf-8"?>
<p:tagLst xmlns:p="http://schemas.openxmlformats.org/presentationml/2006/main">
  <p:tag name="KSO_WM_TAG_VERSION" val="1.0"/>
  <p:tag name="KSO_WM_TEMPLATE_CATEGORY" val="diagram"/>
  <p:tag name="KSO_WM_TEMPLATE_INDEX" val="160456"/>
  <p:tag name="KSO_WM_UNIT_TYPE" val="m_h_a"/>
  <p:tag name="KSO_WM_UNIT_INDEX" val="1_1_1"/>
  <p:tag name="KSO_WM_UNIT_ID" val="258*m_h_a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" val="LOREM IPSUM"/>
  <p:tag name="KSO_WM_BEAUTIFY_FLAG" val="#wm#"/>
  <p:tag name="KSO_WM_DIAGRAM_GROUP_CODE" val="m1-1"/>
  <p:tag name="KSO_WM_UNIT_TEXT_FILL_FORE_SCHEMECOLOR_INDEX" val="5"/>
  <p:tag name="KSO_WM_UNIT_TEXT_FILL_TYPE" val="1"/>
  <p:tag name="KSO_WM_UNIT_DIAGRAM_SCHEMECOLOR_ID" val="0"/>
  <p:tag name="KSO_WM_UNIT_USESOURCEFORMAT_APPLY" val="1"/>
</p:tagLst>
</file>

<file path=ppt/tags/tag70.xml><?xml version="1.0" encoding="utf-8"?>
<p:tagLst xmlns:p="http://schemas.openxmlformats.org/presentationml/2006/main">
  <p:tag name="KSO_WM_TAG_VERSION" val="1.0"/>
  <p:tag name="KSO_WM_TEMPLATE_CATEGORY" val="diagram"/>
  <p:tag name="KSO_WM_TEMPLATE_INDEX" val="160456"/>
  <p:tag name="KSO_WM_UNIT_TYPE" val="m_i"/>
  <p:tag name="KSO_WM_UNIT_INDEX" val="1_5"/>
  <p:tag name="KSO_WM_UNIT_ID" val="258*m_i*1_5"/>
  <p:tag name="KSO_WM_UNIT_CLEAR" val="1"/>
  <p:tag name="KSO_WM_UNIT_LAYERLEVEL" val="1_1"/>
  <p:tag name="KSO_WM_BEAUTIFY_FLAG" val="#wm#"/>
  <p:tag name="KSO_WM_DIAGRAM_GROUP_CODE" val="m1-1"/>
  <p:tag name="KSO_WM_UNIT_FILL_FORE_SCHEMECOLOR_INDEX" val="5"/>
  <p:tag name="KSO_WM_UNIT_FILL_TYPE" val="1"/>
  <p:tag name="KSO_WM_UNIT_TEXT_FILL_FORE_SCHEMECOLOR_INDEX" val="14"/>
  <p:tag name="KSO_WM_UNIT_TEXT_FILL_TYPE" val="1"/>
  <p:tag name="KSO_WM_UNIT_DIAGRAM_SCHEMECOLOR_ID" val="0"/>
  <p:tag name="KSO_WM_UNIT_USESOURCEFORMAT_APPLY" val="1"/>
</p:tagLst>
</file>

<file path=ppt/tags/tag71.xml><?xml version="1.0" encoding="utf-8"?>
<p:tagLst xmlns:p="http://schemas.openxmlformats.org/presentationml/2006/main">
  <p:tag name="KSO_WM_TAG_VERSION" val="1.0"/>
  <p:tag name="KSO_WM_TEMPLATE_CATEGORY" val="diagram"/>
  <p:tag name="KSO_WM_TEMPLATE_INDEX" val="160456"/>
  <p:tag name="KSO_WM_UNIT_TYPE" val="m_h_f"/>
  <p:tag name="KSO_WM_UNIT_INDEX" val="1_2_1"/>
  <p:tag name="KSO_WM_UNIT_ID" val="258*m_h_f*1_2_1"/>
  <p:tag name="KSO_WM_UNIT_CLEAR" val="1"/>
  <p:tag name="KSO_WM_UNIT_LAYERLEVEL" val="1_1_1"/>
  <p:tag name="KSO_WM_UNIT_VALUE" val="36"/>
  <p:tag name="KSO_WM_UNIT_HIGHLIGHT" val="0"/>
  <p:tag name="KSO_WM_UNIT_COMPATIBLE" val="0"/>
  <p:tag name="KSO_WM_UNIT_PRESET_TEXT" val="Lorem ipsum dolor sit amet consectetur"/>
  <p:tag name="KSO_WM_BEAUTIFY_FLAG" val="#wm#"/>
  <p:tag name="KSO_WM_DIAGRAM_GROUP_CODE" val="m1-1"/>
  <p:tag name="KSO_WM_UNIT_TEXT_FILL_FORE_SCHEMECOLOR_INDEX" val="14"/>
  <p:tag name="KSO_WM_UNIT_TEXT_FILL_TYPE" val="1"/>
  <p:tag name="KSO_WM_UNIT_DIAGRAM_SCHEMECOLOR_ID" val="0"/>
  <p:tag name="KSO_WM_UNIT_USESOURCEFORMAT_APPLY" val="1"/>
</p:tagLst>
</file>

<file path=ppt/tags/tag72.xml><?xml version="1.0" encoding="utf-8"?>
<p:tagLst xmlns:p="http://schemas.openxmlformats.org/presentationml/2006/main">
  <p:tag name="KSO_WM_TAG_VERSION" val="1.0"/>
  <p:tag name="KSO_WM_TEMPLATE_CATEGORY" val="diagram"/>
  <p:tag name="KSO_WM_TEMPLATE_INDEX" val="160456"/>
  <p:tag name="KSO_WM_UNIT_TYPE" val="m_h_a"/>
  <p:tag name="KSO_WM_UNIT_INDEX" val="1_2_1"/>
  <p:tag name="KSO_WM_UNIT_ID" val="258*m_h_a*1_2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" val="LOREM IPSUM"/>
  <p:tag name="KSO_WM_BEAUTIFY_FLAG" val="#wm#"/>
  <p:tag name="KSO_WM_DIAGRAM_GROUP_CODE" val="m1-1"/>
  <p:tag name="KSO_WM_UNIT_TEXT_FILL_FORE_SCHEMECOLOR_INDEX" val="5"/>
  <p:tag name="KSO_WM_UNIT_TEXT_FILL_TYPE" val="1"/>
  <p:tag name="KSO_WM_UNIT_DIAGRAM_SCHEMECOLOR_ID" val="0"/>
  <p:tag name="KSO_WM_UNIT_USESOURCEFORMAT_APPLY" val="1"/>
</p:tagLst>
</file>

<file path=ppt/tags/tag73.xml><?xml version="1.0" encoding="utf-8"?>
<p:tagLst xmlns:p="http://schemas.openxmlformats.org/presentationml/2006/main">
  <p:tag name="KSO_WM_TAG_VERSION" val="1.0"/>
  <p:tag name="KSO_WM_TEMPLATE_CATEGORY" val="diagram"/>
  <p:tag name="KSO_WM_TEMPLATE_INDEX" val="160456"/>
  <p:tag name="KSO_WM_UNIT_TYPE" val="m_i"/>
  <p:tag name="KSO_WM_UNIT_INDEX" val="1_6"/>
  <p:tag name="KSO_WM_UNIT_ID" val="258*m_i*1_6"/>
  <p:tag name="KSO_WM_UNIT_CLEAR" val="1"/>
  <p:tag name="KSO_WM_UNIT_LAYERLEVEL" val="1_1"/>
  <p:tag name="KSO_WM_BEAUTIFY_FLAG" val="#wm#"/>
  <p:tag name="KSO_WM_DIAGRAM_GROUP_CODE" val="m1-1"/>
  <p:tag name="KSO_WM_UNIT_FILL_FORE_SCHEMECOLOR_INDEX" val="5"/>
  <p:tag name="KSO_WM_UNIT_FILL_TYPE" val="1"/>
  <p:tag name="KSO_WM_UNIT_TEXT_FILL_FORE_SCHEMECOLOR_INDEX" val="14"/>
  <p:tag name="KSO_WM_UNIT_TEXT_FILL_TYPE" val="1"/>
  <p:tag name="KSO_WM_UNIT_DIAGRAM_SCHEMECOLOR_ID" val="0"/>
  <p:tag name="KSO_WM_UNIT_USESOURCEFORMAT_APPLY" val="1"/>
</p:tagLst>
</file>

<file path=ppt/tags/tag74.xml><?xml version="1.0" encoding="utf-8"?>
<p:tagLst xmlns:p="http://schemas.openxmlformats.org/presentationml/2006/main">
  <p:tag name="KSO_WM_TAG_VERSION" val="1.0"/>
  <p:tag name="KSO_WM_TEMPLATE_CATEGORY" val="diagram"/>
  <p:tag name="KSO_WM_TEMPLATE_INDEX" val="160456"/>
  <p:tag name="KSO_WM_UNIT_TYPE" val="m_h_f"/>
  <p:tag name="KSO_WM_UNIT_INDEX" val="1_3_1"/>
  <p:tag name="KSO_WM_UNIT_ID" val="258*m_h_f*1_3_1"/>
  <p:tag name="KSO_WM_UNIT_CLEAR" val="1"/>
  <p:tag name="KSO_WM_UNIT_LAYERLEVEL" val="1_1_1"/>
  <p:tag name="KSO_WM_UNIT_VALUE" val="36"/>
  <p:tag name="KSO_WM_UNIT_HIGHLIGHT" val="0"/>
  <p:tag name="KSO_WM_UNIT_COMPATIBLE" val="0"/>
  <p:tag name="KSO_WM_UNIT_PRESET_TEXT" val="Lorem ipsum dolor sit amet consectetur"/>
  <p:tag name="KSO_WM_BEAUTIFY_FLAG" val="#wm#"/>
  <p:tag name="KSO_WM_DIAGRAM_GROUP_CODE" val="m1-1"/>
  <p:tag name="KSO_WM_UNIT_TEXT_FILL_FORE_SCHEMECOLOR_INDEX" val="14"/>
  <p:tag name="KSO_WM_UNIT_TEXT_FILL_TYPE" val="1"/>
  <p:tag name="KSO_WM_UNIT_DIAGRAM_SCHEMECOLOR_ID" val="0"/>
  <p:tag name="KSO_WM_UNIT_USESOURCEFORMAT_APPLY" val="1"/>
</p:tagLst>
</file>

<file path=ppt/tags/tag75.xml><?xml version="1.0" encoding="utf-8"?>
<p:tagLst xmlns:p="http://schemas.openxmlformats.org/presentationml/2006/main">
  <p:tag name="KSO_WM_TAG_VERSION" val="1.0"/>
  <p:tag name="KSO_WM_TEMPLATE_CATEGORY" val="diagram"/>
  <p:tag name="KSO_WM_TEMPLATE_INDEX" val="160456"/>
  <p:tag name="KSO_WM_UNIT_TYPE" val="m_h_a"/>
  <p:tag name="KSO_WM_UNIT_INDEX" val="1_3_1"/>
  <p:tag name="KSO_WM_UNIT_ID" val="258*m_h_a*1_3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" val="LOREM IPSUM"/>
  <p:tag name="KSO_WM_BEAUTIFY_FLAG" val="#wm#"/>
  <p:tag name="KSO_WM_DIAGRAM_GROUP_CODE" val="m1-1"/>
  <p:tag name="KSO_WM_UNIT_TEXT_FILL_FORE_SCHEMECOLOR_INDEX" val="5"/>
  <p:tag name="KSO_WM_UNIT_TEXT_FILL_TYPE" val="1"/>
  <p:tag name="KSO_WM_UNIT_DIAGRAM_SCHEMECOLOR_ID" val="0"/>
  <p:tag name="KSO_WM_UNIT_USESOURCEFORMAT_APPLY" val="1"/>
</p:tagLst>
</file>

<file path=ppt/tags/tag76.xml><?xml version="1.0" encoding="utf-8"?>
<p:tagLst xmlns:p="http://schemas.openxmlformats.org/presentationml/2006/main">
  <p:tag name="KSO_WM_TAG_VERSION" val="1.0"/>
  <p:tag name="KSO_WM_TEMPLATE_CATEGORY" val="diagram"/>
  <p:tag name="KSO_WM_TEMPLATE_INDEX" val="160456"/>
  <p:tag name="KSO_WM_UNIT_TYPE" val="m_i"/>
  <p:tag name="KSO_WM_UNIT_INDEX" val="1_7"/>
  <p:tag name="KSO_WM_UNIT_ID" val="258*m_i*1_7"/>
  <p:tag name="KSO_WM_UNIT_CLEAR" val="1"/>
  <p:tag name="KSO_WM_UNIT_LAYERLEVEL" val="1_1"/>
  <p:tag name="KSO_WM_BEAUTIFY_FLAG" val="#wm#"/>
  <p:tag name="KSO_WM_DIAGRAM_GROUP_CODE" val="m1-1"/>
  <p:tag name="KSO_WM_UNIT_FILL_FORE_SCHEMECOLOR_INDEX" val="5"/>
  <p:tag name="KSO_WM_UNIT_FILL_TYPE" val="1"/>
  <p:tag name="KSO_WM_UNIT_TEXT_FILL_FORE_SCHEMECOLOR_INDEX" val="14"/>
  <p:tag name="KSO_WM_UNIT_TEXT_FILL_TYPE" val="1"/>
  <p:tag name="KSO_WM_UNIT_DIAGRAM_SCHEMECOLOR_ID" val="0"/>
  <p:tag name="KSO_WM_UNIT_USESOURCEFORMAT_APPLY" val="1"/>
</p:tagLst>
</file>

<file path=ppt/tags/tag77.xml><?xml version="1.0" encoding="utf-8"?>
<p:tagLst xmlns:p="http://schemas.openxmlformats.org/presentationml/2006/main">
  <p:tag name="KSO_WM_SLIDE_ANIMATION_ID" val="3167246"/>
  <p:tag name="KSO_WM_SLIDE_ANIMATION_TYPE" val="1_9_2_2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COMMONDATA" val="eyJoZGlkIjoiMzBjOWNhMDlmZDc1YWM5MGIwMzg2YmZkOTAzOTNhM2QifQ=="/>
  <p:tag name="KSO_WPP_MARK_KEY" val="905183b3-382c-49fa-bdcc-526ceaba14b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2952</Words>
  <Application>WPS 演示</Application>
  <PresentationFormat>自定义</PresentationFormat>
  <Paragraphs>475</Paragraphs>
  <Slides>24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Tahoma</vt:lpstr>
      <vt:lpstr>Wingdings</vt:lpstr>
      <vt:lpstr>Calibri</vt:lpstr>
      <vt:lpstr>Arial Unicode MS</vt:lpstr>
      <vt:lpstr>Bahnschrift SemiBold Condensed</vt:lpstr>
      <vt:lpstr>Microsoft JhengHei UI</vt:lpstr>
      <vt:lpstr>Times New Roman</vt:lpstr>
      <vt:lpstr>Office 主题</vt:lpstr>
      <vt:lpstr>PowerPoint 演示文稿</vt:lpstr>
      <vt:lpstr>PowerPoint 演示文稿</vt:lpstr>
      <vt:lpstr>PowerPoint 演示文稿</vt:lpstr>
      <vt:lpstr>几种常见的网络编程接口</vt:lpstr>
      <vt:lpstr>socket套接字</vt:lpstr>
      <vt:lpstr>socket常用API介绍</vt:lpstr>
      <vt:lpstr>socket常用API介绍</vt:lpstr>
      <vt:lpstr>PowerPoint 演示文稿</vt:lpstr>
      <vt:lpstr>socket套接字</vt:lpstr>
      <vt:lpstr>socket套接字</vt:lpstr>
      <vt:lpstr>socket套接字</vt:lpstr>
      <vt:lpstr>socket套接字</vt:lpstr>
      <vt:lpstr>几种常见的网络编程接口</vt:lpstr>
      <vt:lpstr>socket套接字</vt:lpstr>
      <vt:lpstr>socket套接字</vt:lpstr>
      <vt:lpstr>TCP通信的实现过程</vt:lpstr>
      <vt:lpstr>TCP通信的实现过程</vt:lpstr>
      <vt:lpstr>TCP通信的实现过程</vt:lpstr>
      <vt:lpstr>TCP通信的实现过程</vt:lpstr>
      <vt:lpstr>TCP通信的实现过程</vt:lpstr>
      <vt:lpstr>TCP通信的实现过程</vt:lpstr>
      <vt:lpstr>TCP通信的实现过程</vt:lpstr>
      <vt:lpstr>TCP通信的实现过程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lenovo-pc</dc:creator>
  <cp:lastModifiedBy>XJJ</cp:lastModifiedBy>
  <cp:revision>163</cp:revision>
  <dcterms:created xsi:type="dcterms:W3CDTF">2017-06-19T10:32:00Z</dcterms:created>
  <dcterms:modified xsi:type="dcterms:W3CDTF">2023-04-17T08:37:42Z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ICV">
    <vt:lpwstr>073427E6052644D29EBA152A6837FDD3</vt:lpwstr>
  </property>
</Properties>
</file>